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5113000" cy="10693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3">
              <a:alpha val="20000"/>
            </a:scheme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3">
              <a:alpha val="20000"/>
            </a:scheme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3"/>
              </a:solidFill>
              <a:prstDash val="solid"/>
              <a:round/>
            </a:ln>
          </a:top>
          <a:bottom>
            <a:ln w="12700" cap="flat">
              <a:solidFill>
                <a:schemeClr val="accent3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3"/>
              </a:solidFill>
              <a:prstDash val="solid"/>
              <a:round/>
            </a:ln>
          </a:top>
          <a:bottom>
            <a:ln w="12700" cap="flat">
              <a:solidFill>
                <a:schemeClr val="accent3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Shape 182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25" name="Shape 182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128" latinLnBrk="0">
      <a:defRPr sz="1200">
        <a:latin typeface="+mn-lt"/>
        <a:ea typeface="+mn-ea"/>
        <a:cs typeface="+mn-cs"/>
        <a:sym typeface="Calibri"/>
      </a:defRPr>
    </a:lvl1pPr>
    <a:lvl2pPr indent="228600" defTabSz="914128" latinLnBrk="0">
      <a:defRPr sz="1200">
        <a:latin typeface="+mn-lt"/>
        <a:ea typeface="+mn-ea"/>
        <a:cs typeface="+mn-cs"/>
        <a:sym typeface="Calibri"/>
      </a:defRPr>
    </a:lvl2pPr>
    <a:lvl3pPr indent="457200" defTabSz="914128" latinLnBrk="0">
      <a:defRPr sz="1200">
        <a:latin typeface="+mn-lt"/>
        <a:ea typeface="+mn-ea"/>
        <a:cs typeface="+mn-cs"/>
        <a:sym typeface="Calibri"/>
      </a:defRPr>
    </a:lvl3pPr>
    <a:lvl4pPr indent="685800" defTabSz="914128" latinLnBrk="0">
      <a:defRPr sz="1200">
        <a:latin typeface="+mn-lt"/>
        <a:ea typeface="+mn-ea"/>
        <a:cs typeface="+mn-cs"/>
        <a:sym typeface="Calibri"/>
      </a:defRPr>
    </a:lvl4pPr>
    <a:lvl5pPr indent="914400" defTabSz="914128" latinLnBrk="0">
      <a:defRPr sz="1200">
        <a:latin typeface="+mn-lt"/>
        <a:ea typeface="+mn-ea"/>
        <a:cs typeface="+mn-cs"/>
        <a:sym typeface="Calibri"/>
      </a:defRPr>
    </a:lvl5pPr>
    <a:lvl6pPr indent="1143000" defTabSz="914128" latinLnBrk="0">
      <a:defRPr sz="1200">
        <a:latin typeface="+mn-lt"/>
        <a:ea typeface="+mn-ea"/>
        <a:cs typeface="+mn-cs"/>
        <a:sym typeface="Calibri"/>
      </a:defRPr>
    </a:lvl6pPr>
    <a:lvl7pPr indent="1371600" defTabSz="914128" latinLnBrk="0">
      <a:defRPr sz="1200">
        <a:latin typeface="+mn-lt"/>
        <a:ea typeface="+mn-ea"/>
        <a:cs typeface="+mn-cs"/>
        <a:sym typeface="Calibri"/>
      </a:defRPr>
    </a:lvl7pPr>
    <a:lvl8pPr indent="1600200" defTabSz="914128" latinLnBrk="0">
      <a:defRPr sz="1200">
        <a:latin typeface="+mn-lt"/>
        <a:ea typeface="+mn-ea"/>
        <a:cs typeface="+mn-cs"/>
        <a:sym typeface="Calibri"/>
      </a:defRPr>
    </a:lvl8pPr>
    <a:lvl9pPr indent="1828800" defTabSz="914128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GSM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GSM Rxle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14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17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18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9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0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21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23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25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6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28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0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1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36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37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8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39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40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1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42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3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4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5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46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9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1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2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53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4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55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6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57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58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59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60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61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6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165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" name="Rectangle 28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GSM</a:t>
            </a:r>
          </a:p>
        </p:txBody>
      </p:sp>
      <p:grpSp>
        <p:nvGrpSpPr>
          <p:cNvPr id="169" name="Rectangle 87"/>
          <p:cNvGrpSpPr/>
          <p:nvPr/>
        </p:nvGrpSpPr>
        <p:grpSpPr>
          <a:xfrm>
            <a:off x="12242779" y="6286958"/>
            <a:ext cx="2627296" cy="459739"/>
            <a:chOff x="0" y="0"/>
            <a:chExt cx="2627295" cy="459738"/>
          </a:xfrm>
        </p:grpSpPr>
        <p:sp>
          <p:nvSpPr>
            <p:cNvPr id="167" name="Rectangle"/>
            <p:cNvSpPr/>
            <p:nvPr/>
          </p:nvSpPr>
          <p:spPr>
            <a:xfrm>
              <a:off x="-1" y="67851"/>
              <a:ext cx="2627297" cy="324039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8" name="GSM 1800MHz"/>
            <p:cNvSpPr txBox="1"/>
            <p:nvPr/>
          </p:nvSpPr>
          <p:spPr>
            <a:xfrm>
              <a:off x="55244" y="0"/>
              <a:ext cx="2516806" cy="4597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GSM 1800MHz</a:t>
              </a:r>
            </a:p>
          </p:txBody>
        </p:sp>
      </p:grpSp>
      <p:sp>
        <p:nvSpPr>
          <p:cNvPr id="170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1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2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" name="Rectangle 7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74" name="Rectangle 8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75" name="Rectangle 9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76" name="Rectangle 10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77" name="Rectangle 11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8" name="Rectangle 12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9" name="Rectangle 43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sp>
        <p:nvSpPr>
          <p:cNvPr id="180" name="Rectangle 44"/>
          <p:cNvSpPr txBox="1"/>
          <p:nvPr/>
        </p:nvSpPr>
        <p:spPr>
          <a:xfrm>
            <a:off x="6274834" y="10083708"/>
            <a:ext cx="28968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RxLev (dBm)</a:t>
            </a:r>
          </a:p>
        </p:txBody>
      </p:sp>
      <p:sp>
        <p:nvSpPr>
          <p:cNvPr id="181" name="Rectangle 45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204" name="Group 46"/>
          <p:cNvGrpSpPr/>
          <p:nvPr/>
        </p:nvGrpSpPr>
        <p:grpSpPr>
          <a:xfrm>
            <a:off x="12332024" y="1794038"/>
            <a:ext cx="1253527" cy="2247724"/>
            <a:chOff x="0" y="0"/>
            <a:chExt cx="1253526" cy="2247722"/>
          </a:xfrm>
        </p:grpSpPr>
        <p:sp>
          <p:nvSpPr>
            <p:cNvPr id="182" name="Straight Connector 47"/>
            <p:cNvSpPr/>
            <p:nvPr/>
          </p:nvSpPr>
          <p:spPr>
            <a:xfrm>
              <a:off x="60112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3" name="Straight Connector 48"/>
            <p:cNvSpPr/>
            <p:nvPr/>
          </p:nvSpPr>
          <p:spPr>
            <a:xfrm>
              <a:off x="60112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4" name="Straight Connector 49"/>
            <p:cNvSpPr/>
            <p:nvPr/>
          </p:nvSpPr>
          <p:spPr>
            <a:xfrm>
              <a:off x="60112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5" name="Straight Connector 50"/>
            <p:cNvSpPr/>
            <p:nvPr/>
          </p:nvSpPr>
          <p:spPr>
            <a:xfrm>
              <a:off x="60112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6" name="Straight Connector 51"/>
            <p:cNvSpPr/>
            <p:nvPr/>
          </p:nvSpPr>
          <p:spPr>
            <a:xfrm>
              <a:off x="60112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7" name="Straight Connector 52"/>
            <p:cNvSpPr/>
            <p:nvPr/>
          </p:nvSpPr>
          <p:spPr>
            <a:xfrm>
              <a:off x="60112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8" name="Straight Connector 53"/>
            <p:cNvSpPr/>
            <p:nvPr/>
          </p:nvSpPr>
          <p:spPr>
            <a:xfrm>
              <a:off x="60112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9" name="Straight Connector 54"/>
            <p:cNvSpPr/>
            <p:nvPr/>
          </p:nvSpPr>
          <p:spPr>
            <a:xfrm>
              <a:off x="60112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90" name="Straight Connector 55"/>
            <p:cNvSpPr/>
            <p:nvPr/>
          </p:nvSpPr>
          <p:spPr>
            <a:xfrm>
              <a:off x="60112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91" name="Picture 56" descr="Picture 56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6628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92" name="TextBox 57"/>
            <p:cNvSpPr txBox="1"/>
            <p:nvPr/>
          </p:nvSpPr>
          <p:spPr>
            <a:xfrm>
              <a:off x="683115" y="2019213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93" name="TextBox 58"/>
            <p:cNvSpPr txBox="1"/>
            <p:nvPr/>
          </p:nvSpPr>
          <p:spPr>
            <a:xfrm>
              <a:off x="82684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-55</a:t>
              </a:r>
            </a:p>
          </p:txBody>
        </p:sp>
        <p:sp>
          <p:nvSpPr>
            <p:cNvPr id="194" name="TextBox 59"/>
            <p:cNvSpPr txBox="1"/>
            <p:nvPr/>
          </p:nvSpPr>
          <p:spPr>
            <a:xfrm>
              <a:off x="826842" y="540935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95" name="TextBox 60"/>
            <p:cNvSpPr txBox="1"/>
            <p:nvPr/>
          </p:nvSpPr>
          <p:spPr>
            <a:xfrm>
              <a:off x="82684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-75</a:t>
              </a:r>
            </a:p>
          </p:txBody>
        </p:sp>
        <p:sp>
          <p:nvSpPr>
            <p:cNvPr id="196" name="TextBox 61"/>
            <p:cNvSpPr txBox="1"/>
            <p:nvPr/>
          </p:nvSpPr>
          <p:spPr>
            <a:xfrm>
              <a:off x="826842" y="908601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-85</a:t>
              </a:r>
            </a:p>
          </p:txBody>
        </p:sp>
        <p:sp>
          <p:nvSpPr>
            <p:cNvPr id="197" name="TextBox 62"/>
            <p:cNvSpPr txBox="1"/>
            <p:nvPr/>
          </p:nvSpPr>
          <p:spPr>
            <a:xfrm>
              <a:off x="826842" y="1089575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98" name="TextBox 63"/>
            <p:cNvSpPr txBox="1"/>
            <p:nvPr/>
          </p:nvSpPr>
          <p:spPr>
            <a:xfrm>
              <a:off x="826842" y="1274360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-98</a:t>
              </a:r>
            </a:p>
          </p:txBody>
        </p:sp>
        <p:sp>
          <p:nvSpPr>
            <p:cNvPr id="199" name="TextBox 64"/>
            <p:cNvSpPr txBox="1"/>
            <p:nvPr/>
          </p:nvSpPr>
          <p:spPr>
            <a:xfrm>
              <a:off x="825439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-101</a:t>
              </a:r>
            </a:p>
          </p:txBody>
        </p:sp>
        <p:sp>
          <p:nvSpPr>
            <p:cNvPr id="200" name="TextBox 65"/>
            <p:cNvSpPr txBox="1"/>
            <p:nvPr/>
          </p:nvSpPr>
          <p:spPr>
            <a:xfrm>
              <a:off x="825439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-103</a:t>
              </a:r>
            </a:p>
          </p:txBody>
        </p:sp>
        <p:sp>
          <p:nvSpPr>
            <p:cNvPr id="201" name="TextBox 66"/>
            <p:cNvSpPr txBox="1"/>
            <p:nvPr/>
          </p:nvSpPr>
          <p:spPr>
            <a:xfrm>
              <a:off x="825439" y="181729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-106</a:t>
              </a:r>
            </a:p>
          </p:txBody>
        </p:sp>
        <p:sp>
          <p:nvSpPr>
            <p:cNvPr id="202" name="TextBox 67"/>
            <p:cNvSpPr txBox="1"/>
            <p:nvPr/>
          </p:nvSpPr>
          <p:spPr>
            <a:xfrm>
              <a:off x="683116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203" name="TextBox 68"/>
            <p:cNvSpPr txBox="1"/>
            <p:nvPr/>
          </p:nvSpPr>
          <p:spPr>
            <a:xfrm>
              <a:off x="0" y="-1"/>
              <a:ext cx="107628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GSM RxLev (dBm)</a:t>
              </a:r>
            </a:p>
          </p:txBody>
        </p:sp>
      </p:grpSp>
      <p:sp>
        <p:nvSpPr>
          <p:cNvPr id="205" name="DRAWN:  &lt;D&gt;"/>
          <p:cNvSpPr txBox="1"/>
          <p:nvPr/>
        </p:nvSpPr>
        <p:spPr>
          <a:xfrm>
            <a:off x="12328552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206" name="CHECKED: &lt;C&gt;"/>
          <p:cNvSpPr txBox="1"/>
          <p:nvPr/>
        </p:nvSpPr>
        <p:spPr>
          <a:xfrm>
            <a:off x="13116311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207" name="APPROVED: &lt;A&gt;"/>
          <p:cNvSpPr txBox="1"/>
          <p:nvPr/>
        </p:nvSpPr>
        <p:spPr>
          <a:xfrm>
            <a:off x="14079283" y="9282357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208" name="&lt;NUM&gt;"/>
          <p:cNvSpPr txBox="1"/>
          <p:nvPr/>
        </p:nvSpPr>
        <p:spPr>
          <a:xfrm>
            <a:off x="14324159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209" name="&lt;P01&gt;"/>
          <p:cNvSpPr txBox="1"/>
          <p:nvPr/>
        </p:nvSpPr>
        <p:spPr>
          <a:xfrm>
            <a:off x="12618697" y="9717432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210" name="&lt;P02&gt;"/>
          <p:cNvSpPr txBox="1"/>
          <p:nvPr/>
        </p:nvSpPr>
        <p:spPr>
          <a:xfrm>
            <a:off x="12607962" y="9862504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2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MTS RS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219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22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223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226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228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230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2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233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4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5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6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7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8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9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0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241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242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3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244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245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6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24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8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251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4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5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6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7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258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9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260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1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262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263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264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265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266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2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68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270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1" name="Rectangle 28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UMTS</a:t>
            </a:r>
          </a:p>
        </p:txBody>
      </p:sp>
      <p:sp>
        <p:nvSpPr>
          <p:cNvPr id="272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3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4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5" name="Rectangle 5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276" name="Rectangle 6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277" name="Rectangle 7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278" name="Rectangle 8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279" name="Rectangle 9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0" name="Rectangle 10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1" name="Rectangle 59"/>
          <p:cNvSpPr txBox="1"/>
          <p:nvPr/>
        </p:nvSpPr>
        <p:spPr>
          <a:xfrm>
            <a:off x="3254726" y="10094413"/>
            <a:ext cx="2924495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282" name="Rectangle 60"/>
          <p:cNvSpPr txBox="1"/>
          <p:nvPr/>
        </p:nvSpPr>
        <p:spPr>
          <a:xfrm>
            <a:off x="6274834" y="10090179"/>
            <a:ext cx="2924495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RSCP (dBm)</a:t>
            </a:r>
          </a:p>
        </p:txBody>
      </p:sp>
      <p:grpSp>
        <p:nvGrpSpPr>
          <p:cNvPr id="285" name="Rectangle 41"/>
          <p:cNvGrpSpPr/>
          <p:nvPr/>
        </p:nvGrpSpPr>
        <p:grpSpPr>
          <a:xfrm>
            <a:off x="12242779" y="6286958"/>
            <a:ext cx="2627296" cy="459739"/>
            <a:chOff x="0" y="0"/>
            <a:chExt cx="2627295" cy="459738"/>
          </a:xfrm>
        </p:grpSpPr>
        <p:sp>
          <p:nvSpPr>
            <p:cNvPr id="283" name="Rectangle"/>
            <p:cNvSpPr/>
            <p:nvPr/>
          </p:nvSpPr>
          <p:spPr>
            <a:xfrm>
              <a:off x="-1" y="67851"/>
              <a:ext cx="2627297" cy="324039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4" name="UMTS 2100MHz"/>
            <p:cNvSpPr txBox="1"/>
            <p:nvPr/>
          </p:nvSpPr>
          <p:spPr>
            <a:xfrm>
              <a:off x="55244" y="0"/>
              <a:ext cx="2516806" cy="4597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UMTS 2100MHz</a:t>
              </a:r>
            </a:p>
          </p:txBody>
        </p:sp>
      </p:grpSp>
      <p:sp>
        <p:nvSpPr>
          <p:cNvPr id="286" name="Rectangle 43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309" name="Group 92"/>
          <p:cNvGrpSpPr/>
          <p:nvPr/>
        </p:nvGrpSpPr>
        <p:grpSpPr>
          <a:xfrm>
            <a:off x="12338243" y="1794038"/>
            <a:ext cx="1247309" cy="2247724"/>
            <a:chOff x="0" y="0"/>
            <a:chExt cx="1247308" cy="2247722"/>
          </a:xfrm>
        </p:grpSpPr>
        <p:sp>
          <p:nvSpPr>
            <p:cNvPr id="287" name="Straight Connector 93"/>
            <p:cNvSpPr/>
            <p:nvPr/>
          </p:nvSpPr>
          <p:spPr>
            <a:xfrm>
              <a:off x="593500" y="1946113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8" name="Straight Connector 94"/>
            <p:cNvSpPr/>
            <p:nvPr/>
          </p:nvSpPr>
          <p:spPr>
            <a:xfrm>
              <a:off x="593500" y="1578448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9" name="Straight Connector 95"/>
            <p:cNvSpPr/>
            <p:nvPr/>
          </p:nvSpPr>
          <p:spPr>
            <a:xfrm>
              <a:off x="593500" y="1397473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90" name="Straight Connector 96"/>
            <p:cNvSpPr/>
            <p:nvPr/>
          </p:nvSpPr>
          <p:spPr>
            <a:xfrm>
              <a:off x="593500" y="1214593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91" name="Straight Connector 97"/>
            <p:cNvSpPr/>
            <p:nvPr/>
          </p:nvSpPr>
          <p:spPr>
            <a:xfrm>
              <a:off x="593500" y="1029806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92" name="Straight Connector 98"/>
            <p:cNvSpPr/>
            <p:nvPr/>
          </p:nvSpPr>
          <p:spPr>
            <a:xfrm>
              <a:off x="593500" y="846926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93" name="Straight Connector 99"/>
            <p:cNvSpPr/>
            <p:nvPr/>
          </p:nvSpPr>
          <p:spPr>
            <a:xfrm>
              <a:off x="593500" y="662141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94" name="Straight Connector 100"/>
            <p:cNvSpPr/>
            <p:nvPr/>
          </p:nvSpPr>
          <p:spPr>
            <a:xfrm>
              <a:off x="593500" y="483071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95" name="Straight Connector 101"/>
            <p:cNvSpPr/>
            <p:nvPr/>
          </p:nvSpPr>
          <p:spPr>
            <a:xfrm>
              <a:off x="593500" y="1761328"/>
              <a:ext cx="180001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296" name="Picture 102" descr="Picture 102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58660" y="292571"/>
              <a:ext cx="624843" cy="18440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97" name="TextBox 103"/>
            <p:cNvSpPr txBox="1"/>
            <p:nvPr/>
          </p:nvSpPr>
          <p:spPr>
            <a:xfrm>
              <a:off x="675495" y="2019213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298" name="TextBox 104"/>
            <p:cNvSpPr txBox="1"/>
            <p:nvPr/>
          </p:nvSpPr>
          <p:spPr>
            <a:xfrm>
              <a:off x="819221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-55</a:t>
              </a:r>
            </a:p>
          </p:txBody>
        </p:sp>
        <p:sp>
          <p:nvSpPr>
            <p:cNvPr id="299" name="TextBox 105"/>
            <p:cNvSpPr txBox="1"/>
            <p:nvPr/>
          </p:nvSpPr>
          <p:spPr>
            <a:xfrm>
              <a:off x="819221" y="540934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300" name="TextBox 106"/>
            <p:cNvSpPr txBox="1"/>
            <p:nvPr/>
          </p:nvSpPr>
          <p:spPr>
            <a:xfrm>
              <a:off x="819221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-77</a:t>
              </a:r>
            </a:p>
          </p:txBody>
        </p:sp>
        <p:sp>
          <p:nvSpPr>
            <p:cNvPr id="301" name="TextBox 107"/>
            <p:cNvSpPr txBox="1"/>
            <p:nvPr/>
          </p:nvSpPr>
          <p:spPr>
            <a:xfrm>
              <a:off x="819221" y="908601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-87</a:t>
              </a:r>
            </a:p>
          </p:txBody>
        </p:sp>
        <p:sp>
          <p:nvSpPr>
            <p:cNvPr id="302" name="TextBox 108"/>
            <p:cNvSpPr txBox="1"/>
            <p:nvPr/>
          </p:nvSpPr>
          <p:spPr>
            <a:xfrm>
              <a:off x="819221" y="1089577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-97</a:t>
              </a:r>
            </a:p>
          </p:txBody>
        </p:sp>
        <p:sp>
          <p:nvSpPr>
            <p:cNvPr id="303" name="TextBox 109"/>
            <p:cNvSpPr txBox="1"/>
            <p:nvPr/>
          </p:nvSpPr>
          <p:spPr>
            <a:xfrm>
              <a:off x="819221" y="1274361"/>
              <a:ext cx="428088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-100</a:t>
              </a:r>
            </a:p>
          </p:txBody>
        </p:sp>
        <p:sp>
          <p:nvSpPr>
            <p:cNvPr id="304" name="TextBox 110"/>
            <p:cNvSpPr txBox="1"/>
            <p:nvPr/>
          </p:nvSpPr>
          <p:spPr>
            <a:xfrm>
              <a:off x="817817" y="1453435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-106</a:t>
              </a:r>
            </a:p>
          </p:txBody>
        </p:sp>
        <p:sp>
          <p:nvSpPr>
            <p:cNvPr id="305" name="TextBox 111"/>
            <p:cNvSpPr txBox="1"/>
            <p:nvPr/>
          </p:nvSpPr>
          <p:spPr>
            <a:xfrm>
              <a:off x="817817" y="1638219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-109</a:t>
              </a:r>
            </a:p>
          </p:txBody>
        </p:sp>
        <p:sp>
          <p:nvSpPr>
            <p:cNvPr id="306" name="TextBox 112"/>
            <p:cNvSpPr txBox="1"/>
            <p:nvPr/>
          </p:nvSpPr>
          <p:spPr>
            <a:xfrm>
              <a:off x="817817" y="1817293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-112</a:t>
              </a:r>
            </a:p>
          </p:txBody>
        </p:sp>
        <p:sp>
          <p:nvSpPr>
            <p:cNvPr id="307" name="TextBox 113"/>
            <p:cNvSpPr txBox="1"/>
            <p:nvPr/>
          </p:nvSpPr>
          <p:spPr>
            <a:xfrm>
              <a:off x="675494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308" name="TextBox 114"/>
            <p:cNvSpPr txBox="1"/>
            <p:nvPr/>
          </p:nvSpPr>
          <p:spPr>
            <a:xfrm>
              <a:off x="0" y="-1"/>
              <a:ext cx="107627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RSCP (dBm)</a:t>
              </a:r>
            </a:p>
          </p:txBody>
        </p:sp>
      </p:grpSp>
      <p:sp>
        <p:nvSpPr>
          <p:cNvPr id="310" name="DRAWN:  &lt;D&gt;"/>
          <p:cNvSpPr txBox="1"/>
          <p:nvPr/>
        </p:nvSpPr>
        <p:spPr>
          <a:xfrm>
            <a:off x="12336953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311" name="CHECKED: &lt;C&gt;"/>
          <p:cNvSpPr txBox="1"/>
          <p:nvPr/>
        </p:nvSpPr>
        <p:spPr>
          <a:xfrm>
            <a:off x="13120513" y="928499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312" name="APPROVED: &lt;A&gt;"/>
          <p:cNvSpPr txBox="1"/>
          <p:nvPr/>
        </p:nvSpPr>
        <p:spPr>
          <a:xfrm>
            <a:off x="14085503" y="928157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313" name="&lt;NUM&gt;"/>
          <p:cNvSpPr txBox="1"/>
          <p:nvPr/>
        </p:nvSpPr>
        <p:spPr>
          <a:xfrm>
            <a:off x="14298897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314" name="&lt;P01&gt;"/>
          <p:cNvSpPr txBox="1"/>
          <p:nvPr/>
        </p:nvSpPr>
        <p:spPr>
          <a:xfrm>
            <a:off x="12607962" y="9704958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315" name="&lt;P02&gt;"/>
          <p:cNvSpPr txBox="1"/>
          <p:nvPr/>
        </p:nvSpPr>
        <p:spPr>
          <a:xfrm>
            <a:off x="12607962" y="9857189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3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MTS Ec/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324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5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6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327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328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9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0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331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2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333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4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335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6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7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338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9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0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1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2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3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4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5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346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347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8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349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350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1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352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3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4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5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356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7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8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9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0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1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2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363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4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365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6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367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368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369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370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371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37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373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374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375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6" name="Rectangle 28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UMTS</a:t>
            </a:r>
          </a:p>
        </p:txBody>
      </p:sp>
      <p:sp>
        <p:nvSpPr>
          <p:cNvPr id="377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8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9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0" name="Rectangle 5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381" name="Rectangle 6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382" name="Rectangle 7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383" name="Rectangle 8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384" name="Rectangle 9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5" name="Rectangle 10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6" name="Rectangle 60"/>
          <p:cNvSpPr txBox="1"/>
          <p:nvPr/>
        </p:nvSpPr>
        <p:spPr>
          <a:xfrm>
            <a:off x="6274834" y="10090179"/>
            <a:ext cx="2924495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Ec/Io (dB)</a:t>
            </a:r>
          </a:p>
        </p:txBody>
      </p:sp>
      <p:sp>
        <p:nvSpPr>
          <p:cNvPr id="387" name="Rectangle 36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388" name="Rectangle 97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grpSp>
        <p:nvGrpSpPr>
          <p:cNvPr id="391" name="Rectangle 99"/>
          <p:cNvGrpSpPr/>
          <p:nvPr/>
        </p:nvGrpSpPr>
        <p:grpSpPr>
          <a:xfrm>
            <a:off x="12242779" y="6286958"/>
            <a:ext cx="2627296" cy="459739"/>
            <a:chOff x="0" y="0"/>
            <a:chExt cx="2627295" cy="459738"/>
          </a:xfrm>
        </p:grpSpPr>
        <p:sp>
          <p:nvSpPr>
            <p:cNvPr id="389" name="Rectangle"/>
            <p:cNvSpPr/>
            <p:nvPr/>
          </p:nvSpPr>
          <p:spPr>
            <a:xfrm>
              <a:off x="-1" y="67851"/>
              <a:ext cx="2627297" cy="324039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90" name="UMTS 2100MHz"/>
            <p:cNvSpPr txBox="1"/>
            <p:nvPr/>
          </p:nvSpPr>
          <p:spPr>
            <a:xfrm>
              <a:off x="55244" y="0"/>
              <a:ext cx="2516806" cy="4597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UMTS 2100MHz</a:t>
              </a:r>
            </a:p>
          </p:txBody>
        </p:sp>
      </p:grpSp>
      <p:grpSp>
        <p:nvGrpSpPr>
          <p:cNvPr id="409" name="Group 20"/>
          <p:cNvGrpSpPr/>
          <p:nvPr/>
        </p:nvGrpSpPr>
        <p:grpSpPr>
          <a:xfrm>
            <a:off x="12368365" y="1843456"/>
            <a:ext cx="1176906" cy="1391542"/>
            <a:chOff x="0" y="0"/>
            <a:chExt cx="1176904" cy="1391541"/>
          </a:xfrm>
        </p:grpSpPr>
        <p:grpSp>
          <p:nvGrpSpPr>
            <p:cNvPr id="397" name="Group 22"/>
            <p:cNvGrpSpPr/>
            <p:nvPr/>
          </p:nvGrpSpPr>
          <p:grpSpPr>
            <a:xfrm>
              <a:off x="143988" y="410684"/>
              <a:ext cx="619346" cy="879873"/>
              <a:chOff x="0" y="0"/>
              <a:chExt cx="619345" cy="879872"/>
            </a:xfrm>
          </p:grpSpPr>
          <p:sp>
            <p:nvSpPr>
              <p:cNvPr id="392" name="Rectangle 39"/>
              <p:cNvSpPr/>
              <p:nvPr/>
            </p:nvSpPr>
            <p:spPr>
              <a:xfrm>
                <a:off x="-1" y="-1"/>
                <a:ext cx="618998" cy="177166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93" name="Rectangle 40"/>
              <p:cNvSpPr/>
              <p:nvPr/>
            </p:nvSpPr>
            <p:spPr>
              <a:xfrm>
                <a:off x="-1" y="177165"/>
                <a:ext cx="618998" cy="177166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94" name="Rectangle 41"/>
              <p:cNvSpPr/>
              <p:nvPr/>
            </p:nvSpPr>
            <p:spPr>
              <a:xfrm>
                <a:off x="347" y="354329"/>
                <a:ext cx="618998" cy="177166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95" name="Rectangle 42"/>
              <p:cNvSpPr/>
              <p:nvPr/>
            </p:nvSpPr>
            <p:spPr>
              <a:xfrm>
                <a:off x="347" y="531495"/>
                <a:ext cx="618998" cy="177166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96" name="Rectangle 43"/>
              <p:cNvSpPr/>
              <p:nvPr/>
            </p:nvSpPr>
            <p:spPr>
              <a:xfrm>
                <a:off x="347" y="702707"/>
                <a:ext cx="618998" cy="177166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398" name="Straight Connector 23"/>
            <p:cNvSpPr/>
            <p:nvPr/>
          </p:nvSpPr>
          <p:spPr>
            <a:xfrm>
              <a:off x="677560" y="94217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399" name="Straight Connector 24"/>
            <p:cNvSpPr/>
            <p:nvPr/>
          </p:nvSpPr>
          <p:spPr>
            <a:xfrm>
              <a:off x="677560" y="76549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00" name="Straight Connector 25"/>
            <p:cNvSpPr/>
            <p:nvPr/>
          </p:nvSpPr>
          <p:spPr>
            <a:xfrm>
              <a:off x="677560" y="58784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01" name="Straight Connector 26"/>
            <p:cNvSpPr/>
            <p:nvPr/>
          </p:nvSpPr>
          <p:spPr>
            <a:xfrm>
              <a:off x="677560" y="1115534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02" name="TextBox 27"/>
            <p:cNvSpPr txBox="1"/>
            <p:nvPr/>
          </p:nvSpPr>
          <p:spPr>
            <a:xfrm>
              <a:off x="-1" y="-1"/>
              <a:ext cx="1013464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Ec/No (dB)</a:t>
              </a:r>
            </a:p>
          </p:txBody>
        </p:sp>
        <p:sp>
          <p:nvSpPr>
            <p:cNvPr id="403" name="TextBox 32"/>
            <p:cNvSpPr txBox="1"/>
            <p:nvPr/>
          </p:nvSpPr>
          <p:spPr>
            <a:xfrm>
              <a:off x="782343" y="286348"/>
              <a:ext cx="327381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404" name="TextBox 33"/>
            <p:cNvSpPr txBox="1"/>
            <p:nvPr/>
          </p:nvSpPr>
          <p:spPr>
            <a:xfrm>
              <a:off x="845706" y="458249"/>
              <a:ext cx="27064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&gt;-4</a:t>
              </a:r>
            </a:p>
          </p:txBody>
        </p:sp>
        <p:sp>
          <p:nvSpPr>
            <p:cNvPr id="405" name="TextBox 34"/>
            <p:cNvSpPr txBox="1"/>
            <p:nvPr/>
          </p:nvSpPr>
          <p:spPr>
            <a:xfrm>
              <a:off x="844121" y="624818"/>
              <a:ext cx="27064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&gt;-8</a:t>
              </a:r>
            </a:p>
          </p:txBody>
        </p:sp>
        <p:sp>
          <p:nvSpPr>
            <p:cNvPr id="406" name="TextBox 35"/>
            <p:cNvSpPr txBox="1"/>
            <p:nvPr/>
          </p:nvSpPr>
          <p:spPr>
            <a:xfrm>
              <a:off x="841896" y="812580"/>
              <a:ext cx="33500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&gt;-10</a:t>
              </a:r>
            </a:p>
          </p:txBody>
        </p:sp>
        <p:sp>
          <p:nvSpPr>
            <p:cNvPr id="407" name="TextBox 37"/>
            <p:cNvSpPr txBox="1"/>
            <p:nvPr/>
          </p:nvSpPr>
          <p:spPr>
            <a:xfrm>
              <a:off x="841575" y="998316"/>
              <a:ext cx="33500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&gt;-13</a:t>
              </a:r>
            </a:p>
          </p:txBody>
        </p:sp>
        <p:sp>
          <p:nvSpPr>
            <p:cNvPr id="408" name="TextBox 38"/>
            <p:cNvSpPr txBox="1"/>
            <p:nvPr/>
          </p:nvSpPr>
          <p:spPr>
            <a:xfrm>
              <a:off x="799351" y="1163032"/>
              <a:ext cx="30859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</p:grpSp>
      <p:sp>
        <p:nvSpPr>
          <p:cNvPr id="410" name="DRAWN:  &lt;D&gt;"/>
          <p:cNvSpPr txBox="1"/>
          <p:nvPr/>
        </p:nvSpPr>
        <p:spPr>
          <a:xfrm>
            <a:off x="12322173" y="9282357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411" name="CHECKED: &lt;C&gt;"/>
          <p:cNvSpPr txBox="1"/>
          <p:nvPr/>
        </p:nvSpPr>
        <p:spPr>
          <a:xfrm>
            <a:off x="13113122" y="9282357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412" name="APPROVED: &lt;A&gt;"/>
          <p:cNvSpPr txBox="1"/>
          <p:nvPr/>
        </p:nvSpPr>
        <p:spPr>
          <a:xfrm>
            <a:off x="14081691" y="9282357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413" name="&lt;NUM&gt;"/>
          <p:cNvSpPr txBox="1"/>
          <p:nvPr/>
        </p:nvSpPr>
        <p:spPr>
          <a:xfrm>
            <a:off x="14324159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414" name="&lt;P01&gt;"/>
          <p:cNvSpPr txBox="1"/>
          <p:nvPr/>
        </p:nvSpPr>
        <p:spPr>
          <a:xfrm>
            <a:off x="12598437" y="9708097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415" name="&lt;P02&gt;"/>
          <p:cNvSpPr txBox="1"/>
          <p:nvPr/>
        </p:nvSpPr>
        <p:spPr>
          <a:xfrm>
            <a:off x="12607962" y="9842496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4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18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424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5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6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427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428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9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0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431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2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433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4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435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6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7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438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9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0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1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2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3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4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5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446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447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8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449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450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1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452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3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4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5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456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7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8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9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0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1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2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463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4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465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6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467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468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469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470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471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47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473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474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475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6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479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477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478" name="LTE 18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1800MHz</a:t>
              </a:r>
            </a:p>
          </p:txBody>
        </p:sp>
      </p:grpSp>
      <p:sp>
        <p:nvSpPr>
          <p:cNvPr id="480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1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2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3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484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485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486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487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8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9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512" name="Group 59"/>
          <p:cNvGrpSpPr/>
          <p:nvPr/>
        </p:nvGrpSpPr>
        <p:grpSpPr>
          <a:xfrm>
            <a:off x="12275818" y="1792970"/>
            <a:ext cx="1308272" cy="2247723"/>
            <a:chOff x="0" y="0"/>
            <a:chExt cx="1308270" cy="2247721"/>
          </a:xfrm>
        </p:grpSpPr>
        <p:sp>
          <p:nvSpPr>
            <p:cNvPr id="490" name="Straight Connector 60"/>
            <p:cNvSpPr/>
            <p:nvPr/>
          </p:nvSpPr>
          <p:spPr>
            <a:xfrm>
              <a:off x="65446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1" name="Straight Connector 106"/>
            <p:cNvSpPr/>
            <p:nvPr/>
          </p:nvSpPr>
          <p:spPr>
            <a:xfrm>
              <a:off x="65446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2" name="Straight Connector 107"/>
            <p:cNvSpPr/>
            <p:nvPr/>
          </p:nvSpPr>
          <p:spPr>
            <a:xfrm>
              <a:off x="65446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3" name="Straight Connector 108"/>
            <p:cNvSpPr/>
            <p:nvPr/>
          </p:nvSpPr>
          <p:spPr>
            <a:xfrm>
              <a:off x="65446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4" name="Straight Connector 109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5" name="Straight Connector 110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6" name="Straight Connector 111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7" name="Straight Connector 112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98" name="Straight Connector 113"/>
            <p:cNvSpPr/>
            <p:nvPr/>
          </p:nvSpPr>
          <p:spPr>
            <a:xfrm>
              <a:off x="65446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499" name="Picture 114" descr="Picture 114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00" name="TextBox 115"/>
            <p:cNvSpPr txBox="1"/>
            <p:nvPr/>
          </p:nvSpPr>
          <p:spPr>
            <a:xfrm>
              <a:off x="736457" y="2019212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501" name="TextBox 116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502" name="TextBox 117"/>
            <p:cNvSpPr txBox="1"/>
            <p:nvPr/>
          </p:nvSpPr>
          <p:spPr>
            <a:xfrm>
              <a:off x="880182" y="540934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503" name="TextBox 118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504" name="TextBox 119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505" name="TextBox 120"/>
            <p:cNvSpPr txBox="1"/>
            <p:nvPr/>
          </p:nvSpPr>
          <p:spPr>
            <a:xfrm>
              <a:off x="880183" y="1089576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506" name="TextBox 121"/>
            <p:cNvSpPr txBox="1"/>
            <p:nvPr/>
          </p:nvSpPr>
          <p:spPr>
            <a:xfrm>
              <a:off x="880183" y="1274360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507" name="TextBox 122"/>
            <p:cNvSpPr txBox="1"/>
            <p:nvPr/>
          </p:nvSpPr>
          <p:spPr>
            <a:xfrm>
              <a:off x="878780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508" name="TextBox 123"/>
            <p:cNvSpPr txBox="1"/>
            <p:nvPr/>
          </p:nvSpPr>
          <p:spPr>
            <a:xfrm>
              <a:off x="878780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509" name="TextBox 124"/>
            <p:cNvSpPr txBox="1"/>
            <p:nvPr/>
          </p:nvSpPr>
          <p:spPr>
            <a:xfrm>
              <a:off x="878780" y="1817292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510" name="TextBox 125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511" name="TextBox 126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513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514" name="Rectangle 63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sp>
        <p:nvSpPr>
          <p:cNvPr id="515" name="DRAWN:  &lt;D&gt;"/>
          <p:cNvSpPr txBox="1"/>
          <p:nvPr/>
        </p:nvSpPr>
        <p:spPr>
          <a:xfrm>
            <a:off x="12299065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516" name="CHECKED: &lt;C&gt;"/>
          <p:cNvSpPr txBox="1"/>
          <p:nvPr/>
        </p:nvSpPr>
        <p:spPr>
          <a:xfrm>
            <a:off x="13136051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517" name="APPROVED: &lt;A&gt;"/>
          <p:cNvSpPr txBox="1"/>
          <p:nvPr/>
        </p:nvSpPr>
        <p:spPr>
          <a:xfrm>
            <a:off x="14039416" y="928157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518" name="&lt;P01&gt;"/>
          <p:cNvSpPr txBox="1"/>
          <p:nvPr/>
        </p:nvSpPr>
        <p:spPr>
          <a:xfrm>
            <a:off x="12598437" y="9708097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519" name="&lt;P02&gt;"/>
          <p:cNvSpPr txBox="1"/>
          <p:nvPr/>
        </p:nvSpPr>
        <p:spPr>
          <a:xfrm>
            <a:off x="12569541" y="9851239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520" name="&lt;NUM&gt;"/>
          <p:cNvSpPr txBox="1"/>
          <p:nvPr/>
        </p:nvSpPr>
        <p:spPr>
          <a:xfrm>
            <a:off x="14324159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5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18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529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0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1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53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533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4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5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536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7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538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540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1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2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543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4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5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6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7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8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9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0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551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552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3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554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555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6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55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58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561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2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3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4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5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6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7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568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9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570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71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572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573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574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575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576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57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578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580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1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582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3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4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5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586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587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588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589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90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91" name="Rectangle 35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594" name="Rectangle 54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592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593" name="LTE 18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1800MHz</a:t>
              </a:r>
            </a:p>
          </p:txBody>
        </p:sp>
      </p:grpSp>
      <p:sp>
        <p:nvSpPr>
          <p:cNvPr id="595" name="Rectangle 56"/>
          <p:cNvSpPr txBox="1"/>
          <p:nvPr/>
        </p:nvSpPr>
        <p:spPr>
          <a:xfrm>
            <a:off x="6274834" y="10083708"/>
            <a:ext cx="28968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596" name="Rectangle 57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grpSp>
        <p:nvGrpSpPr>
          <p:cNvPr id="613" name="Group 43"/>
          <p:cNvGrpSpPr/>
          <p:nvPr/>
        </p:nvGrpSpPr>
        <p:grpSpPr>
          <a:xfrm>
            <a:off x="12144185" y="1695399"/>
            <a:ext cx="1269045" cy="1164237"/>
            <a:chOff x="0" y="0"/>
            <a:chExt cx="1269044" cy="1164236"/>
          </a:xfrm>
        </p:grpSpPr>
        <p:grpSp>
          <p:nvGrpSpPr>
            <p:cNvPr id="602" name="Group 55"/>
            <p:cNvGrpSpPr/>
            <p:nvPr/>
          </p:nvGrpSpPr>
          <p:grpSpPr>
            <a:xfrm>
              <a:off x="255735" y="284360"/>
              <a:ext cx="619347" cy="879877"/>
              <a:chOff x="0" y="0"/>
              <a:chExt cx="619346" cy="879876"/>
            </a:xfrm>
          </p:grpSpPr>
          <p:sp>
            <p:nvSpPr>
              <p:cNvPr id="597" name="Rectangle 71"/>
              <p:cNvSpPr/>
              <p:nvPr/>
            </p:nvSpPr>
            <p:spPr>
              <a:xfrm>
                <a:off x="-1" y="-1"/>
                <a:ext cx="618998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598" name="Rectangle 72"/>
              <p:cNvSpPr/>
              <p:nvPr/>
            </p:nvSpPr>
            <p:spPr>
              <a:xfrm>
                <a:off x="0" y="177165"/>
                <a:ext cx="618998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599" name="Rectangle 73"/>
              <p:cNvSpPr/>
              <p:nvPr/>
            </p:nvSpPr>
            <p:spPr>
              <a:xfrm>
                <a:off x="348" y="354331"/>
                <a:ext cx="618998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600" name="Rectangle 74"/>
              <p:cNvSpPr/>
              <p:nvPr/>
            </p:nvSpPr>
            <p:spPr>
              <a:xfrm>
                <a:off x="348" y="531496"/>
                <a:ext cx="618998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601" name="Rectangle 75"/>
              <p:cNvSpPr/>
              <p:nvPr/>
            </p:nvSpPr>
            <p:spPr>
              <a:xfrm>
                <a:off x="348" y="702709"/>
                <a:ext cx="618998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603" name="Straight Connector 60"/>
            <p:cNvSpPr/>
            <p:nvPr/>
          </p:nvSpPr>
          <p:spPr>
            <a:xfrm>
              <a:off x="811837" y="81667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04" name="Straight Connector 61"/>
            <p:cNvSpPr/>
            <p:nvPr/>
          </p:nvSpPr>
          <p:spPr>
            <a:xfrm>
              <a:off x="812086" y="638692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05" name="Straight Connector 63"/>
            <p:cNvSpPr/>
            <p:nvPr/>
          </p:nvSpPr>
          <p:spPr>
            <a:xfrm>
              <a:off x="812086" y="46152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06" name="Straight Connector 64"/>
            <p:cNvSpPr/>
            <p:nvPr/>
          </p:nvSpPr>
          <p:spPr>
            <a:xfrm>
              <a:off x="830247" y="98706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07" name="TextBox 65"/>
            <p:cNvSpPr txBox="1"/>
            <p:nvPr/>
          </p:nvSpPr>
          <p:spPr>
            <a:xfrm>
              <a:off x="-1" y="-1"/>
              <a:ext cx="1013466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608" name="TextBox 66"/>
            <p:cNvSpPr txBox="1"/>
            <p:nvPr/>
          </p:nvSpPr>
          <p:spPr>
            <a:xfrm>
              <a:off x="880764" y="136854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609" name="TextBox 67"/>
            <p:cNvSpPr txBox="1"/>
            <p:nvPr/>
          </p:nvSpPr>
          <p:spPr>
            <a:xfrm>
              <a:off x="935955" y="339737"/>
              <a:ext cx="32483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610" name="TextBox 68"/>
            <p:cNvSpPr txBox="1"/>
            <p:nvPr/>
          </p:nvSpPr>
          <p:spPr>
            <a:xfrm>
              <a:off x="944206" y="523744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611" name="TextBox 69"/>
            <p:cNvSpPr txBox="1"/>
            <p:nvPr/>
          </p:nvSpPr>
          <p:spPr>
            <a:xfrm>
              <a:off x="980237" y="695081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612" name="TextBox 70"/>
            <p:cNvSpPr txBox="1"/>
            <p:nvPr/>
          </p:nvSpPr>
          <p:spPr>
            <a:xfrm>
              <a:off x="977067" y="876823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614" name="DRAWN:  &lt;D&gt;"/>
          <p:cNvSpPr txBox="1"/>
          <p:nvPr/>
        </p:nvSpPr>
        <p:spPr>
          <a:xfrm>
            <a:off x="12299065" y="9274488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615" name="CHECKED: &lt;C&gt;"/>
          <p:cNvSpPr txBox="1"/>
          <p:nvPr/>
        </p:nvSpPr>
        <p:spPr>
          <a:xfrm>
            <a:off x="13136051" y="9282393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616" name="APPROVED: &lt;A&gt;"/>
          <p:cNvSpPr txBox="1"/>
          <p:nvPr/>
        </p:nvSpPr>
        <p:spPr>
          <a:xfrm>
            <a:off x="14039416" y="9288989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617" name="&lt;P01&gt;"/>
          <p:cNvSpPr txBox="1"/>
          <p:nvPr/>
        </p:nvSpPr>
        <p:spPr>
          <a:xfrm>
            <a:off x="12598437" y="9704958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618" name="&lt;P02&gt;"/>
          <p:cNvSpPr txBox="1"/>
          <p:nvPr/>
        </p:nvSpPr>
        <p:spPr>
          <a:xfrm>
            <a:off x="12592863" y="9857189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619" name="&lt;NUM&gt;"/>
          <p:cNvSpPr txBox="1"/>
          <p:nvPr/>
        </p:nvSpPr>
        <p:spPr>
          <a:xfrm>
            <a:off x="14298897" y="9155237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6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1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628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9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0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631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632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3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4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635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6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637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8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639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0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1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642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3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4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5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6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7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8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9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650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651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2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653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654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5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656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7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8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9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660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1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2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3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4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5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6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667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8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669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70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671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672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673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674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675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67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677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678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679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80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683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681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82" name="LTE 21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2100MHz</a:t>
              </a:r>
            </a:p>
          </p:txBody>
        </p:sp>
      </p:grpSp>
      <p:sp>
        <p:nvSpPr>
          <p:cNvPr id="684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85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86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87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688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689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690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691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2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3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716" name="Group 59"/>
          <p:cNvGrpSpPr/>
          <p:nvPr/>
        </p:nvGrpSpPr>
        <p:grpSpPr>
          <a:xfrm>
            <a:off x="12275818" y="1792970"/>
            <a:ext cx="1308272" cy="2247723"/>
            <a:chOff x="0" y="0"/>
            <a:chExt cx="1308270" cy="2247721"/>
          </a:xfrm>
        </p:grpSpPr>
        <p:sp>
          <p:nvSpPr>
            <p:cNvPr id="694" name="Straight Connector 60"/>
            <p:cNvSpPr/>
            <p:nvPr/>
          </p:nvSpPr>
          <p:spPr>
            <a:xfrm>
              <a:off x="65446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95" name="Straight Connector 106"/>
            <p:cNvSpPr/>
            <p:nvPr/>
          </p:nvSpPr>
          <p:spPr>
            <a:xfrm>
              <a:off x="65446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96" name="Straight Connector 107"/>
            <p:cNvSpPr/>
            <p:nvPr/>
          </p:nvSpPr>
          <p:spPr>
            <a:xfrm>
              <a:off x="65446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97" name="Straight Connector 108"/>
            <p:cNvSpPr/>
            <p:nvPr/>
          </p:nvSpPr>
          <p:spPr>
            <a:xfrm>
              <a:off x="65446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98" name="Straight Connector 109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99" name="Straight Connector 110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00" name="Straight Connector 111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01" name="Straight Connector 112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02" name="Straight Connector 113"/>
            <p:cNvSpPr/>
            <p:nvPr/>
          </p:nvSpPr>
          <p:spPr>
            <a:xfrm>
              <a:off x="65446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703" name="Picture 114" descr="Picture 114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04" name="TextBox 115"/>
            <p:cNvSpPr txBox="1"/>
            <p:nvPr/>
          </p:nvSpPr>
          <p:spPr>
            <a:xfrm>
              <a:off x="736457" y="2019212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705" name="TextBox 116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706" name="TextBox 117"/>
            <p:cNvSpPr txBox="1"/>
            <p:nvPr/>
          </p:nvSpPr>
          <p:spPr>
            <a:xfrm>
              <a:off x="880182" y="540934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707" name="TextBox 118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708" name="TextBox 119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709" name="TextBox 120"/>
            <p:cNvSpPr txBox="1"/>
            <p:nvPr/>
          </p:nvSpPr>
          <p:spPr>
            <a:xfrm>
              <a:off x="880183" y="1089576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710" name="TextBox 121"/>
            <p:cNvSpPr txBox="1"/>
            <p:nvPr/>
          </p:nvSpPr>
          <p:spPr>
            <a:xfrm>
              <a:off x="880183" y="1274360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711" name="TextBox 122"/>
            <p:cNvSpPr txBox="1"/>
            <p:nvPr/>
          </p:nvSpPr>
          <p:spPr>
            <a:xfrm>
              <a:off x="878780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712" name="TextBox 123"/>
            <p:cNvSpPr txBox="1"/>
            <p:nvPr/>
          </p:nvSpPr>
          <p:spPr>
            <a:xfrm>
              <a:off x="878780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713" name="TextBox 124"/>
            <p:cNvSpPr txBox="1"/>
            <p:nvPr/>
          </p:nvSpPr>
          <p:spPr>
            <a:xfrm>
              <a:off x="878780" y="1817292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714" name="TextBox 125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715" name="TextBox 126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717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718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719" name="DRAWN:  &lt;D&gt;"/>
          <p:cNvSpPr txBox="1"/>
          <p:nvPr/>
        </p:nvSpPr>
        <p:spPr>
          <a:xfrm>
            <a:off x="12336953" y="9274488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720" name="CHECKED: &lt;C&gt;"/>
          <p:cNvSpPr txBox="1"/>
          <p:nvPr/>
        </p:nvSpPr>
        <p:spPr>
          <a:xfrm>
            <a:off x="13186113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721" name="APPROVED: &lt;A&gt;"/>
          <p:cNvSpPr txBox="1"/>
          <p:nvPr/>
        </p:nvSpPr>
        <p:spPr>
          <a:xfrm>
            <a:off x="14081691" y="9288989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722" name="&lt;P01&gt;"/>
          <p:cNvSpPr txBox="1"/>
          <p:nvPr/>
        </p:nvSpPr>
        <p:spPr>
          <a:xfrm>
            <a:off x="12598437" y="9714745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723" name="&lt;P02&gt;"/>
          <p:cNvSpPr txBox="1"/>
          <p:nvPr/>
        </p:nvSpPr>
        <p:spPr>
          <a:xfrm>
            <a:off x="12597426" y="9854495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724" name="&lt;NUM&gt;"/>
          <p:cNvSpPr txBox="1"/>
          <p:nvPr/>
        </p:nvSpPr>
        <p:spPr>
          <a:xfrm>
            <a:off x="14324159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7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1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733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4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5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736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737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8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9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740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1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742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3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744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5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6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747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8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9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0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1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2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3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4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755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756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7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758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759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0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761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62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3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64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765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6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7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8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9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0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1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772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73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774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75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776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777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778" name="TextBox 31"/>
          <p:cNvSpPr txBox="1"/>
          <p:nvPr/>
        </p:nvSpPr>
        <p:spPr>
          <a:xfrm>
            <a:off x="12229823" y="7989785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779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780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78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782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784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85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786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87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88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89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790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791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792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793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94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95" name="Rectangle 35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812" name="Group 36"/>
          <p:cNvGrpSpPr/>
          <p:nvPr/>
        </p:nvGrpSpPr>
        <p:grpSpPr>
          <a:xfrm>
            <a:off x="12144185" y="1695399"/>
            <a:ext cx="1269045" cy="1164237"/>
            <a:chOff x="0" y="0"/>
            <a:chExt cx="1269044" cy="1164236"/>
          </a:xfrm>
        </p:grpSpPr>
        <p:grpSp>
          <p:nvGrpSpPr>
            <p:cNvPr id="801" name="Group 37"/>
            <p:cNvGrpSpPr/>
            <p:nvPr/>
          </p:nvGrpSpPr>
          <p:grpSpPr>
            <a:xfrm>
              <a:off x="255735" y="284360"/>
              <a:ext cx="619347" cy="879877"/>
              <a:chOff x="0" y="0"/>
              <a:chExt cx="619346" cy="879876"/>
            </a:xfrm>
          </p:grpSpPr>
          <p:sp>
            <p:nvSpPr>
              <p:cNvPr id="796" name="Rectangle 48"/>
              <p:cNvSpPr/>
              <p:nvPr/>
            </p:nvSpPr>
            <p:spPr>
              <a:xfrm>
                <a:off x="-1" y="-1"/>
                <a:ext cx="618998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97" name="Rectangle 49"/>
              <p:cNvSpPr/>
              <p:nvPr/>
            </p:nvSpPr>
            <p:spPr>
              <a:xfrm>
                <a:off x="0" y="177165"/>
                <a:ext cx="618998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98" name="Rectangle 50"/>
              <p:cNvSpPr/>
              <p:nvPr/>
            </p:nvSpPr>
            <p:spPr>
              <a:xfrm>
                <a:off x="348" y="354331"/>
                <a:ext cx="618998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99" name="Rectangle 51"/>
              <p:cNvSpPr/>
              <p:nvPr/>
            </p:nvSpPr>
            <p:spPr>
              <a:xfrm>
                <a:off x="348" y="531496"/>
                <a:ext cx="618998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800" name="Rectangle 52"/>
              <p:cNvSpPr/>
              <p:nvPr/>
            </p:nvSpPr>
            <p:spPr>
              <a:xfrm>
                <a:off x="348" y="702709"/>
                <a:ext cx="618998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802" name="Straight Connector 38"/>
            <p:cNvSpPr/>
            <p:nvPr/>
          </p:nvSpPr>
          <p:spPr>
            <a:xfrm>
              <a:off x="811837" y="81667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03" name="Straight Connector 39"/>
            <p:cNvSpPr/>
            <p:nvPr/>
          </p:nvSpPr>
          <p:spPr>
            <a:xfrm>
              <a:off x="812086" y="638692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04" name="Straight Connector 40"/>
            <p:cNvSpPr/>
            <p:nvPr/>
          </p:nvSpPr>
          <p:spPr>
            <a:xfrm>
              <a:off x="812086" y="46152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05" name="Straight Connector 41"/>
            <p:cNvSpPr/>
            <p:nvPr/>
          </p:nvSpPr>
          <p:spPr>
            <a:xfrm>
              <a:off x="830247" y="98706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06" name="TextBox 42"/>
            <p:cNvSpPr txBox="1"/>
            <p:nvPr/>
          </p:nvSpPr>
          <p:spPr>
            <a:xfrm>
              <a:off x="-1" y="-1"/>
              <a:ext cx="1013466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807" name="TextBox 43"/>
            <p:cNvSpPr txBox="1"/>
            <p:nvPr/>
          </p:nvSpPr>
          <p:spPr>
            <a:xfrm>
              <a:off x="880764" y="136854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808" name="TextBox 44"/>
            <p:cNvSpPr txBox="1"/>
            <p:nvPr/>
          </p:nvSpPr>
          <p:spPr>
            <a:xfrm>
              <a:off x="935955" y="339737"/>
              <a:ext cx="32483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809" name="TextBox 45"/>
            <p:cNvSpPr txBox="1"/>
            <p:nvPr/>
          </p:nvSpPr>
          <p:spPr>
            <a:xfrm>
              <a:off x="944206" y="523744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810" name="TextBox 46"/>
            <p:cNvSpPr txBox="1"/>
            <p:nvPr/>
          </p:nvSpPr>
          <p:spPr>
            <a:xfrm>
              <a:off x="980237" y="695081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811" name="TextBox 47"/>
            <p:cNvSpPr txBox="1"/>
            <p:nvPr/>
          </p:nvSpPr>
          <p:spPr>
            <a:xfrm>
              <a:off x="977067" y="876823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grpSp>
        <p:nvGrpSpPr>
          <p:cNvPr id="815" name="Rectangle 54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813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814" name="LTE 21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2100MHz</a:t>
              </a:r>
            </a:p>
          </p:txBody>
        </p:sp>
      </p:grpSp>
      <p:sp>
        <p:nvSpPr>
          <p:cNvPr id="816" name="Rectangle 56"/>
          <p:cNvSpPr txBox="1"/>
          <p:nvPr/>
        </p:nvSpPr>
        <p:spPr>
          <a:xfrm>
            <a:off x="6274834" y="10083708"/>
            <a:ext cx="28968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817" name="Rectangle 55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818" name="DRAWN:  &lt;D&gt;"/>
          <p:cNvSpPr txBox="1"/>
          <p:nvPr/>
        </p:nvSpPr>
        <p:spPr>
          <a:xfrm>
            <a:off x="12322173" y="9274488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819" name="CHECKED: &lt;C&gt;"/>
          <p:cNvSpPr txBox="1"/>
          <p:nvPr/>
        </p:nvSpPr>
        <p:spPr>
          <a:xfrm>
            <a:off x="13113122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820" name="APPROVED: &lt;A&gt;"/>
          <p:cNvSpPr txBox="1"/>
          <p:nvPr/>
        </p:nvSpPr>
        <p:spPr>
          <a:xfrm>
            <a:off x="14081691" y="928157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821" name="&lt;NUM&gt;"/>
          <p:cNvSpPr txBox="1"/>
          <p:nvPr/>
        </p:nvSpPr>
        <p:spPr>
          <a:xfrm>
            <a:off x="14324159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822" name="&lt;P01&gt;"/>
          <p:cNvSpPr txBox="1"/>
          <p:nvPr/>
        </p:nvSpPr>
        <p:spPr>
          <a:xfrm>
            <a:off x="12598437" y="9704958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823" name="&lt;P02&gt;"/>
          <p:cNvSpPr txBox="1"/>
          <p:nvPr/>
        </p:nvSpPr>
        <p:spPr>
          <a:xfrm>
            <a:off x="12592863" y="9862504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8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3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832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3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4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835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836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7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8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839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0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841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2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843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4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5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846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7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8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9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0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1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2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3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854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855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6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857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858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9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860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61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62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63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864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65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66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67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68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69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70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871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72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873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74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875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876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877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878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879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88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881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882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883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84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887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885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886" name="LTE 23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2300MHz</a:t>
              </a:r>
            </a:p>
          </p:txBody>
        </p:sp>
      </p:grpSp>
      <p:sp>
        <p:nvSpPr>
          <p:cNvPr id="888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89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90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91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892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893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894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895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96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97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920" name="Group 59"/>
          <p:cNvGrpSpPr/>
          <p:nvPr/>
        </p:nvGrpSpPr>
        <p:grpSpPr>
          <a:xfrm>
            <a:off x="12275818" y="1792970"/>
            <a:ext cx="1308272" cy="2247723"/>
            <a:chOff x="0" y="0"/>
            <a:chExt cx="1308270" cy="2247721"/>
          </a:xfrm>
        </p:grpSpPr>
        <p:sp>
          <p:nvSpPr>
            <p:cNvPr id="898" name="Straight Connector 60"/>
            <p:cNvSpPr/>
            <p:nvPr/>
          </p:nvSpPr>
          <p:spPr>
            <a:xfrm>
              <a:off x="65446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99" name="Straight Connector 106"/>
            <p:cNvSpPr/>
            <p:nvPr/>
          </p:nvSpPr>
          <p:spPr>
            <a:xfrm>
              <a:off x="65446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0" name="Straight Connector 107"/>
            <p:cNvSpPr/>
            <p:nvPr/>
          </p:nvSpPr>
          <p:spPr>
            <a:xfrm>
              <a:off x="65446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1" name="Straight Connector 108"/>
            <p:cNvSpPr/>
            <p:nvPr/>
          </p:nvSpPr>
          <p:spPr>
            <a:xfrm>
              <a:off x="65446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2" name="Straight Connector 109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3" name="Straight Connector 110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4" name="Straight Connector 111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5" name="Straight Connector 112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06" name="Straight Connector 113"/>
            <p:cNvSpPr/>
            <p:nvPr/>
          </p:nvSpPr>
          <p:spPr>
            <a:xfrm>
              <a:off x="65446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907" name="Picture 114" descr="Picture 114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908" name="TextBox 115"/>
            <p:cNvSpPr txBox="1"/>
            <p:nvPr/>
          </p:nvSpPr>
          <p:spPr>
            <a:xfrm>
              <a:off x="736457" y="2019212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909" name="TextBox 116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910" name="TextBox 117"/>
            <p:cNvSpPr txBox="1"/>
            <p:nvPr/>
          </p:nvSpPr>
          <p:spPr>
            <a:xfrm>
              <a:off x="880182" y="540934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911" name="TextBox 118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912" name="TextBox 119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913" name="TextBox 120"/>
            <p:cNvSpPr txBox="1"/>
            <p:nvPr/>
          </p:nvSpPr>
          <p:spPr>
            <a:xfrm>
              <a:off x="880183" y="1089576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914" name="TextBox 121"/>
            <p:cNvSpPr txBox="1"/>
            <p:nvPr/>
          </p:nvSpPr>
          <p:spPr>
            <a:xfrm>
              <a:off x="880183" y="1274360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915" name="TextBox 122"/>
            <p:cNvSpPr txBox="1"/>
            <p:nvPr/>
          </p:nvSpPr>
          <p:spPr>
            <a:xfrm>
              <a:off x="878780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916" name="TextBox 123"/>
            <p:cNvSpPr txBox="1"/>
            <p:nvPr/>
          </p:nvSpPr>
          <p:spPr>
            <a:xfrm>
              <a:off x="878780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917" name="TextBox 124"/>
            <p:cNvSpPr txBox="1"/>
            <p:nvPr/>
          </p:nvSpPr>
          <p:spPr>
            <a:xfrm>
              <a:off x="878780" y="1817292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918" name="TextBox 125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919" name="TextBox 126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921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922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2300MHz</a:t>
            </a:r>
          </a:p>
        </p:txBody>
      </p:sp>
      <p:sp>
        <p:nvSpPr>
          <p:cNvPr id="923" name="DRAWN:  &lt;D&gt;"/>
          <p:cNvSpPr txBox="1"/>
          <p:nvPr/>
        </p:nvSpPr>
        <p:spPr>
          <a:xfrm>
            <a:off x="12299065" y="9274488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924" name="CHECKED: &lt;C&gt;"/>
          <p:cNvSpPr txBox="1"/>
          <p:nvPr/>
        </p:nvSpPr>
        <p:spPr>
          <a:xfrm>
            <a:off x="13136051" y="9282393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925" name="APPROVED: &lt;A&gt;"/>
          <p:cNvSpPr txBox="1"/>
          <p:nvPr/>
        </p:nvSpPr>
        <p:spPr>
          <a:xfrm>
            <a:off x="14039416" y="9282393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926" name="&lt;NUM&gt;"/>
          <p:cNvSpPr txBox="1"/>
          <p:nvPr/>
        </p:nvSpPr>
        <p:spPr>
          <a:xfrm>
            <a:off x="14298897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927" name="&lt;P01&gt;"/>
          <p:cNvSpPr txBox="1"/>
          <p:nvPr/>
        </p:nvSpPr>
        <p:spPr>
          <a:xfrm>
            <a:off x="12618697" y="9714745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928" name="&lt;P02&gt;"/>
          <p:cNvSpPr txBox="1"/>
          <p:nvPr/>
        </p:nvSpPr>
        <p:spPr>
          <a:xfrm>
            <a:off x="12601234" y="9864945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9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3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937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8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9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940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941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2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3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944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5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946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7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948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9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0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951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2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3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4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5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6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7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8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959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960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1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962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963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4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965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66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7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68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969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0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1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2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3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4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5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976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7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978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9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980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981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982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983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984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985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986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987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988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89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990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91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92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93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994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995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996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997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98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99" name="Rectangle 35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016" name="Group 36"/>
          <p:cNvGrpSpPr/>
          <p:nvPr/>
        </p:nvGrpSpPr>
        <p:grpSpPr>
          <a:xfrm>
            <a:off x="12144185" y="1695399"/>
            <a:ext cx="1269045" cy="1164237"/>
            <a:chOff x="0" y="0"/>
            <a:chExt cx="1269044" cy="1164236"/>
          </a:xfrm>
        </p:grpSpPr>
        <p:grpSp>
          <p:nvGrpSpPr>
            <p:cNvPr id="1005" name="Group 37"/>
            <p:cNvGrpSpPr/>
            <p:nvPr/>
          </p:nvGrpSpPr>
          <p:grpSpPr>
            <a:xfrm>
              <a:off x="255735" y="284360"/>
              <a:ext cx="619347" cy="879877"/>
              <a:chOff x="0" y="0"/>
              <a:chExt cx="619346" cy="879876"/>
            </a:xfrm>
          </p:grpSpPr>
          <p:sp>
            <p:nvSpPr>
              <p:cNvPr id="1000" name="Rectangle 48"/>
              <p:cNvSpPr/>
              <p:nvPr/>
            </p:nvSpPr>
            <p:spPr>
              <a:xfrm>
                <a:off x="-1" y="-1"/>
                <a:ext cx="618998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001" name="Rectangle 49"/>
              <p:cNvSpPr/>
              <p:nvPr/>
            </p:nvSpPr>
            <p:spPr>
              <a:xfrm>
                <a:off x="0" y="177165"/>
                <a:ext cx="618998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002" name="Rectangle 50"/>
              <p:cNvSpPr/>
              <p:nvPr/>
            </p:nvSpPr>
            <p:spPr>
              <a:xfrm>
                <a:off x="348" y="354331"/>
                <a:ext cx="618998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003" name="Rectangle 51"/>
              <p:cNvSpPr/>
              <p:nvPr/>
            </p:nvSpPr>
            <p:spPr>
              <a:xfrm>
                <a:off x="348" y="531496"/>
                <a:ext cx="618998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004" name="Rectangle 52"/>
              <p:cNvSpPr/>
              <p:nvPr/>
            </p:nvSpPr>
            <p:spPr>
              <a:xfrm>
                <a:off x="348" y="702709"/>
                <a:ext cx="618998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006" name="Straight Connector 38"/>
            <p:cNvSpPr/>
            <p:nvPr/>
          </p:nvSpPr>
          <p:spPr>
            <a:xfrm>
              <a:off x="811837" y="81667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07" name="Straight Connector 39"/>
            <p:cNvSpPr/>
            <p:nvPr/>
          </p:nvSpPr>
          <p:spPr>
            <a:xfrm>
              <a:off x="812086" y="638692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08" name="Straight Connector 40"/>
            <p:cNvSpPr/>
            <p:nvPr/>
          </p:nvSpPr>
          <p:spPr>
            <a:xfrm>
              <a:off x="812086" y="46152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09" name="Straight Connector 41"/>
            <p:cNvSpPr/>
            <p:nvPr/>
          </p:nvSpPr>
          <p:spPr>
            <a:xfrm>
              <a:off x="830247" y="98706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10" name="TextBox 42"/>
            <p:cNvSpPr txBox="1"/>
            <p:nvPr/>
          </p:nvSpPr>
          <p:spPr>
            <a:xfrm>
              <a:off x="-1" y="-1"/>
              <a:ext cx="1013466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1011" name="TextBox 43"/>
            <p:cNvSpPr txBox="1"/>
            <p:nvPr/>
          </p:nvSpPr>
          <p:spPr>
            <a:xfrm>
              <a:off x="880764" y="136854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012" name="TextBox 44"/>
            <p:cNvSpPr txBox="1"/>
            <p:nvPr/>
          </p:nvSpPr>
          <p:spPr>
            <a:xfrm>
              <a:off x="935955" y="339737"/>
              <a:ext cx="32483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013" name="TextBox 45"/>
            <p:cNvSpPr txBox="1"/>
            <p:nvPr/>
          </p:nvSpPr>
          <p:spPr>
            <a:xfrm>
              <a:off x="944206" y="523744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014" name="TextBox 46"/>
            <p:cNvSpPr txBox="1"/>
            <p:nvPr/>
          </p:nvSpPr>
          <p:spPr>
            <a:xfrm>
              <a:off x="980237" y="695081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015" name="TextBox 47"/>
            <p:cNvSpPr txBox="1"/>
            <p:nvPr/>
          </p:nvSpPr>
          <p:spPr>
            <a:xfrm>
              <a:off x="977067" y="876823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grpSp>
        <p:nvGrpSpPr>
          <p:cNvPr id="1019" name="Rectangle 54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1017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018" name="LTE 23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2300MHz</a:t>
              </a:r>
            </a:p>
          </p:txBody>
        </p:sp>
      </p:grpSp>
      <p:sp>
        <p:nvSpPr>
          <p:cNvPr id="1020" name="Rectangle 56"/>
          <p:cNvSpPr txBox="1"/>
          <p:nvPr/>
        </p:nvSpPr>
        <p:spPr>
          <a:xfrm>
            <a:off x="6274834" y="10083708"/>
            <a:ext cx="28968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1021" name="Rectangle 55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2300MHz</a:t>
            </a:r>
          </a:p>
        </p:txBody>
      </p:sp>
      <p:sp>
        <p:nvSpPr>
          <p:cNvPr id="1022" name="DRAWN:  &lt;D&gt;"/>
          <p:cNvSpPr txBox="1"/>
          <p:nvPr/>
        </p:nvSpPr>
        <p:spPr>
          <a:xfrm>
            <a:off x="12336953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023" name="CHECKED: &lt;C&gt;"/>
          <p:cNvSpPr txBox="1"/>
          <p:nvPr/>
        </p:nvSpPr>
        <p:spPr>
          <a:xfrm>
            <a:off x="13136051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024" name="&lt;NUM&gt;"/>
          <p:cNvSpPr txBox="1"/>
          <p:nvPr/>
        </p:nvSpPr>
        <p:spPr>
          <a:xfrm>
            <a:off x="14298897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025" name="APPROVED: &lt;A&gt;"/>
          <p:cNvSpPr txBox="1"/>
          <p:nvPr/>
        </p:nvSpPr>
        <p:spPr>
          <a:xfrm>
            <a:off x="14001527" y="928499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026" name="&lt;P01&gt;"/>
          <p:cNvSpPr txBox="1"/>
          <p:nvPr/>
        </p:nvSpPr>
        <p:spPr>
          <a:xfrm>
            <a:off x="12598437" y="9708097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027" name="&lt;P02&gt;"/>
          <p:cNvSpPr txBox="1"/>
          <p:nvPr/>
        </p:nvSpPr>
        <p:spPr>
          <a:xfrm>
            <a:off x="12598437" y="9857189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0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6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036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7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8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039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040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1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2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043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4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045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6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047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8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9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050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1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2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3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4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5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6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7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058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059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60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061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062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63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064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65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66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67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068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69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0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1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2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3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4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075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76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077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78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079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080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081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082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083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08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85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1086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1087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88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1091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1089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090" name="LTE 26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2600MHz</a:t>
              </a:r>
            </a:p>
          </p:txBody>
        </p:sp>
      </p:grpSp>
      <p:sp>
        <p:nvSpPr>
          <p:cNvPr id="1092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93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94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95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096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097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098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099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00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01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1124" name="Group 59"/>
          <p:cNvGrpSpPr/>
          <p:nvPr/>
        </p:nvGrpSpPr>
        <p:grpSpPr>
          <a:xfrm>
            <a:off x="12275818" y="1792970"/>
            <a:ext cx="1308272" cy="2247723"/>
            <a:chOff x="0" y="0"/>
            <a:chExt cx="1308270" cy="2247721"/>
          </a:xfrm>
        </p:grpSpPr>
        <p:sp>
          <p:nvSpPr>
            <p:cNvPr id="1102" name="Straight Connector 60"/>
            <p:cNvSpPr/>
            <p:nvPr/>
          </p:nvSpPr>
          <p:spPr>
            <a:xfrm>
              <a:off x="65446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3" name="Straight Connector 106"/>
            <p:cNvSpPr/>
            <p:nvPr/>
          </p:nvSpPr>
          <p:spPr>
            <a:xfrm>
              <a:off x="65446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4" name="Straight Connector 107"/>
            <p:cNvSpPr/>
            <p:nvPr/>
          </p:nvSpPr>
          <p:spPr>
            <a:xfrm>
              <a:off x="65446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5" name="Straight Connector 108"/>
            <p:cNvSpPr/>
            <p:nvPr/>
          </p:nvSpPr>
          <p:spPr>
            <a:xfrm>
              <a:off x="65446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6" name="Straight Connector 109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7" name="Straight Connector 110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8" name="Straight Connector 111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09" name="Straight Connector 112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10" name="Straight Connector 113"/>
            <p:cNvSpPr/>
            <p:nvPr/>
          </p:nvSpPr>
          <p:spPr>
            <a:xfrm>
              <a:off x="65446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111" name="Picture 114" descr="Picture 114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112" name="TextBox 115"/>
            <p:cNvSpPr txBox="1"/>
            <p:nvPr/>
          </p:nvSpPr>
          <p:spPr>
            <a:xfrm>
              <a:off x="736457" y="2019212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113" name="TextBox 116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114" name="TextBox 117"/>
            <p:cNvSpPr txBox="1"/>
            <p:nvPr/>
          </p:nvSpPr>
          <p:spPr>
            <a:xfrm>
              <a:off x="880182" y="540934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115" name="TextBox 118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116" name="TextBox 119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117" name="TextBox 120"/>
            <p:cNvSpPr txBox="1"/>
            <p:nvPr/>
          </p:nvSpPr>
          <p:spPr>
            <a:xfrm>
              <a:off x="880183" y="1089576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118" name="TextBox 121"/>
            <p:cNvSpPr txBox="1"/>
            <p:nvPr/>
          </p:nvSpPr>
          <p:spPr>
            <a:xfrm>
              <a:off x="880183" y="1274360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119" name="TextBox 122"/>
            <p:cNvSpPr txBox="1"/>
            <p:nvPr/>
          </p:nvSpPr>
          <p:spPr>
            <a:xfrm>
              <a:off x="878780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120" name="TextBox 123"/>
            <p:cNvSpPr txBox="1"/>
            <p:nvPr/>
          </p:nvSpPr>
          <p:spPr>
            <a:xfrm>
              <a:off x="878780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121" name="TextBox 124"/>
            <p:cNvSpPr txBox="1"/>
            <p:nvPr/>
          </p:nvSpPr>
          <p:spPr>
            <a:xfrm>
              <a:off x="878780" y="1817292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122" name="TextBox 125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123" name="TextBox 126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1125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126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2600MHz</a:t>
            </a:r>
          </a:p>
        </p:txBody>
      </p:sp>
      <p:sp>
        <p:nvSpPr>
          <p:cNvPr id="1127" name="DRAWN:  &lt;D&gt;"/>
          <p:cNvSpPr txBox="1"/>
          <p:nvPr/>
        </p:nvSpPr>
        <p:spPr>
          <a:xfrm>
            <a:off x="12299065" y="928499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128" name="CHECKED: &lt;C&gt;"/>
          <p:cNvSpPr txBox="1"/>
          <p:nvPr/>
        </p:nvSpPr>
        <p:spPr>
          <a:xfrm>
            <a:off x="13101568" y="9274488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129" name="APPROVED: &lt;A&gt;"/>
          <p:cNvSpPr txBox="1"/>
          <p:nvPr/>
        </p:nvSpPr>
        <p:spPr>
          <a:xfrm>
            <a:off x="14081691" y="928157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130" name="&lt;P01&gt;"/>
          <p:cNvSpPr txBox="1"/>
          <p:nvPr/>
        </p:nvSpPr>
        <p:spPr>
          <a:xfrm>
            <a:off x="12598437" y="9714745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131" name="&lt;P02&gt;"/>
          <p:cNvSpPr txBox="1"/>
          <p:nvPr/>
        </p:nvSpPr>
        <p:spPr>
          <a:xfrm>
            <a:off x="12592863" y="9854495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132" name="&lt;NUM&gt;"/>
          <p:cNvSpPr txBox="1"/>
          <p:nvPr/>
        </p:nvSpPr>
        <p:spPr>
          <a:xfrm>
            <a:off x="14324159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1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6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141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2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3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144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145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6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7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148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9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150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1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152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3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4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155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6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7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8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9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0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1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2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163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164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5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166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167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8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169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70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1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72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173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4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5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6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7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8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9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180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81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182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83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184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185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186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187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188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18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0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1191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1192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93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1194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95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96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97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198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199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200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201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02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03" name="Rectangle 35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220" name="Group 36"/>
          <p:cNvGrpSpPr/>
          <p:nvPr/>
        </p:nvGrpSpPr>
        <p:grpSpPr>
          <a:xfrm>
            <a:off x="12144185" y="1695399"/>
            <a:ext cx="1269045" cy="1164237"/>
            <a:chOff x="0" y="0"/>
            <a:chExt cx="1269044" cy="1164236"/>
          </a:xfrm>
        </p:grpSpPr>
        <p:grpSp>
          <p:nvGrpSpPr>
            <p:cNvPr id="1209" name="Group 37"/>
            <p:cNvGrpSpPr/>
            <p:nvPr/>
          </p:nvGrpSpPr>
          <p:grpSpPr>
            <a:xfrm>
              <a:off x="255735" y="284360"/>
              <a:ext cx="619347" cy="879877"/>
              <a:chOff x="0" y="0"/>
              <a:chExt cx="619346" cy="879876"/>
            </a:xfrm>
          </p:grpSpPr>
          <p:sp>
            <p:nvSpPr>
              <p:cNvPr id="1204" name="Rectangle 48"/>
              <p:cNvSpPr/>
              <p:nvPr/>
            </p:nvSpPr>
            <p:spPr>
              <a:xfrm>
                <a:off x="-1" y="-1"/>
                <a:ext cx="618998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205" name="Rectangle 49"/>
              <p:cNvSpPr/>
              <p:nvPr/>
            </p:nvSpPr>
            <p:spPr>
              <a:xfrm>
                <a:off x="0" y="177165"/>
                <a:ext cx="618998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206" name="Rectangle 50"/>
              <p:cNvSpPr/>
              <p:nvPr/>
            </p:nvSpPr>
            <p:spPr>
              <a:xfrm>
                <a:off x="348" y="354331"/>
                <a:ext cx="618998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207" name="Rectangle 51"/>
              <p:cNvSpPr/>
              <p:nvPr/>
            </p:nvSpPr>
            <p:spPr>
              <a:xfrm>
                <a:off x="348" y="531496"/>
                <a:ext cx="618998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208" name="Rectangle 52"/>
              <p:cNvSpPr/>
              <p:nvPr/>
            </p:nvSpPr>
            <p:spPr>
              <a:xfrm>
                <a:off x="348" y="702709"/>
                <a:ext cx="618998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210" name="Straight Connector 38"/>
            <p:cNvSpPr/>
            <p:nvPr/>
          </p:nvSpPr>
          <p:spPr>
            <a:xfrm>
              <a:off x="811837" y="81667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11" name="Straight Connector 39"/>
            <p:cNvSpPr/>
            <p:nvPr/>
          </p:nvSpPr>
          <p:spPr>
            <a:xfrm>
              <a:off x="812086" y="638692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12" name="Straight Connector 40"/>
            <p:cNvSpPr/>
            <p:nvPr/>
          </p:nvSpPr>
          <p:spPr>
            <a:xfrm>
              <a:off x="812086" y="46152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13" name="Straight Connector 41"/>
            <p:cNvSpPr/>
            <p:nvPr/>
          </p:nvSpPr>
          <p:spPr>
            <a:xfrm>
              <a:off x="830247" y="98706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14" name="TextBox 42"/>
            <p:cNvSpPr txBox="1"/>
            <p:nvPr/>
          </p:nvSpPr>
          <p:spPr>
            <a:xfrm>
              <a:off x="-1" y="-1"/>
              <a:ext cx="1013466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1215" name="TextBox 43"/>
            <p:cNvSpPr txBox="1"/>
            <p:nvPr/>
          </p:nvSpPr>
          <p:spPr>
            <a:xfrm>
              <a:off x="880764" y="136854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216" name="TextBox 44"/>
            <p:cNvSpPr txBox="1"/>
            <p:nvPr/>
          </p:nvSpPr>
          <p:spPr>
            <a:xfrm>
              <a:off x="935955" y="339737"/>
              <a:ext cx="32483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217" name="TextBox 45"/>
            <p:cNvSpPr txBox="1"/>
            <p:nvPr/>
          </p:nvSpPr>
          <p:spPr>
            <a:xfrm>
              <a:off x="944206" y="523744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218" name="TextBox 46"/>
            <p:cNvSpPr txBox="1"/>
            <p:nvPr/>
          </p:nvSpPr>
          <p:spPr>
            <a:xfrm>
              <a:off x="980237" y="695081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219" name="TextBox 47"/>
            <p:cNvSpPr txBox="1"/>
            <p:nvPr/>
          </p:nvSpPr>
          <p:spPr>
            <a:xfrm>
              <a:off x="977067" y="876823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grpSp>
        <p:nvGrpSpPr>
          <p:cNvPr id="1223" name="Rectangle 54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1221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222" name="LTE 26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2600MHz</a:t>
              </a:r>
            </a:p>
          </p:txBody>
        </p:sp>
      </p:grpSp>
      <p:sp>
        <p:nvSpPr>
          <p:cNvPr id="1224" name="Rectangle 56"/>
          <p:cNvSpPr txBox="1"/>
          <p:nvPr/>
        </p:nvSpPr>
        <p:spPr>
          <a:xfrm>
            <a:off x="6274834" y="10083708"/>
            <a:ext cx="28968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1225" name="Rectangle 55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2600MHz</a:t>
            </a:r>
          </a:p>
        </p:txBody>
      </p:sp>
      <p:sp>
        <p:nvSpPr>
          <p:cNvPr id="1226" name="DRAWN:  &lt;D&gt;"/>
          <p:cNvSpPr txBox="1"/>
          <p:nvPr/>
        </p:nvSpPr>
        <p:spPr>
          <a:xfrm>
            <a:off x="12322173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227" name="CHECKED: &lt;C&gt;"/>
          <p:cNvSpPr txBox="1"/>
          <p:nvPr/>
        </p:nvSpPr>
        <p:spPr>
          <a:xfrm>
            <a:off x="13113122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228" name="APPROVED: &lt;A&gt;"/>
          <p:cNvSpPr txBox="1"/>
          <p:nvPr/>
        </p:nvSpPr>
        <p:spPr>
          <a:xfrm>
            <a:off x="14081691" y="9288989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229" name="&lt;P01&gt;"/>
          <p:cNvSpPr txBox="1"/>
          <p:nvPr/>
        </p:nvSpPr>
        <p:spPr>
          <a:xfrm>
            <a:off x="12614347" y="9708097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230" name="&lt;P02&gt;"/>
          <p:cNvSpPr txBox="1"/>
          <p:nvPr/>
        </p:nvSpPr>
        <p:spPr>
          <a:xfrm>
            <a:off x="12614347" y="9877500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231" name="&lt;NUM&gt;"/>
          <p:cNvSpPr txBox="1"/>
          <p:nvPr/>
        </p:nvSpPr>
        <p:spPr>
          <a:xfrm>
            <a:off x="14290619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2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NR3500_SS-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240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1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2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243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244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5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6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247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8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249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0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251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2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3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254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5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6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7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8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9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60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61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262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263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64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265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266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67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268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69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0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71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272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3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4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5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6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7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8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279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0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281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2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283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284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285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286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287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28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9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1290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1291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2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5GNR</a:t>
            </a:r>
          </a:p>
        </p:txBody>
      </p:sp>
      <p:grpSp>
        <p:nvGrpSpPr>
          <p:cNvPr id="1295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1293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294" name="NR 35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NR 3500MHz</a:t>
              </a:r>
            </a:p>
          </p:txBody>
        </p:sp>
      </p:grpSp>
      <p:sp>
        <p:nvSpPr>
          <p:cNvPr id="1296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7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8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9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300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301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302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303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04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05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SS-RSRP (dBm)</a:t>
            </a:r>
          </a:p>
        </p:txBody>
      </p:sp>
      <p:grpSp>
        <p:nvGrpSpPr>
          <p:cNvPr id="1328" name="Group 59"/>
          <p:cNvGrpSpPr/>
          <p:nvPr/>
        </p:nvGrpSpPr>
        <p:grpSpPr>
          <a:xfrm>
            <a:off x="12275819" y="1792970"/>
            <a:ext cx="1308272" cy="2247723"/>
            <a:chOff x="0" y="0"/>
            <a:chExt cx="1308270" cy="2247721"/>
          </a:xfrm>
        </p:grpSpPr>
        <p:sp>
          <p:nvSpPr>
            <p:cNvPr id="1306" name="Straight Connector 60"/>
            <p:cNvSpPr/>
            <p:nvPr/>
          </p:nvSpPr>
          <p:spPr>
            <a:xfrm>
              <a:off x="65446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07" name="Straight Connector 106"/>
            <p:cNvSpPr/>
            <p:nvPr/>
          </p:nvSpPr>
          <p:spPr>
            <a:xfrm>
              <a:off x="65446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08" name="Straight Connector 107"/>
            <p:cNvSpPr/>
            <p:nvPr/>
          </p:nvSpPr>
          <p:spPr>
            <a:xfrm>
              <a:off x="65446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09" name="Straight Connector 108"/>
            <p:cNvSpPr/>
            <p:nvPr/>
          </p:nvSpPr>
          <p:spPr>
            <a:xfrm>
              <a:off x="65446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10" name="Straight Connector 109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11" name="Straight Connector 110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12" name="Straight Connector 111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13" name="Straight Connector 112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14" name="Straight Connector 113"/>
            <p:cNvSpPr/>
            <p:nvPr/>
          </p:nvSpPr>
          <p:spPr>
            <a:xfrm>
              <a:off x="65446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315" name="Picture 114" descr="Picture 114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316" name="TextBox 115"/>
            <p:cNvSpPr txBox="1"/>
            <p:nvPr/>
          </p:nvSpPr>
          <p:spPr>
            <a:xfrm>
              <a:off x="736457" y="2019212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317" name="TextBox 116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318" name="TextBox 117"/>
            <p:cNvSpPr txBox="1"/>
            <p:nvPr/>
          </p:nvSpPr>
          <p:spPr>
            <a:xfrm>
              <a:off x="880182" y="540934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319" name="TextBox 118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320" name="TextBox 119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321" name="TextBox 120"/>
            <p:cNvSpPr txBox="1"/>
            <p:nvPr/>
          </p:nvSpPr>
          <p:spPr>
            <a:xfrm>
              <a:off x="880183" y="1089576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322" name="TextBox 121"/>
            <p:cNvSpPr txBox="1"/>
            <p:nvPr/>
          </p:nvSpPr>
          <p:spPr>
            <a:xfrm>
              <a:off x="880183" y="1274360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323" name="TextBox 122"/>
            <p:cNvSpPr txBox="1"/>
            <p:nvPr/>
          </p:nvSpPr>
          <p:spPr>
            <a:xfrm>
              <a:off x="878780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324" name="TextBox 123"/>
            <p:cNvSpPr txBox="1"/>
            <p:nvPr/>
          </p:nvSpPr>
          <p:spPr>
            <a:xfrm>
              <a:off x="878780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325" name="TextBox 124"/>
            <p:cNvSpPr txBox="1"/>
            <p:nvPr/>
          </p:nvSpPr>
          <p:spPr>
            <a:xfrm>
              <a:off x="878780" y="1817292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326" name="TextBox 125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327" name="TextBox 126"/>
            <p:cNvSpPr txBox="1"/>
            <p:nvPr/>
          </p:nvSpPr>
          <p:spPr>
            <a:xfrm>
              <a:off x="0" y="-1"/>
              <a:ext cx="1237905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5GNR SS-RSRP (dBm)</a:t>
              </a:r>
            </a:p>
          </p:txBody>
        </p:sp>
      </p:grpSp>
      <p:sp>
        <p:nvSpPr>
          <p:cNvPr id="1329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330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3500MHz</a:t>
            </a:r>
          </a:p>
        </p:txBody>
      </p:sp>
      <p:sp>
        <p:nvSpPr>
          <p:cNvPr id="1331" name="DRAWN:  &lt;D&gt;"/>
          <p:cNvSpPr txBox="1"/>
          <p:nvPr/>
        </p:nvSpPr>
        <p:spPr>
          <a:xfrm>
            <a:off x="12299065" y="9274488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332" name="CHECKED: &lt;C&gt;"/>
          <p:cNvSpPr txBox="1"/>
          <p:nvPr/>
        </p:nvSpPr>
        <p:spPr>
          <a:xfrm>
            <a:off x="13101568" y="928157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333" name="APPROVED: &lt;A&gt;"/>
          <p:cNvSpPr txBox="1"/>
          <p:nvPr/>
        </p:nvSpPr>
        <p:spPr>
          <a:xfrm>
            <a:off x="14081691" y="9282393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334" name="&lt;P01&gt;"/>
          <p:cNvSpPr txBox="1"/>
          <p:nvPr/>
        </p:nvSpPr>
        <p:spPr>
          <a:xfrm>
            <a:off x="12598437" y="9717432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335" name="&lt;P02&gt;"/>
          <p:cNvSpPr txBox="1"/>
          <p:nvPr/>
        </p:nvSpPr>
        <p:spPr>
          <a:xfrm>
            <a:off x="12597426" y="9857189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336" name="&lt;NUM&gt;"/>
          <p:cNvSpPr txBox="1"/>
          <p:nvPr/>
        </p:nvSpPr>
        <p:spPr>
          <a:xfrm>
            <a:off x="14298897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3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NR3500_SS-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345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6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7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348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349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0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1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352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3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354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5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356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7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8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359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0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1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2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3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4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5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6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367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368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9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370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371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2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373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74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5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76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377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8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9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80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81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82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83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384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85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386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87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388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389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390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391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392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39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4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1395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1396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97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5GNR</a:t>
            </a:r>
          </a:p>
        </p:txBody>
      </p:sp>
      <p:grpSp>
        <p:nvGrpSpPr>
          <p:cNvPr id="1400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1398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399" name="NR 35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NR 3500MHz</a:t>
              </a:r>
            </a:p>
          </p:txBody>
        </p:sp>
      </p:grpSp>
      <p:sp>
        <p:nvSpPr>
          <p:cNvPr id="1401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02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03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04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405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406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407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408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09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10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SS-SNIR (dB)</a:t>
            </a:r>
          </a:p>
        </p:txBody>
      </p:sp>
      <p:sp>
        <p:nvSpPr>
          <p:cNvPr id="1411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412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3500MHz</a:t>
            </a:r>
          </a:p>
        </p:txBody>
      </p:sp>
      <p:sp>
        <p:nvSpPr>
          <p:cNvPr id="1413" name="Rectangle 43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430" name="Group 44"/>
          <p:cNvGrpSpPr/>
          <p:nvPr/>
        </p:nvGrpSpPr>
        <p:grpSpPr>
          <a:xfrm>
            <a:off x="12288498" y="1694982"/>
            <a:ext cx="1214293" cy="1164654"/>
            <a:chOff x="0" y="0"/>
            <a:chExt cx="1214291" cy="1164653"/>
          </a:xfrm>
        </p:grpSpPr>
        <p:grpSp>
          <p:nvGrpSpPr>
            <p:cNvPr id="1419" name="Group 45"/>
            <p:cNvGrpSpPr/>
            <p:nvPr/>
          </p:nvGrpSpPr>
          <p:grpSpPr>
            <a:xfrm>
              <a:off x="111420" y="284777"/>
              <a:ext cx="619346" cy="879877"/>
              <a:chOff x="0" y="0"/>
              <a:chExt cx="619344" cy="879875"/>
            </a:xfrm>
          </p:grpSpPr>
          <p:sp>
            <p:nvSpPr>
              <p:cNvPr id="1414" name="Rectangle 56"/>
              <p:cNvSpPr/>
              <p:nvPr/>
            </p:nvSpPr>
            <p:spPr>
              <a:xfrm>
                <a:off x="0" y="-1"/>
                <a:ext cx="618996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415" name="Rectangle 57"/>
              <p:cNvSpPr/>
              <p:nvPr/>
            </p:nvSpPr>
            <p:spPr>
              <a:xfrm>
                <a:off x="1" y="177165"/>
                <a:ext cx="618996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416" name="Rectangle 61"/>
              <p:cNvSpPr/>
              <p:nvPr/>
            </p:nvSpPr>
            <p:spPr>
              <a:xfrm>
                <a:off x="349" y="354331"/>
                <a:ext cx="618996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417" name="Rectangle 63"/>
              <p:cNvSpPr/>
              <p:nvPr/>
            </p:nvSpPr>
            <p:spPr>
              <a:xfrm>
                <a:off x="349" y="531496"/>
                <a:ext cx="618996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418" name="Rectangle 64"/>
              <p:cNvSpPr/>
              <p:nvPr/>
            </p:nvSpPr>
            <p:spPr>
              <a:xfrm>
                <a:off x="349" y="702708"/>
                <a:ext cx="618996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420" name="Straight Connector 46"/>
            <p:cNvSpPr/>
            <p:nvPr/>
          </p:nvSpPr>
          <p:spPr>
            <a:xfrm>
              <a:off x="667521" y="817088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21" name="Straight Connector 47"/>
            <p:cNvSpPr/>
            <p:nvPr/>
          </p:nvSpPr>
          <p:spPr>
            <a:xfrm>
              <a:off x="667771" y="63910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22" name="Straight Connector 48"/>
            <p:cNvSpPr/>
            <p:nvPr/>
          </p:nvSpPr>
          <p:spPr>
            <a:xfrm>
              <a:off x="667771" y="46194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23" name="Straight Connector 49"/>
            <p:cNvSpPr/>
            <p:nvPr/>
          </p:nvSpPr>
          <p:spPr>
            <a:xfrm>
              <a:off x="685932" y="98748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24" name="TextBox 50"/>
            <p:cNvSpPr txBox="1"/>
            <p:nvPr/>
          </p:nvSpPr>
          <p:spPr>
            <a:xfrm>
              <a:off x="0" y="0"/>
              <a:ext cx="1214292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5GNR SS-SNIR (dB)</a:t>
              </a:r>
            </a:p>
          </p:txBody>
        </p:sp>
        <p:sp>
          <p:nvSpPr>
            <p:cNvPr id="1425" name="TextBox 51"/>
            <p:cNvSpPr txBox="1"/>
            <p:nvPr/>
          </p:nvSpPr>
          <p:spPr>
            <a:xfrm>
              <a:off x="736448" y="137270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426" name="TextBox 52"/>
            <p:cNvSpPr txBox="1"/>
            <p:nvPr/>
          </p:nvSpPr>
          <p:spPr>
            <a:xfrm>
              <a:off x="791639" y="340153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427" name="TextBox 53"/>
            <p:cNvSpPr txBox="1"/>
            <p:nvPr/>
          </p:nvSpPr>
          <p:spPr>
            <a:xfrm>
              <a:off x="799890" y="524160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428" name="TextBox 54"/>
            <p:cNvSpPr txBox="1"/>
            <p:nvPr/>
          </p:nvSpPr>
          <p:spPr>
            <a:xfrm>
              <a:off x="835922" y="695498"/>
              <a:ext cx="260471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429" name="TextBox 55"/>
            <p:cNvSpPr txBox="1"/>
            <p:nvPr/>
          </p:nvSpPr>
          <p:spPr>
            <a:xfrm>
              <a:off x="832751" y="877241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1431" name="DRAWN:  &lt;D&gt;"/>
          <p:cNvSpPr txBox="1"/>
          <p:nvPr/>
        </p:nvSpPr>
        <p:spPr>
          <a:xfrm>
            <a:off x="12322173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432" name="CHECKED: &lt;C&gt;"/>
          <p:cNvSpPr txBox="1"/>
          <p:nvPr/>
        </p:nvSpPr>
        <p:spPr>
          <a:xfrm>
            <a:off x="13113122" y="928499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433" name="APPROVED: &lt;A&gt;"/>
          <p:cNvSpPr txBox="1"/>
          <p:nvPr/>
        </p:nvSpPr>
        <p:spPr>
          <a:xfrm>
            <a:off x="14081691" y="928157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434" name="&lt;P01&gt;"/>
          <p:cNvSpPr txBox="1"/>
          <p:nvPr/>
        </p:nvSpPr>
        <p:spPr>
          <a:xfrm>
            <a:off x="12598437" y="9717432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435" name="&lt;P02&gt;"/>
          <p:cNvSpPr txBox="1"/>
          <p:nvPr/>
        </p:nvSpPr>
        <p:spPr>
          <a:xfrm>
            <a:off x="12592863" y="9862504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436" name="&lt;NUM&gt;"/>
          <p:cNvSpPr txBox="1"/>
          <p:nvPr/>
        </p:nvSpPr>
        <p:spPr>
          <a:xfrm>
            <a:off x="14298897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4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L21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445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46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47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448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449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0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1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452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3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454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5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456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7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8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459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0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1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2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3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4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5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6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467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468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9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470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471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2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473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74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5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76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477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8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9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0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1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2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3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484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85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486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87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488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489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490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491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492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49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4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1495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1496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97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1500" name="Rectangle 77"/>
          <p:cNvGrpSpPr/>
          <p:nvPr/>
        </p:nvGrpSpPr>
        <p:grpSpPr>
          <a:xfrm>
            <a:off x="12242779" y="6320593"/>
            <a:ext cx="2627296" cy="392468"/>
            <a:chOff x="0" y="-1"/>
            <a:chExt cx="2627295" cy="392467"/>
          </a:xfrm>
        </p:grpSpPr>
        <p:sp>
          <p:nvSpPr>
            <p:cNvPr id="1498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499" name="LTE 2100MHz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2100MHz</a:t>
              </a:r>
            </a:p>
          </p:txBody>
        </p:sp>
      </p:grpSp>
      <p:sp>
        <p:nvSpPr>
          <p:cNvPr id="1501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2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3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4" name="Rectangle 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505" name="Rectangle 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506" name="Rectangle 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507" name="Rectangle 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508" name="Rectangle 8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09" name="Rectangle 9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10" name="Rectangle 58"/>
          <p:cNvSpPr txBox="1"/>
          <p:nvPr/>
        </p:nvSpPr>
        <p:spPr>
          <a:xfrm>
            <a:off x="6266434" y="10086648"/>
            <a:ext cx="2901969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1533" name="Group 59"/>
          <p:cNvGrpSpPr/>
          <p:nvPr/>
        </p:nvGrpSpPr>
        <p:grpSpPr>
          <a:xfrm>
            <a:off x="12275818" y="1792970"/>
            <a:ext cx="1308272" cy="2247723"/>
            <a:chOff x="0" y="0"/>
            <a:chExt cx="1308270" cy="2247721"/>
          </a:xfrm>
        </p:grpSpPr>
        <p:sp>
          <p:nvSpPr>
            <p:cNvPr id="1511" name="Straight Connector 60"/>
            <p:cNvSpPr/>
            <p:nvPr/>
          </p:nvSpPr>
          <p:spPr>
            <a:xfrm>
              <a:off x="654461" y="194611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2" name="Straight Connector 106"/>
            <p:cNvSpPr/>
            <p:nvPr/>
          </p:nvSpPr>
          <p:spPr>
            <a:xfrm>
              <a:off x="654461" y="157844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3" name="Straight Connector 107"/>
            <p:cNvSpPr/>
            <p:nvPr/>
          </p:nvSpPr>
          <p:spPr>
            <a:xfrm>
              <a:off x="654461" y="139747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4" name="Straight Connector 108"/>
            <p:cNvSpPr/>
            <p:nvPr/>
          </p:nvSpPr>
          <p:spPr>
            <a:xfrm>
              <a:off x="654461" y="1214592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5" name="Straight Connector 109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6" name="Straight Connector 110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7" name="Straight Connector 111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8" name="Straight Connector 112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519" name="Straight Connector 113"/>
            <p:cNvSpPr/>
            <p:nvPr/>
          </p:nvSpPr>
          <p:spPr>
            <a:xfrm>
              <a:off x="654461" y="1761327"/>
              <a:ext cx="180002" cy="2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520" name="Picture 114" descr="Picture 114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521" name="TextBox 115"/>
            <p:cNvSpPr txBox="1"/>
            <p:nvPr/>
          </p:nvSpPr>
          <p:spPr>
            <a:xfrm>
              <a:off x="736457" y="2019212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522" name="TextBox 116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523" name="TextBox 117"/>
            <p:cNvSpPr txBox="1"/>
            <p:nvPr/>
          </p:nvSpPr>
          <p:spPr>
            <a:xfrm>
              <a:off x="880182" y="540934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524" name="TextBox 118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525" name="TextBox 119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526" name="TextBox 120"/>
            <p:cNvSpPr txBox="1"/>
            <p:nvPr/>
          </p:nvSpPr>
          <p:spPr>
            <a:xfrm>
              <a:off x="880183" y="1089576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527" name="TextBox 121"/>
            <p:cNvSpPr txBox="1"/>
            <p:nvPr/>
          </p:nvSpPr>
          <p:spPr>
            <a:xfrm>
              <a:off x="880183" y="1274360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528" name="TextBox 122"/>
            <p:cNvSpPr txBox="1"/>
            <p:nvPr/>
          </p:nvSpPr>
          <p:spPr>
            <a:xfrm>
              <a:off x="878780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529" name="TextBox 123"/>
            <p:cNvSpPr txBox="1"/>
            <p:nvPr/>
          </p:nvSpPr>
          <p:spPr>
            <a:xfrm>
              <a:off x="878780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530" name="TextBox 124"/>
            <p:cNvSpPr txBox="1"/>
            <p:nvPr/>
          </p:nvSpPr>
          <p:spPr>
            <a:xfrm>
              <a:off x="878780" y="1817292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531" name="TextBox 125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532" name="TextBox 126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1534" name="Rectangle 127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535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1536" name="Picture Placeholder 2"/>
          <p:cNvSpPr/>
          <p:nvPr>
            <p:ph type="pic" idx="21"/>
          </p:nvPr>
        </p:nvSpPr>
        <p:spPr>
          <a:xfrm>
            <a:off x="599802" y="508424"/>
            <a:ext cx="11233726" cy="9364396"/>
          </a:xfrm>
          <a:prstGeom prst="rect">
            <a:avLst/>
          </a:prstGeom>
          <a:ln w="9525">
            <a:solidFill>
              <a:srgbClr val="000000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537" name="DRAWN:  &lt;D&gt;"/>
          <p:cNvSpPr txBox="1"/>
          <p:nvPr/>
        </p:nvSpPr>
        <p:spPr>
          <a:xfrm>
            <a:off x="12266103" y="9281574"/>
            <a:ext cx="596723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538" name="CHECKED: &lt;C&gt;"/>
          <p:cNvSpPr txBox="1"/>
          <p:nvPr/>
        </p:nvSpPr>
        <p:spPr>
          <a:xfrm>
            <a:off x="13136051" y="9284994"/>
            <a:ext cx="66310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539" name="APPROVED: &lt;A&gt;"/>
          <p:cNvSpPr txBox="1"/>
          <p:nvPr/>
        </p:nvSpPr>
        <p:spPr>
          <a:xfrm>
            <a:off x="14076392" y="9281574"/>
            <a:ext cx="709758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540" name="&lt;NUM&gt;"/>
          <p:cNvSpPr txBox="1"/>
          <p:nvPr/>
        </p:nvSpPr>
        <p:spPr>
          <a:xfrm>
            <a:off x="14298897" y="9141615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541" name="&lt;P01&gt;"/>
          <p:cNvSpPr txBox="1"/>
          <p:nvPr/>
        </p:nvSpPr>
        <p:spPr>
          <a:xfrm>
            <a:off x="12598437" y="9708097"/>
            <a:ext cx="328720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542" name="&lt;P02&gt;"/>
          <p:cNvSpPr txBox="1"/>
          <p:nvPr/>
        </p:nvSpPr>
        <p:spPr>
          <a:xfrm>
            <a:off x="12592863" y="9864945"/>
            <a:ext cx="328721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54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TextBox 6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551" name="Rectangle 16"/>
          <p:cNvSpPr txBox="1"/>
          <p:nvPr/>
        </p:nvSpPr>
        <p:spPr>
          <a:xfrm>
            <a:off x="262164" y="1680442"/>
            <a:ext cx="3941011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800">
                <a:solidFill>
                  <a:srgbClr val="CC66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552" name="Rectangle 17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12700">
            <a:solidFill>
              <a:srgbClr val="D91D49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53" name="Title Text"/>
          <p:cNvSpPr txBox="1"/>
          <p:nvPr>
            <p:ph type="title"/>
          </p:nvPr>
        </p:nvSpPr>
        <p:spPr>
          <a:xfrm>
            <a:off x="3818273" y="236991"/>
            <a:ext cx="8675541" cy="206692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algn="l" defTabSz="914371">
              <a:lnSpc>
                <a:spcPct val="90000"/>
              </a:lnSpc>
              <a:defRPr sz="4400"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pPr/>
            <a:r>
              <a:t>Title Text</a:t>
            </a:r>
          </a:p>
        </p:txBody>
      </p:sp>
      <p:pic>
        <p:nvPicPr>
          <p:cNvPr id="155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79746" y="328610"/>
            <a:ext cx="3438527" cy="1333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55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93813" y="641014"/>
            <a:ext cx="2485310" cy="629440"/>
          </a:xfrm>
          <a:prstGeom prst="rect">
            <a:avLst/>
          </a:prstGeom>
          <a:ln w="12700">
            <a:miter lim="400000"/>
          </a:ln>
        </p:spPr>
      </p:pic>
      <p:sp>
        <p:nvSpPr>
          <p:cNvPr id="1556" name="Slide Number"/>
          <p:cNvSpPr txBox="1"/>
          <p:nvPr>
            <p:ph type="sldNum" sz="quarter" idx="2"/>
          </p:nvPr>
        </p:nvSpPr>
        <p:spPr>
          <a:xfrm>
            <a:off x="10572362" y="9787046"/>
            <a:ext cx="258622" cy="248304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GSM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TextBox 6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564" name="Freeform 16"/>
          <p:cNvSpPr/>
          <p:nvPr/>
        </p:nvSpPr>
        <p:spPr>
          <a:xfrm>
            <a:off x="225287" y="10099227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5" name="Freeform 17"/>
          <p:cNvSpPr/>
          <p:nvPr/>
        </p:nvSpPr>
        <p:spPr>
          <a:xfrm>
            <a:off x="225287" y="10266044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6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7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8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9" name="Rectangle 2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570" name="Rectangle 2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571" name="Rectangle 2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572" name="Rectangle 2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573" name="Rectangle 28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GSM</a:t>
            </a:r>
          </a:p>
        </p:txBody>
      </p:sp>
      <p:sp>
        <p:nvSpPr>
          <p:cNvPr id="1574" name="Freeform 62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75" name="Rectangle 30"/>
          <p:cNvSpPr txBox="1"/>
          <p:nvPr/>
        </p:nvSpPr>
        <p:spPr>
          <a:xfrm>
            <a:off x="12279307" y="937506"/>
            <a:ext cx="2545051" cy="177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576" name="Freeform 64"/>
          <p:cNvSpPr/>
          <p:nvPr/>
        </p:nvSpPr>
        <p:spPr>
          <a:xfrm>
            <a:off x="12233909" y="1422262"/>
            <a:ext cx="2640332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579" name="Rectangle 87"/>
          <p:cNvGrpSpPr/>
          <p:nvPr/>
        </p:nvGrpSpPr>
        <p:grpSpPr>
          <a:xfrm>
            <a:off x="12242779" y="5445646"/>
            <a:ext cx="2627296" cy="392468"/>
            <a:chOff x="0" y="-1"/>
            <a:chExt cx="2627295" cy="392467"/>
          </a:xfrm>
        </p:grpSpPr>
        <p:sp>
          <p:nvSpPr>
            <p:cNvPr id="1577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578" name="GSM"/>
            <p:cNvSpPr txBox="1"/>
            <p:nvPr/>
          </p:nvSpPr>
          <p:spPr>
            <a:xfrm>
              <a:off x="55244" y="-2"/>
              <a:ext cx="2516806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GSM</a:t>
              </a:r>
            </a:p>
          </p:txBody>
        </p:sp>
      </p:grpSp>
      <p:grpSp>
        <p:nvGrpSpPr>
          <p:cNvPr id="1621" name="Group 88"/>
          <p:cNvGrpSpPr/>
          <p:nvPr/>
        </p:nvGrpSpPr>
        <p:grpSpPr>
          <a:xfrm>
            <a:off x="12277793" y="1578682"/>
            <a:ext cx="2444123" cy="2454168"/>
            <a:chOff x="0" y="0"/>
            <a:chExt cx="2444121" cy="2454167"/>
          </a:xfrm>
        </p:grpSpPr>
        <p:grpSp>
          <p:nvGrpSpPr>
            <p:cNvPr id="1602" name="Group 89"/>
            <p:cNvGrpSpPr/>
            <p:nvPr/>
          </p:nvGrpSpPr>
          <p:grpSpPr>
            <a:xfrm>
              <a:off x="10144" y="206443"/>
              <a:ext cx="1253527" cy="2247724"/>
              <a:chOff x="0" y="0"/>
              <a:chExt cx="1253526" cy="2247723"/>
            </a:xfrm>
          </p:grpSpPr>
          <p:sp>
            <p:nvSpPr>
              <p:cNvPr id="1580" name="Straight Connector 108"/>
              <p:cNvSpPr/>
              <p:nvPr/>
            </p:nvSpPr>
            <p:spPr>
              <a:xfrm>
                <a:off x="601121" y="1946113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1" name="Straight Connector 109"/>
              <p:cNvSpPr/>
              <p:nvPr/>
            </p:nvSpPr>
            <p:spPr>
              <a:xfrm>
                <a:off x="601121" y="1578447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2" name="Straight Connector 110"/>
              <p:cNvSpPr/>
              <p:nvPr/>
            </p:nvSpPr>
            <p:spPr>
              <a:xfrm>
                <a:off x="601121" y="1397472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3" name="Straight Connector 111"/>
              <p:cNvSpPr/>
              <p:nvPr/>
            </p:nvSpPr>
            <p:spPr>
              <a:xfrm>
                <a:off x="601121" y="1214592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4" name="Straight Connector 112"/>
              <p:cNvSpPr/>
              <p:nvPr/>
            </p:nvSpPr>
            <p:spPr>
              <a:xfrm>
                <a:off x="601121" y="1029807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5" name="Straight Connector 113"/>
              <p:cNvSpPr/>
              <p:nvPr/>
            </p:nvSpPr>
            <p:spPr>
              <a:xfrm>
                <a:off x="601121" y="846927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6" name="Straight Connector 114"/>
              <p:cNvSpPr/>
              <p:nvPr/>
            </p:nvSpPr>
            <p:spPr>
              <a:xfrm>
                <a:off x="601121" y="662141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7" name="Straight Connector 115"/>
              <p:cNvSpPr/>
              <p:nvPr/>
            </p:nvSpPr>
            <p:spPr>
              <a:xfrm>
                <a:off x="601121" y="483071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8" name="Straight Connector 116"/>
              <p:cNvSpPr/>
              <p:nvPr/>
            </p:nvSpPr>
            <p:spPr>
              <a:xfrm>
                <a:off x="601121" y="1761328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pic>
            <p:nvPicPr>
              <p:cNvPr id="1589" name="Picture 117" descr="Picture 117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66281" y="292571"/>
                <a:ext cx="624843" cy="184404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90" name="TextBox 118"/>
              <p:cNvSpPr txBox="1"/>
              <p:nvPr/>
            </p:nvSpPr>
            <p:spPr>
              <a:xfrm>
                <a:off x="683115" y="2019214"/>
                <a:ext cx="326699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MIN</a:t>
                </a:r>
              </a:p>
            </p:txBody>
          </p:sp>
          <p:sp>
            <p:nvSpPr>
              <p:cNvPr id="1591" name="TextBox 119"/>
              <p:cNvSpPr txBox="1"/>
              <p:nvPr/>
            </p:nvSpPr>
            <p:spPr>
              <a:xfrm>
                <a:off x="826842" y="356153"/>
                <a:ext cx="363720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-55</a:t>
                </a:r>
              </a:p>
            </p:txBody>
          </p:sp>
          <p:sp>
            <p:nvSpPr>
              <p:cNvPr id="1592" name="TextBox 120"/>
              <p:cNvSpPr txBox="1"/>
              <p:nvPr/>
            </p:nvSpPr>
            <p:spPr>
              <a:xfrm>
                <a:off x="826842" y="540935"/>
                <a:ext cx="363720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-65</a:t>
                </a:r>
              </a:p>
            </p:txBody>
          </p:sp>
          <p:sp>
            <p:nvSpPr>
              <p:cNvPr id="1593" name="TextBox 121"/>
              <p:cNvSpPr txBox="1"/>
              <p:nvPr/>
            </p:nvSpPr>
            <p:spPr>
              <a:xfrm>
                <a:off x="826842" y="723817"/>
                <a:ext cx="363720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-75</a:t>
                </a:r>
              </a:p>
            </p:txBody>
          </p:sp>
          <p:sp>
            <p:nvSpPr>
              <p:cNvPr id="1594" name="TextBox 122"/>
              <p:cNvSpPr txBox="1"/>
              <p:nvPr/>
            </p:nvSpPr>
            <p:spPr>
              <a:xfrm>
                <a:off x="826842" y="908602"/>
                <a:ext cx="363720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-85</a:t>
                </a:r>
              </a:p>
            </p:txBody>
          </p:sp>
          <p:sp>
            <p:nvSpPr>
              <p:cNvPr id="1595" name="TextBox 123"/>
              <p:cNvSpPr txBox="1"/>
              <p:nvPr/>
            </p:nvSpPr>
            <p:spPr>
              <a:xfrm>
                <a:off x="826842" y="1089576"/>
                <a:ext cx="363720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-95</a:t>
                </a:r>
              </a:p>
            </p:txBody>
          </p:sp>
          <p:sp>
            <p:nvSpPr>
              <p:cNvPr id="1596" name="TextBox 124"/>
              <p:cNvSpPr txBox="1"/>
              <p:nvPr/>
            </p:nvSpPr>
            <p:spPr>
              <a:xfrm>
                <a:off x="826842" y="1274360"/>
                <a:ext cx="363720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-98</a:t>
                </a:r>
              </a:p>
            </p:txBody>
          </p:sp>
          <p:sp>
            <p:nvSpPr>
              <p:cNvPr id="1597" name="TextBox 125"/>
              <p:cNvSpPr txBox="1"/>
              <p:nvPr/>
            </p:nvSpPr>
            <p:spPr>
              <a:xfrm>
                <a:off x="825439" y="1453434"/>
                <a:ext cx="428088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-101</a:t>
                </a:r>
              </a:p>
            </p:txBody>
          </p:sp>
          <p:sp>
            <p:nvSpPr>
              <p:cNvPr id="1598" name="TextBox 126"/>
              <p:cNvSpPr txBox="1"/>
              <p:nvPr/>
            </p:nvSpPr>
            <p:spPr>
              <a:xfrm>
                <a:off x="825439" y="1638218"/>
                <a:ext cx="428088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-103</a:t>
                </a:r>
              </a:p>
            </p:txBody>
          </p:sp>
          <p:sp>
            <p:nvSpPr>
              <p:cNvPr id="1599" name="TextBox 127"/>
              <p:cNvSpPr txBox="1"/>
              <p:nvPr/>
            </p:nvSpPr>
            <p:spPr>
              <a:xfrm>
                <a:off x="825439" y="1817292"/>
                <a:ext cx="428088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-106</a:t>
                </a:r>
              </a:p>
            </p:txBody>
          </p:sp>
          <p:sp>
            <p:nvSpPr>
              <p:cNvPr id="1600" name="TextBox 128"/>
              <p:cNvSpPr txBox="1"/>
              <p:nvPr/>
            </p:nvSpPr>
            <p:spPr>
              <a:xfrm>
                <a:off x="683116" y="169460"/>
                <a:ext cx="352123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MAX</a:t>
                </a:r>
              </a:p>
            </p:txBody>
          </p:sp>
          <p:sp>
            <p:nvSpPr>
              <p:cNvPr id="1601" name="TextBox 129"/>
              <p:cNvSpPr txBox="1"/>
              <p:nvPr/>
            </p:nvSpPr>
            <p:spPr>
              <a:xfrm>
                <a:off x="0" y="0"/>
                <a:ext cx="1076282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algn="ctr">
                  <a:defRPr b="1" sz="1000" u="sng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GSM RxLev (dBm)</a:t>
                </a:r>
              </a:p>
            </p:txBody>
          </p:sp>
        </p:grpSp>
        <p:sp>
          <p:nvSpPr>
            <p:cNvPr id="1603" name="Rectangle 90"/>
            <p:cNvSpPr txBox="1"/>
            <p:nvPr/>
          </p:nvSpPr>
          <p:spPr>
            <a:xfrm>
              <a:off x="0" y="-1"/>
              <a:ext cx="535694" cy="20241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800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LEGEND</a:t>
              </a:r>
            </a:p>
          </p:txBody>
        </p:sp>
        <p:grpSp>
          <p:nvGrpSpPr>
            <p:cNvPr id="1620" name="Group 91"/>
            <p:cNvGrpSpPr/>
            <p:nvPr/>
          </p:nvGrpSpPr>
          <p:grpSpPr>
            <a:xfrm>
              <a:off x="1375065" y="193441"/>
              <a:ext cx="1069057" cy="1168985"/>
              <a:chOff x="0" y="0"/>
              <a:chExt cx="1069056" cy="1168983"/>
            </a:xfrm>
          </p:grpSpPr>
          <p:grpSp>
            <p:nvGrpSpPr>
              <p:cNvPr id="1609" name="Group 92"/>
              <p:cNvGrpSpPr/>
              <p:nvPr/>
            </p:nvGrpSpPr>
            <p:grpSpPr>
              <a:xfrm>
                <a:off x="61089" y="256103"/>
                <a:ext cx="619346" cy="879876"/>
                <a:chOff x="0" y="0"/>
                <a:chExt cx="619345" cy="879874"/>
              </a:xfrm>
            </p:grpSpPr>
            <p:sp>
              <p:nvSpPr>
                <p:cNvPr id="1604" name="Rectangle 103"/>
                <p:cNvSpPr/>
                <p:nvPr/>
              </p:nvSpPr>
              <p:spPr>
                <a:xfrm>
                  <a:off x="-1" y="-1"/>
                  <a:ext cx="618998" cy="177167"/>
                </a:xfrm>
                <a:prstGeom prst="rect">
                  <a:avLst/>
                </a:prstGeom>
                <a:solidFill>
                  <a:srgbClr val="28E3FC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605" name="Rectangle 104"/>
                <p:cNvSpPr/>
                <p:nvPr/>
              </p:nvSpPr>
              <p:spPr>
                <a:xfrm>
                  <a:off x="-1" y="177165"/>
                  <a:ext cx="618998" cy="177167"/>
                </a:xfrm>
                <a:prstGeom prst="rect">
                  <a:avLst/>
                </a:prstGeom>
                <a:solidFill>
                  <a:srgbClr val="00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606" name="Rectangle 105"/>
                <p:cNvSpPr/>
                <p:nvPr/>
              </p:nvSpPr>
              <p:spPr>
                <a:xfrm>
                  <a:off x="347" y="354330"/>
                  <a:ext cx="618998" cy="177167"/>
                </a:xfrm>
                <a:prstGeom prst="rect">
                  <a:avLst/>
                </a:prstGeom>
                <a:solidFill>
                  <a:srgbClr val="FF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607" name="Rectangle 106"/>
                <p:cNvSpPr/>
                <p:nvPr/>
              </p:nvSpPr>
              <p:spPr>
                <a:xfrm>
                  <a:off x="347" y="531496"/>
                  <a:ext cx="618998" cy="177167"/>
                </a:xfrm>
                <a:prstGeom prst="rect">
                  <a:avLst/>
                </a:prstGeom>
                <a:solidFill>
                  <a:srgbClr val="FFC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608" name="Rectangle 107"/>
                <p:cNvSpPr/>
                <p:nvPr/>
              </p:nvSpPr>
              <p:spPr>
                <a:xfrm>
                  <a:off x="347" y="702708"/>
                  <a:ext cx="618998" cy="177167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</p:grpSp>
          <p:sp>
            <p:nvSpPr>
              <p:cNvPr id="1610" name="Straight Connector 93"/>
              <p:cNvSpPr/>
              <p:nvPr/>
            </p:nvSpPr>
            <p:spPr>
              <a:xfrm>
                <a:off x="594662" y="787599"/>
                <a:ext cx="180002" cy="1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611" name="Straight Connector 94"/>
              <p:cNvSpPr/>
              <p:nvPr/>
            </p:nvSpPr>
            <p:spPr>
              <a:xfrm>
                <a:off x="594662" y="610909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612" name="Straight Connector 95"/>
              <p:cNvSpPr/>
              <p:nvPr/>
            </p:nvSpPr>
            <p:spPr>
              <a:xfrm>
                <a:off x="594662" y="433268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613" name="Straight Connector 96"/>
              <p:cNvSpPr/>
              <p:nvPr/>
            </p:nvSpPr>
            <p:spPr>
              <a:xfrm>
                <a:off x="594662" y="960954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614" name="TextBox 97"/>
              <p:cNvSpPr txBox="1"/>
              <p:nvPr/>
            </p:nvSpPr>
            <p:spPr>
              <a:xfrm>
                <a:off x="0" y="-1"/>
                <a:ext cx="1013463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algn="ctr" defTabSz="914371">
                  <a:defRPr b="1" sz="1000" u="sng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GSM RxQual (dB)</a:t>
                </a:r>
              </a:p>
            </p:txBody>
          </p:sp>
          <p:sp>
            <p:nvSpPr>
              <p:cNvPr id="1615" name="TextBox 98"/>
              <p:cNvSpPr txBox="1"/>
              <p:nvPr/>
            </p:nvSpPr>
            <p:spPr>
              <a:xfrm>
                <a:off x="726607" y="189785"/>
                <a:ext cx="342450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[1,3]</a:t>
                </a:r>
              </a:p>
            </p:txBody>
          </p:sp>
          <p:sp>
            <p:nvSpPr>
              <p:cNvPr id="1616" name="TextBox 99"/>
              <p:cNvSpPr txBox="1"/>
              <p:nvPr/>
            </p:nvSpPr>
            <p:spPr>
              <a:xfrm>
                <a:off x="724380" y="400406"/>
                <a:ext cx="168507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4</a:t>
                </a:r>
              </a:p>
            </p:txBody>
          </p:sp>
          <p:sp>
            <p:nvSpPr>
              <p:cNvPr id="1617" name="TextBox 100"/>
              <p:cNvSpPr txBox="1"/>
              <p:nvPr/>
            </p:nvSpPr>
            <p:spPr>
              <a:xfrm>
                <a:off x="722795" y="566975"/>
                <a:ext cx="168507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5</a:t>
                </a:r>
              </a:p>
            </p:txBody>
          </p:sp>
          <p:sp>
            <p:nvSpPr>
              <p:cNvPr id="1618" name="TextBox 101"/>
              <p:cNvSpPr txBox="1"/>
              <p:nvPr/>
            </p:nvSpPr>
            <p:spPr>
              <a:xfrm>
                <a:off x="720570" y="754737"/>
                <a:ext cx="168507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6</a:t>
                </a:r>
              </a:p>
            </p:txBody>
          </p:sp>
          <p:sp>
            <p:nvSpPr>
              <p:cNvPr id="1619" name="TextBox 102"/>
              <p:cNvSpPr txBox="1"/>
              <p:nvPr/>
            </p:nvSpPr>
            <p:spPr>
              <a:xfrm>
                <a:off x="720249" y="940475"/>
                <a:ext cx="168507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7</a:t>
                </a:r>
              </a:p>
            </p:txBody>
          </p:sp>
        </p:grpSp>
      </p:grpSp>
      <p:sp>
        <p:nvSpPr>
          <p:cNvPr id="1622" name="Slide Number"/>
          <p:cNvSpPr txBox="1"/>
          <p:nvPr>
            <p:ph type="sldNum" sz="quarter" idx="2"/>
          </p:nvPr>
        </p:nvSpPr>
        <p:spPr>
          <a:xfrm>
            <a:off x="10572362" y="9787046"/>
            <a:ext cx="258622" cy="248304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MTS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TextBox 6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630" name="Freeform 16"/>
          <p:cNvSpPr/>
          <p:nvPr/>
        </p:nvSpPr>
        <p:spPr>
          <a:xfrm>
            <a:off x="225287" y="10099227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1" name="Freeform 17"/>
          <p:cNvSpPr/>
          <p:nvPr/>
        </p:nvSpPr>
        <p:spPr>
          <a:xfrm>
            <a:off x="225287" y="10266044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2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3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4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5" name="Rectangle 24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636" name="Rectangle 25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637" name="Rectangle 26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638" name="Rectangle 27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639" name="Rectangle 28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UMTS</a:t>
            </a:r>
          </a:p>
        </p:txBody>
      </p:sp>
      <p:sp>
        <p:nvSpPr>
          <p:cNvPr id="1640" name="Freeform 62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41" name="Rectangle 30"/>
          <p:cNvSpPr txBox="1"/>
          <p:nvPr/>
        </p:nvSpPr>
        <p:spPr>
          <a:xfrm>
            <a:off x="12279307" y="937506"/>
            <a:ext cx="2545051" cy="177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642" name="Freeform 64"/>
          <p:cNvSpPr/>
          <p:nvPr/>
        </p:nvSpPr>
        <p:spPr>
          <a:xfrm>
            <a:off x="12233909" y="1422262"/>
            <a:ext cx="2640332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645" name="Rectangle 87"/>
          <p:cNvGrpSpPr/>
          <p:nvPr/>
        </p:nvGrpSpPr>
        <p:grpSpPr>
          <a:xfrm>
            <a:off x="12242779" y="5445646"/>
            <a:ext cx="2627296" cy="392468"/>
            <a:chOff x="0" y="-1"/>
            <a:chExt cx="2627295" cy="392467"/>
          </a:xfrm>
        </p:grpSpPr>
        <p:sp>
          <p:nvSpPr>
            <p:cNvPr id="1643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4472C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44" name="UMTS"/>
            <p:cNvSpPr txBox="1"/>
            <p:nvPr/>
          </p:nvSpPr>
          <p:spPr>
            <a:xfrm>
              <a:off x="45718" y="-2"/>
              <a:ext cx="2535858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</a:t>
              </a:r>
            </a:p>
          </p:txBody>
        </p:sp>
      </p:grpSp>
      <p:sp>
        <p:nvSpPr>
          <p:cNvPr id="1646" name="Rectangle 88"/>
          <p:cNvSpPr txBox="1"/>
          <p:nvPr/>
        </p:nvSpPr>
        <p:spPr>
          <a:xfrm>
            <a:off x="12277787" y="1578682"/>
            <a:ext cx="535693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669" name="Group 89"/>
          <p:cNvGrpSpPr/>
          <p:nvPr/>
        </p:nvGrpSpPr>
        <p:grpSpPr>
          <a:xfrm>
            <a:off x="12298342" y="1788081"/>
            <a:ext cx="1247309" cy="2247724"/>
            <a:chOff x="0" y="0"/>
            <a:chExt cx="1247307" cy="2247722"/>
          </a:xfrm>
        </p:grpSpPr>
        <p:sp>
          <p:nvSpPr>
            <p:cNvPr id="1647" name="Straight Connector 90"/>
            <p:cNvSpPr/>
            <p:nvPr/>
          </p:nvSpPr>
          <p:spPr>
            <a:xfrm>
              <a:off x="593500" y="1946112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48" name="Straight Connector 91"/>
            <p:cNvSpPr/>
            <p:nvPr/>
          </p:nvSpPr>
          <p:spPr>
            <a:xfrm>
              <a:off x="593500" y="1578447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49" name="Straight Connector 92"/>
            <p:cNvSpPr/>
            <p:nvPr/>
          </p:nvSpPr>
          <p:spPr>
            <a:xfrm>
              <a:off x="593500" y="1397472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0" name="Straight Connector 93"/>
            <p:cNvSpPr/>
            <p:nvPr/>
          </p:nvSpPr>
          <p:spPr>
            <a:xfrm>
              <a:off x="593500" y="1214592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1" name="Straight Connector 94"/>
            <p:cNvSpPr/>
            <p:nvPr/>
          </p:nvSpPr>
          <p:spPr>
            <a:xfrm>
              <a:off x="593500" y="1029806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2" name="Straight Connector 95"/>
            <p:cNvSpPr/>
            <p:nvPr/>
          </p:nvSpPr>
          <p:spPr>
            <a:xfrm>
              <a:off x="593500" y="846926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3" name="Straight Connector 96"/>
            <p:cNvSpPr/>
            <p:nvPr/>
          </p:nvSpPr>
          <p:spPr>
            <a:xfrm>
              <a:off x="593500" y="662141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4" name="Straight Connector 97"/>
            <p:cNvSpPr/>
            <p:nvPr/>
          </p:nvSpPr>
          <p:spPr>
            <a:xfrm>
              <a:off x="593500" y="483071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5" name="Straight Connector 98"/>
            <p:cNvSpPr/>
            <p:nvPr/>
          </p:nvSpPr>
          <p:spPr>
            <a:xfrm>
              <a:off x="593500" y="1761327"/>
              <a:ext cx="180001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656" name="Picture 99" descr="Picture 99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58660" y="292571"/>
              <a:ext cx="624842" cy="1844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657" name="TextBox 100"/>
            <p:cNvSpPr txBox="1"/>
            <p:nvPr/>
          </p:nvSpPr>
          <p:spPr>
            <a:xfrm>
              <a:off x="675494" y="2019213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658" name="TextBox 101"/>
            <p:cNvSpPr txBox="1"/>
            <p:nvPr/>
          </p:nvSpPr>
          <p:spPr>
            <a:xfrm>
              <a:off x="819220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-55</a:t>
              </a:r>
            </a:p>
          </p:txBody>
        </p:sp>
        <p:sp>
          <p:nvSpPr>
            <p:cNvPr id="1659" name="TextBox 102"/>
            <p:cNvSpPr txBox="1"/>
            <p:nvPr/>
          </p:nvSpPr>
          <p:spPr>
            <a:xfrm>
              <a:off x="819220" y="540935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660" name="TextBox 103"/>
            <p:cNvSpPr txBox="1"/>
            <p:nvPr/>
          </p:nvSpPr>
          <p:spPr>
            <a:xfrm>
              <a:off x="819220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-77</a:t>
              </a:r>
            </a:p>
          </p:txBody>
        </p:sp>
        <p:sp>
          <p:nvSpPr>
            <p:cNvPr id="1661" name="TextBox 104"/>
            <p:cNvSpPr txBox="1"/>
            <p:nvPr/>
          </p:nvSpPr>
          <p:spPr>
            <a:xfrm>
              <a:off x="819220" y="908601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-87</a:t>
              </a:r>
            </a:p>
          </p:txBody>
        </p:sp>
        <p:sp>
          <p:nvSpPr>
            <p:cNvPr id="1662" name="TextBox 105"/>
            <p:cNvSpPr txBox="1"/>
            <p:nvPr/>
          </p:nvSpPr>
          <p:spPr>
            <a:xfrm>
              <a:off x="819220" y="1089575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-97</a:t>
              </a:r>
            </a:p>
          </p:txBody>
        </p:sp>
        <p:sp>
          <p:nvSpPr>
            <p:cNvPr id="1663" name="TextBox 106"/>
            <p:cNvSpPr txBox="1"/>
            <p:nvPr/>
          </p:nvSpPr>
          <p:spPr>
            <a:xfrm>
              <a:off x="819220" y="1274360"/>
              <a:ext cx="428088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-100</a:t>
              </a:r>
            </a:p>
          </p:txBody>
        </p:sp>
        <p:sp>
          <p:nvSpPr>
            <p:cNvPr id="1664" name="TextBox 107"/>
            <p:cNvSpPr txBox="1"/>
            <p:nvPr/>
          </p:nvSpPr>
          <p:spPr>
            <a:xfrm>
              <a:off x="817816" y="1453434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-106</a:t>
              </a:r>
            </a:p>
          </p:txBody>
        </p:sp>
        <p:sp>
          <p:nvSpPr>
            <p:cNvPr id="1665" name="TextBox 108"/>
            <p:cNvSpPr txBox="1"/>
            <p:nvPr/>
          </p:nvSpPr>
          <p:spPr>
            <a:xfrm>
              <a:off x="817816" y="1638218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-109</a:t>
              </a:r>
            </a:p>
          </p:txBody>
        </p:sp>
        <p:sp>
          <p:nvSpPr>
            <p:cNvPr id="1666" name="TextBox 109"/>
            <p:cNvSpPr txBox="1"/>
            <p:nvPr/>
          </p:nvSpPr>
          <p:spPr>
            <a:xfrm>
              <a:off x="817816" y="181729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-112</a:t>
              </a:r>
            </a:p>
          </p:txBody>
        </p:sp>
        <p:sp>
          <p:nvSpPr>
            <p:cNvPr id="1667" name="TextBox 110"/>
            <p:cNvSpPr txBox="1"/>
            <p:nvPr/>
          </p:nvSpPr>
          <p:spPr>
            <a:xfrm>
              <a:off x="675493" y="169460"/>
              <a:ext cx="352124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668" name="TextBox 111"/>
            <p:cNvSpPr txBox="1"/>
            <p:nvPr/>
          </p:nvSpPr>
          <p:spPr>
            <a:xfrm>
              <a:off x="-1" y="-1"/>
              <a:ext cx="107627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RSCP (dBm)</a:t>
              </a:r>
            </a:p>
          </p:txBody>
        </p:sp>
      </p:grpSp>
      <p:grpSp>
        <p:nvGrpSpPr>
          <p:cNvPr id="1687" name="Group 57"/>
          <p:cNvGrpSpPr/>
          <p:nvPr/>
        </p:nvGrpSpPr>
        <p:grpSpPr>
          <a:xfrm>
            <a:off x="13542632" y="1750183"/>
            <a:ext cx="1176904" cy="1391542"/>
            <a:chOff x="0" y="0"/>
            <a:chExt cx="1176903" cy="1391541"/>
          </a:xfrm>
        </p:grpSpPr>
        <p:grpSp>
          <p:nvGrpSpPr>
            <p:cNvPr id="1675" name="Group 58"/>
            <p:cNvGrpSpPr/>
            <p:nvPr/>
          </p:nvGrpSpPr>
          <p:grpSpPr>
            <a:xfrm>
              <a:off x="143988" y="410684"/>
              <a:ext cx="619345" cy="879873"/>
              <a:chOff x="-1" y="0"/>
              <a:chExt cx="619343" cy="879872"/>
            </a:xfrm>
          </p:grpSpPr>
          <p:sp>
            <p:nvSpPr>
              <p:cNvPr id="1670" name="Rectangle 70"/>
              <p:cNvSpPr/>
              <p:nvPr/>
            </p:nvSpPr>
            <p:spPr>
              <a:xfrm>
                <a:off x="-2" y="-1"/>
                <a:ext cx="618997" cy="177166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71" name="Rectangle 71"/>
              <p:cNvSpPr/>
              <p:nvPr/>
            </p:nvSpPr>
            <p:spPr>
              <a:xfrm>
                <a:off x="-2" y="177165"/>
                <a:ext cx="618997" cy="177166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72" name="Rectangle 72"/>
              <p:cNvSpPr/>
              <p:nvPr/>
            </p:nvSpPr>
            <p:spPr>
              <a:xfrm>
                <a:off x="346" y="354329"/>
                <a:ext cx="618997" cy="177166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73" name="Rectangle 73"/>
              <p:cNvSpPr/>
              <p:nvPr/>
            </p:nvSpPr>
            <p:spPr>
              <a:xfrm>
                <a:off x="346" y="531495"/>
                <a:ext cx="618997" cy="177166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74" name="Rectangle 74"/>
              <p:cNvSpPr/>
              <p:nvPr/>
            </p:nvSpPr>
            <p:spPr>
              <a:xfrm>
                <a:off x="346" y="702707"/>
                <a:ext cx="618997" cy="177166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676" name="Straight Connector 59"/>
            <p:cNvSpPr/>
            <p:nvPr/>
          </p:nvSpPr>
          <p:spPr>
            <a:xfrm>
              <a:off x="677559" y="94217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77" name="Straight Connector 60"/>
            <p:cNvSpPr/>
            <p:nvPr/>
          </p:nvSpPr>
          <p:spPr>
            <a:xfrm>
              <a:off x="677559" y="76549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78" name="Straight Connector 61"/>
            <p:cNvSpPr/>
            <p:nvPr/>
          </p:nvSpPr>
          <p:spPr>
            <a:xfrm>
              <a:off x="677559" y="587849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79" name="Straight Connector 62"/>
            <p:cNvSpPr/>
            <p:nvPr/>
          </p:nvSpPr>
          <p:spPr>
            <a:xfrm>
              <a:off x="677559" y="1115534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0" name="TextBox 63"/>
            <p:cNvSpPr txBox="1"/>
            <p:nvPr/>
          </p:nvSpPr>
          <p:spPr>
            <a:xfrm>
              <a:off x="0" y="-1"/>
              <a:ext cx="101346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Ec/No (dB)</a:t>
              </a:r>
            </a:p>
          </p:txBody>
        </p:sp>
        <p:sp>
          <p:nvSpPr>
            <p:cNvPr id="1681" name="TextBox 64"/>
            <p:cNvSpPr txBox="1"/>
            <p:nvPr/>
          </p:nvSpPr>
          <p:spPr>
            <a:xfrm>
              <a:off x="782342" y="286348"/>
              <a:ext cx="327381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682" name="TextBox 65"/>
            <p:cNvSpPr txBox="1"/>
            <p:nvPr/>
          </p:nvSpPr>
          <p:spPr>
            <a:xfrm>
              <a:off x="845705" y="458249"/>
              <a:ext cx="27064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&gt;-4</a:t>
              </a:r>
            </a:p>
          </p:txBody>
        </p:sp>
        <p:sp>
          <p:nvSpPr>
            <p:cNvPr id="1683" name="TextBox 66"/>
            <p:cNvSpPr txBox="1"/>
            <p:nvPr/>
          </p:nvSpPr>
          <p:spPr>
            <a:xfrm>
              <a:off x="844120" y="624818"/>
              <a:ext cx="27064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&gt;-8</a:t>
              </a:r>
            </a:p>
          </p:txBody>
        </p:sp>
        <p:sp>
          <p:nvSpPr>
            <p:cNvPr id="1684" name="TextBox 67"/>
            <p:cNvSpPr txBox="1"/>
            <p:nvPr/>
          </p:nvSpPr>
          <p:spPr>
            <a:xfrm>
              <a:off x="841895" y="812580"/>
              <a:ext cx="33500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&gt;-10</a:t>
              </a:r>
            </a:p>
          </p:txBody>
        </p:sp>
        <p:sp>
          <p:nvSpPr>
            <p:cNvPr id="1685" name="TextBox 68"/>
            <p:cNvSpPr txBox="1"/>
            <p:nvPr/>
          </p:nvSpPr>
          <p:spPr>
            <a:xfrm>
              <a:off x="841574" y="998316"/>
              <a:ext cx="33500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&gt;-13</a:t>
              </a:r>
            </a:p>
          </p:txBody>
        </p:sp>
        <p:sp>
          <p:nvSpPr>
            <p:cNvPr id="1686" name="TextBox 69"/>
            <p:cNvSpPr txBox="1"/>
            <p:nvPr/>
          </p:nvSpPr>
          <p:spPr>
            <a:xfrm>
              <a:off x="799350" y="1163032"/>
              <a:ext cx="30859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</p:grpSp>
      <p:sp>
        <p:nvSpPr>
          <p:cNvPr id="1688" name="Slide Number"/>
          <p:cNvSpPr txBox="1"/>
          <p:nvPr>
            <p:ph type="sldNum" sz="quarter" idx="2"/>
          </p:nvPr>
        </p:nvSpPr>
        <p:spPr>
          <a:xfrm>
            <a:off x="10572362" y="9787046"/>
            <a:ext cx="258622" cy="248304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TE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5" name="TextBox 6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696" name="Freeform 16"/>
          <p:cNvSpPr/>
          <p:nvPr/>
        </p:nvSpPr>
        <p:spPr>
          <a:xfrm>
            <a:off x="225287" y="10099227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97" name="Freeform 17"/>
          <p:cNvSpPr/>
          <p:nvPr/>
        </p:nvSpPr>
        <p:spPr>
          <a:xfrm>
            <a:off x="225287" y="10266044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98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99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00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01" name="Rectangle 58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702" name="Rectangle 59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703" name="Rectangle 60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704" name="Rectangle 61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705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1706" name="Freeform 62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07" name="Rectangle 20"/>
          <p:cNvSpPr txBox="1"/>
          <p:nvPr/>
        </p:nvSpPr>
        <p:spPr>
          <a:xfrm>
            <a:off x="12279307" y="937506"/>
            <a:ext cx="2545051" cy="177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708" name="Freeform 64"/>
          <p:cNvSpPr/>
          <p:nvPr/>
        </p:nvSpPr>
        <p:spPr>
          <a:xfrm>
            <a:off x="12233909" y="1422262"/>
            <a:ext cx="2640332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09" name="Rectangle 22"/>
          <p:cNvSpPr txBox="1"/>
          <p:nvPr/>
        </p:nvSpPr>
        <p:spPr>
          <a:xfrm>
            <a:off x="12277790" y="157868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732" name="Group 23"/>
          <p:cNvGrpSpPr/>
          <p:nvPr/>
        </p:nvGrpSpPr>
        <p:grpSpPr>
          <a:xfrm>
            <a:off x="12240477" y="1789728"/>
            <a:ext cx="1308272" cy="2247724"/>
            <a:chOff x="0" y="0"/>
            <a:chExt cx="1308270" cy="2247722"/>
          </a:xfrm>
        </p:grpSpPr>
        <p:sp>
          <p:nvSpPr>
            <p:cNvPr id="1710" name="Straight Connector 24"/>
            <p:cNvSpPr/>
            <p:nvPr/>
          </p:nvSpPr>
          <p:spPr>
            <a:xfrm>
              <a:off x="654461" y="194611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1" name="Straight Connector 25"/>
            <p:cNvSpPr/>
            <p:nvPr/>
          </p:nvSpPr>
          <p:spPr>
            <a:xfrm>
              <a:off x="654461" y="1578448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2" name="Straight Connector 26"/>
            <p:cNvSpPr/>
            <p:nvPr/>
          </p:nvSpPr>
          <p:spPr>
            <a:xfrm>
              <a:off x="654461" y="139747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3" name="Straight Connector 27"/>
            <p:cNvSpPr/>
            <p:nvPr/>
          </p:nvSpPr>
          <p:spPr>
            <a:xfrm>
              <a:off x="654461" y="121459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4" name="Straight Connector 28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5" name="Straight Connector 29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6" name="Straight Connector 30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7" name="Straight Connector 31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8" name="Straight Connector 32"/>
            <p:cNvSpPr/>
            <p:nvPr/>
          </p:nvSpPr>
          <p:spPr>
            <a:xfrm>
              <a:off x="654461" y="1761328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719" name="Picture 33" descr="Picture 33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720" name="TextBox 34"/>
            <p:cNvSpPr txBox="1"/>
            <p:nvPr/>
          </p:nvSpPr>
          <p:spPr>
            <a:xfrm>
              <a:off x="736457" y="2019213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721" name="TextBox 35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722" name="TextBox 36"/>
            <p:cNvSpPr txBox="1"/>
            <p:nvPr/>
          </p:nvSpPr>
          <p:spPr>
            <a:xfrm>
              <a:off x="880182" y="540934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723" name="TextBox 37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724" name="TextBox 38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725" name="TextBox 39"/>
            <p:cNvSpPr txBox="1"/>
            <p:nvPr/>
          </p:nvSpPr>
          <p:spPr>
            <a:xfrm>
              <a:off x="880183" y="1089577"/>
              <a:ext cx="428088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726" name="TextBox 40"/>
            <p:cNvSpPr txBox="1"/>
            <p:nvPr/>
          </p:nvSpPr>
          <p:spPr>
            <a:xfrm>
              <a:off x="880183" y="1274361"/>
              <a:ext cx="428088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727" name="TextBox 41"/>
            <p:cNvSpPr txBox="1"/>
            <p:nvPr/>
          </p:nvSpPr>
          <p:spPr>
            <a:xfrm>
              <a:off x="878780" y="1453435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728" name="TextBox 42"/>
            <p:cNvSpPr txBox="1"/>
            <p:nvPr/>
          </p:nvSpPr>
          <p:spPr>
            <a:xfrm>
              <a:off x="878780" y="1638219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729" name="TextBox 43"/>
            <p:cNvSpPr txBox="1"/>
            <p:nvPr/>
          </p:nvSpPr>
          <p:spPr>
            <a:xfrm>
              <a:off x="878780" y="1817293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730" name="TextBox 44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31" name="TextBox 45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grpSp>
        <p:nvGrpSpPr>
          <p:cNvPr id="1735" name="Rectangle 77"/>
          <p:cNvGrpSpPr/>
          <p:nvPr/>
        </p:nvGrpSpPr>
        <p:grpSpPr>
          <a:xfrm>
            <a:off x="12242779" y="5445646"/>
            <a:ext cx="2627296" cy="392468"/>
            <a:chOff x="0" y="-1"/>
            <a:chExt cx="2627295" cy="392467"/>
          </a:xfrm>
        </p:grpSpPr>
        <p:sp>
          <p:nvSpPr>
            <p:cNvPr id="1733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4472C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734" name="LTE"/>
            <p:cNvSpPr txBox="1"/>
            <p:nvPr/>
          </p:nvSpPr>
          <p:spPr>
            <a:xfrm>
              <a:off x="45718" y="-2"/>
              <a:ext cx="2535858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</a:t>
              </a:r>
            </a:p>
          </p:txBody>
        </p:sp>
      </p:grpSp>
      <p:grpSp>
        <p:nvGrpSpPr>
          <p:cNvPr id="1752" name="Group 63"/>
          <p:cNvGrpSpPr/>
          <p:nvPr/>
        </p:nvGrpSpPr>
        <p:grpSpPr>
          <a:xfrm>
            <a:off x="13452923" y="1801454"/>
            <a:ext cx="1269044" cy="1164239"/>
            <a:chOff x="0" y="0"/>
            <a:chExt cx="1269043" cy="1164237"/>
          </a:xfrm>
        </p:grpSpPr>
        <p:grpSp>
          <p:nvGrpSpPr>
            <p:cNvPr id="1741" name="Group 64"/>
            <p:cNvGrpSpPr/>
            <p:nvPr/>
          </p:nvGrpSpPr>
          <p:grpSpPr>
            <a:xfrm>
              <a:off x="255735" y="284360"/>
              <a:ext cx="619346" cy="879878"/>
              <a:chOff x="0" y="-1"/>
              <a:chExt cx="619344" cy="879876"/>
            </a:xfrm>
          </p:grpSpPr>
          <p:sp>
            <p:nvSpPr>
              <p:cNvPr id="1736" name="Rectangle 84"/>
              <p:cNvSpPr/>
              <p:nvPr/>
            </p:nvSpPr>
            <p:spPr>
              <a:xfrm>
                <a:off x="0" y="-2"/>
                <a:ext cx="618996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37" name="Rectangle 85"/>
              <p:cNvSpPr/>
              <p:nvPr/>
            </p:nvSpPr>
            <p:spPr>
              <a:xfrm>
                <a:off x="1" y="177165"/>
                <a:ext cx="618996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38" name="Rectangle 86"/>
              <p:cNvSpPr/>
              <p:nvPr/>
            </p:nvSpPr>
            <p:spPr>
              <a:xfrm>
                <a:off x="349" y="354331"/>
                <a:ext cx="618996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39" name="Rectangle 87"/>
              <p:cNvSpPr/>
              <p:nvPr/>
            </p:nvSpPr>
            <p:spPr>
              <a:xfrm>
                <a:off x="349" y="531497"/>
                <a:ext cx="618996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40" name="Rectangle 88"/>
              <p:cNvSpPr/>
              <p:nvPr/>
            </p:nvSpPr>
            <p:spPr>
              <a:xfrm>
                <a:off x="349" y="702709"/>
                <a:ext cx="618996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742" name="Straight Connector 66"/>
            <p:cNvSpPr/>
            <p:nvPr/>
          </p:nvSpPr>
          <p:spPr>
            <a:xfrm>
              <a:off x="811836" y="816671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3" name="Straight Connector 68"/>
            <p:cNvSpPr/>
            <p:nvPr/>
          </p:nvSpPr>
          <p:spPr>
            <a:xfrm>
              <a:off x="812085" y="63869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4" name="Straight Connector 69"/>
            <p:cNvSpPr/>
            <p:nvPr/>
          </p:nvSpPr>
          <p:spPr>
            <a:xfrm>
              <a:off x="812085" y="46152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5" name="Straight Connector 70"/>
            <p:cNvSpPr/>
            <p:nvPr/>
          </p:nvSpPr>
          <p:spPr>
            <a:xfrm>
              <a:off x="830246" y="98707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6" name="TextBox 78"/>
            <p:cNvSpPr txBox="1"/>
            <p:nvPr/>
          </p:nvSpPr>
          <p:spPr>
            <a:xfrm>
              <a:off x="-1" y="-1"/>
              <a:ext cx="1013465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1747" name="TextBox 79"/>
            <p:cNvSpPr txBox="1"/>
            <p:nvPr/>
          </p:nvSpPr>
          <p:spPr>
            <a:xfrm>
              <a:off x="880763" y="136854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48" name="TextBox 80"/>
            <p:cNvSpPr txBox="1"/>
            <p:nvPr/>
          </p:nvSpPr>
          <p:spPr>
            <a:xfrm>
              <a:off x="935954" y="339737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749" name="TextBox 81"/>
            <p:cNvSpPr txBox="1"/>
            <p:nvPr/>
          </p:nvSpPr>
          <p:spPr>
            <a:xfrm>
              <a:off x="944205" y="523744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750" name="TextBox 82"/>
            <p:cNvSpPr txBox="1"/>
            <p:nvPr/>
          </p:nvSpPr>
          <p:spPr>
            <a:xfrm>
              <a:off x="980236" y="695082"/>
              <a:ext cx="260471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751" name="TextBox 83"/>
            <p:cNvSpPr txBox="1"/>
            <p:nvPr/>
          </p:nvSpPr>
          <p:spPr>
            <a:xfrm>
              <a:off x="977066" y="876824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1753" name="Slide Number"/>
          <p:cNvSpPr txBox="1"/>
          <p:nvPr>
            <p:ph type="sldNum" sz="quarter" idx="2"/>
          </p:nvPr>
        </p:nvSpPr>
        <p:spPr>
          <a:xfrm>
            <a:off x="10572362" y="9787046"/>
            <a:ext cx="258622" cy="248304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LTE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TextBox 6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761" name="Freeform 16"/>
          <p:cNvSpPr/>
          <p:nvPr/>
        </p:nvSpPr>
        <p:spPr>
          <a:xfrm>
            <a:off x="225287" y="10099227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62" name="Freeform 17"/>
          <p:cNvSpPr/>
          <p:nvPr/>
        </p:nvSpPr>
        <p:spPr>
          <a:xfrm>
            <a:off x="225287" y="10266044"/>
            <a:ext cx="12006474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63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64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65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66" name="Rectangle 58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767" name="Rectangle 59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768" name="Rectangle 60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769" name="Rectangle 61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770" name="Rectangle 62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5GNR</a:t>
            </a:r>
          </a:p>
        </p:txBody>
      </p:sp>
      <p:sp>
        <p:nvSpPr>
          <p:cNvPr id="1771" name="Freeform 62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72" name="Rectangle 20"/>
          <p:cNvSpPr txBox="1"/>
          <p:nvPr/>
        </p:nvSpPr>
        <p:spPr>
          <a:xfrm>
            <a:off x="12279307" y="937506"/>
            <a:ext cx="2545051" cy="177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773" name="Freeform 64"/>
          <p:cNvSpPr/>
          <p:nvPr/>
        </p:nvSpPr>
        <p:spPr>
          <a:xfrm>
            <a:off x="12233909" y="1422262"/>
            <a:ext cx="2640332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74" name="Rectangle 22"/>
          <p:cNvSpPr txBox="1"/>
          <p:nvPr/>
        </p:nvSpPr>
        <p:spPr>
          <a:xfrm>
            <a:off x="12277790" y="157868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797" name="Group 23"/>
          <p:cNvGrpSpPr/>
          <p:nvPr/>
        </p:nvGrpSpPr>
        <p:grpSpPr>
          <a:xfrm>
            <a:off x="12240477" y="1789728"/>
            <a:ext cx="1308272" cy="2247724"/>
            <a:chOff x="0" y="0"/>
            <a:chExt cx="1308270" cy="2247722"/>
          </a:xfrm>
        </p:grpSpPr>
        <p:sp>
          <p:nvSpPr>
            <p:cNvPr id="1775" name="Straight Connector 24"/>
            <p:cNvSpPr/>
            <p:nvPr/>
          </p:nvSpPr>
          <p:spPr>
            <a:xfrm>
              <a:off x="654461" y="194611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76" name="Straight Connector 25"/>
            <p:cNvSpPr/>
            <p:nvPr/>
          </p:nvSpPr>
          <p:spPr>
            <a:xfrm>
              <a:off x="654461" y="1578448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77" name="Straight Connector 26"/>
            <p:cNvSpPr/>
            <p:nvPr/>
          </p:nvSpPr>
          <p:spPr>
            <a:xfrm>
              <a:off x="654461" y="139747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78" name="Straight Connector 27"/>
            <p:cNvSpPr/>
            <p:nvPr/>
          </p:nvSpPr>
          <p:spPr>
            <a:xfrm>
              <a:off x="654461" y="121459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79" name="Straight Connector 28"/>
            <p:cNvSpPr/>
            <p:nvPr/>
          </p:nvSpPr>
          <p:spPr>
            <a:xfrm>
              <a:off x="654461" y="1029806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0" name="Straight Connector 29"/>
            <p:cNvSpPr/>
            <p:nvPr/>
          </p:nvSpPr>
          <p:spPr>
            <a:xfrm>
              <a:off x="654461" y="846926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1" name="Straight Connector 30"/>
            <p:cNvSpPr/>
            <p:nvPr/>
          </p:nvSpPr>
          <p:spPr>
            <a:xfrm>
              <a:off x="654461" y="662141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2" name="Straight Connector 31"/>
            <p:cNvSpPr/>
            <p:nvPr/>
          </p:nvSpPr>
          <p:spPr>
            <a:xfrm>
              <a:off x="654461" y="483071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3" name="Straight Connector 32"/>
            <p:cNvSpPr/>
            <p:nvPr/>
          </p:nvSpPr>
          <p:spPr>
            <a:xfrm>
              <a:off x="654461" y="1761328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784" name="Picture 33" descr="Picture 33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9621" y="292571"/>
              <a:ext cx="624843" cy="18440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785" name="TextBox 34"/>
            <p:cNvSpPr txBox="1"/>
            <p:nvPr/>
          </p:nvSpPr>
          <p:spPr>
            <a:xfrm>
              <a:off x="736457" y="2019213"/>
              <a:ext cx="32669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786" name="TextBox 35"/>
            <p:cNvSpPr txBox="1"/>
            <p:nvPr/>
          </p:nvSpPr>
          <p:spPr>
            <a:xfrm>
              <a:off x="880182" y="356153"/>
              <a:ext cx="363720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787" name="TextBox 36"/>
            <p:cNvSpPr txBox="1"/>
            <p:nvPr/>
          </p:nvSpPr>
          <p:spPr>
            <a:xfrm>
              <a:off x="880182" y="540934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788" name="TextBox 37"/>
            <p:cNvSpPr txBox="1"/>
            <p:nvPr/>
          </p:nvSpPr>
          <p:spPr>
            <a:xfrm>
              <a:off x="880182" y="723817"/>
              <a:ext cx="363720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789" name="TextBox 38"/>
            <p:cNvSpPr txBox="1"/>
            <p:nvPr/>
          </p:nvSpPr>
          <p:spPr>
            <a:xfrm>
              <a:off x="880182" y="908601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790" name="TextBox 39"/>
            <p:cNvSpPr txBox="1"/>
            <p:nvPr/>
          </p:nvSpPr>
          <p:spPr>
            <a:xfrm>
              <a:off x="880183" y="1089577"/>
              <a:ext cx="428088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791" name="TextBox 40"/>
            <p:cNvSpPr txBox="1"/>
            <p:nvPr/>
          </p:nvSpPr>
          <p:spPr>
            <a:xfrm>
              <a:off x="880183" y="1274361"/>
              <a:ext cx="428088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792" name="TextBox 41"/>
            <p:cNvSpPr txBox="1"/>
            <p:nvPr/>
          </p:nvSpPr>
          <p:spPr>
            <a:xfrm>
              <a:off x="878780" y="1453435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793" name="TextBox 42"/>
            <p:cNvSpPr txBox="1"/>
            <p:nvPr/>
          </p:nvSpPr>
          <p:spPr>
            <a:xfrm>
              <a:off x="878780" y="1638219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794" name="TextBox 43"/>
            <p:cNvSpPr txBox="1"/>
            <p:nvPr/>
          </p:nvSpPr>
          <p:spPr>
            <a:xfrm>
              <a:off x="878780" y="1817293"/>
              <a:ext cx="428088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795" name="TextBox 44"/>
            <p:cNvSpPr txBox="1"/>
            <p:nvPr/>
          </p:nvSpPr>
          <p:spPr>
            <a:xfrm>
              <a:off x="736457" y="169460"/>
              <a:ext cx="352123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96" name="TextBox 45"/>
            <p:cNvSpPr txBox="1"/>
            <p:nvPr/>
          </p:nvSpPr>
          <p:spPr>
            <a:xfrm>
              <a:off x="-1" y="-1"/>
              <a:ext cx="1076282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SS-RSRP (dBm)</a:t>
              </a:r>
            </a:p>
          </p:txBody>
        </p:sp>
      </p:grpSp>
      <p:grpSp>
        <p:nvGrpSpPr>
          <p:cNvPr id="1800" name="Rectangle 77"/>
          <p:cNvGrpSpPr/>
          <p:nvPr/>
        </p:nvGrpSpPr>
        <p:grpSpPr>
          <a:xfrm>
            <a:off x="12242779" y="5445646"/>
            <a:ext cx="2627296" cy="392468"/>
            <a:chOff x="0" y="-1"/>
            <a:chExt cx="2627295" cy="392467"/>
          </a:xfrm>
        </p:grpSpPr>
        <p:sp>
          <p:nvSpPr>
            <p:cNvPr id="1798" name="Rectangle"/>
            <p:cNvSpPr/>
            <p:nvPr/>
          </p:nvSpPr>
          <p:spPr>
            <a:xfrm>
              <a:off x="-1" y="34216"/>
              <a:ext cx="2627297" cy="324040"/>
            </a:xfrm>
            <a:prstGeom prst="rect">
              <a:avLst/>
            </a:prstGeom>
            <a:solidFill>
              <a:srgbClr val="4472C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799" name="5GNR"/>
            <p:cNvSpPr txBox="1"/>
            <p:nvPr/>
          </p:nvSpPr>
          <p:spPr>
            <a:xfrm>
              <a:off x="45718" y="-2"/>
              <a:ext cx="2535858" cy="3924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5GNR</a:t>
              </a:r>
            </a:p>
          </p:txBody>
        </p:sp>
      </p:grpSp>
      <p:grpSp>
        <p:nvGrpSpPr>
          <p:cNvPr id="1817" name="Group 63"/>
          <p:cNvGrpSpPr/>
          <p:nvPr/>
        </p:nvGrpSpPr>
        <p:grpSpPr>
          <a:xfrm>
            <a:off x="13533352" y="1801454"/>
            <a:ext cx="1188615" cy="1164239"/>
            <a:chOff x="0" y="0"/>
            <a:chExt cx="1188614" cy="1164237"/>
          </a:xfrm>
        </p:grpSpPr>
        <p:grpSp>
          <p:nvGrpSpPr>
            <p:cNvPr id="1806" name="Group 64"/>
            <p:cNvGrpSpPr/>
            <p:nvPr/>
          </p:nvGrpSpPr>
          <p:grpSpPr>
            <a:xfrm>
              <a:off x="175306" y="284360"/>
              <a:ext cx="619346" cy="879878"/>
              <a:chOff x="0" y="-1"/>
              <a:chExt cx="619344" cy="879876"/>
            </a:xfrm>
          </p:grpSpPr>
          <p:sp>
            <p:nvSpPr>
              <p:cNvPr id="1801" name="Rectangle 84"/>
              <p:cNvSpPr/>
              <p:nvPr/>
            </p:nvSpPr>
            <p:spPr>
              <a:xfrm>
                <a:off x="0" y="-2"/>
                <a:ext cx="618996" cy="177167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802" name="Rectangle 85"/>
              <p:cNvSpPr/>
              <p:nvPr/>
            </p:nvSpPr>
            <p:spPr>
              <a:xfrm>
                <a:off x="1" y="177165"/>
                <a:ext cx="618996" cy="177167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803" name="Rectangle 86"/>
              <p:cNvSpPr/>
              <p:nvPr/>
            </p:nvSpPr>
            <p:spPr>
              <a:xfrm>
                <a:off x="349" y="354331"/>
                <a:ext cx="618996" cy="177167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804" name="Rectangle 87"/>
              <p:cNvSpPr/>
              <p:nvPr/>
            </p:nvSpPr>
            <p:spPr>
              <a:xfrm>
                <a:off x="349" y="531497"/>
                <a:ext cx="618996" cy="177167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805" name="Rectangle 88"/>
              <p:cNvSpPr/>
              <p:nvPr/>
            </p:nvSpPr>
            <p:spPr>
              <a:xfrm>
                <a:off x="349" y="702709"/>
                <a:ext cx="618996" cy="17716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807" name="Straight Connector 66"/>
            <p:cNvSpPr/>
            <p:nvPr/>
          </p:nvSpPr>
          <p:spPr>
            <a:xfrm>
              <a:off x="731407" y="816671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08" name="Straight Connector 68"/>
            <p:cNvSpPr/>
            <p:nvPr/>
          </p:nvSpPr>
          <p:spPr>
            <a:xfrm>
              <a:off x="731656" y="638693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09" name="Straight Connector 69"/>
            <p:cNvSpPr/>
            <p:nvPr/>
          </p:nvSpPr>
          <p:spPr>
            <a:xfrm>
              <a:off x="731656" y="461527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10" name="Straight Connector 70"/>
            <p:cNvSpPr/>
            <p:nvPr/>
          </p:nvSpPr>
          <p:spPr>
            <a:xfrm>
              <a:off x="749818" y="987070"/>
              <a:ext cx="180002" cy="2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11" name="TextBox 78"/>
            <p:cNvSpPr txBox="1"/>
            <p:nvPr/>
          </p:nvSpPr>
          <p:spPr>
            <a:xfrm>
              <a:off x="0" y="-1"/>
              <a:ext cx="1013464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SS-SNIR (dB)</a:t>
              </a:r>
            </a:p>
          </p:txBody>
        </p:sp>
        <p:sp>
          <p:nvSpPr>
            <p:cNvPr id="1812" name="TextBox 79"/>
            <p:cNvSpPr txBox="1"/>
            <p:nvPr/>
          </p:nvSpPr>
          <p:spPr>
            <a:xfrm>
              <a:off x="800334" y="136854"/>
              <a:ext cx="333529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813" name="TextBox 80"/>
            <p:cNvSpPr txBox="1"/>
            <p:nvPr/>
          </p:nvSpPr>
          <p:spPr>
            <a:xfrm>
              <a:off x="855525" y="339737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814" name="TextBox 81"/>
            <p:cNvSpPr txBox="1"/>
            <p:nvPr/>
          </p:nvSpPr>
          <p:spPr>
            <a:xfrm>
              <a:off x="863776" y="523744"/>
              <a:ext cx="324839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815" name="TextBox 82"/>
            <p:cNvSpPr txBox="1"/>
            <p:nvPr/>
          </p:nvSpPr>
          <p:spPr>
            <a:xfrm>
              <a:off x="899807" y="695082"/>
              <a:ext cx="260471" cy="2285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816" name="TextBox 83"/>
            <p:cNvSpPr txBox="1"/>
            <p:nvPr/>
          </p:nvSpPr>
          <p:spPr>
            <a:xfrm>
              <a:off x="896637" y="876824"/>
              <a:ext cx="260471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1818" name="Slide Number"/>
          <p:cNvSpPr txBox="1"/>
          <p:nvPr>
            <p:ph type="sldNum" sz="quarter" idx="2"/>
          </p:nvPr>
        </p:nvSpPr>
        <p:spPr>
          <a:xfrm>
            <a:off x="10572362" y="9787046"/>
            <a:ext cx="258622" cy="248304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Relationship Id="rId23" Type="http://schemas.openxmlformats.org/officeDocument/2006/relationships/slideLayout" Target="../slideLayouts/slideLayout2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6"/>
          <p:cNvSpPr txBox="1"/>
          <p:nvPr/>
        </p:nvSpPr>
        <p:spPr>
          <a:xfrm>
            <a:off x="13525788" y="9201184"/>
            <a:ext cx="130066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3" name="Freeform 10"/>
          <p:cNvSpPr/>
          <p:nvPr/>
        </p:nvSpPr>
        <p:spPr>
          <a:xfrm flipH="1">
            <a:off x="12234861" y="209550"/>
            <a:ext cx="1" cy="10224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" name="Freeform 11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" name="TextBox 15"/>
          <p:cNvSpPr txBox="1"/>
          <p:nvPr/>
        </p:nvSpPr>
        <p:spPr>
          <a:xfrm>
            <a:off x="12339755" y="6726997"/>
            <a:ext cx="25227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6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7" name="Freeform 45"/>
          <p:cNvSpPr/>
          <p:nvPr/>
        </p:nvSpPr>
        <p:spPr>
          <a:xfrm>
            <a:off x="12230100" y="884833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" name="Freeform 67"/>
          <p:cNvSpPr/>
          <p:nvPr/>
        </p:nvSpPr>
        <p:spPr>
          <a:xfrm>
            <a:off x="13545545" y="6970361"/>
            <a:ext cx="2" cy="89040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" name="TextBox 75"/>
          <p:cNvSpPr txBox="1"/>
          <p:nvPr/>
        </p:nvSpPr>
        <p:spPr>
          <a:xfrm>
            <a:off x="12234160" y="9470638"/>
            <a:ext cx="259229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0" name="Freeform 76"/>
          <p:cNvSpPr/>
          <p:nvPr/>
        </p:nvSpPr>
        <p:spPr>
          <a:xfrm>
            <a:off x="12233492" y="9612058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" name="TextBox 77"/>
          <p:cNvSpPr txBox="1"/>
          <p:nvPr/>
        </p:nvSpPr>
        <p:spPr>
          <a:xfrm>
            <a:off x="12507654" y="9632305"/>
            <a:ext cx="5102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2" name="Freeform 79"/>
          <p:cNvSpPr/>
          <p:nvPr/>
        </p:nvSpPr>
        <p:spPr>
          <a:xfrm>
            <a:off x="12513692" y="9612117"/>
            <a:ext cx="2" cy="821436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4" name="Freeform 82"/>
          <p:cNvSpPr/>
          <p:nvPr/>
        </p:nvSpPr>
        <p:spPr>
          <a:xfrm>
            <a:off x="12236067" y="9736835"/>
            <a:ext cx="2636005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" name="Freeform 83"/>
          <p:cNvSpPr/>
          <p:nvPr/>
        </p:nvSpPr>
        <p:spPr>
          <a:xfrm>
            <a:off x="13052420" y="9614214"/>
            <a:ext cx="2" cy="824699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" name="TextBox 84"/>
          <p:cNvSpPr txBox="1"/>
          <p:nvPr/>
        </p:nvSpPr>
        <p:spPr>
          <a:xfrm>
            <a:off x="13058443" y="9631360"/>
            <a:ext cx="17816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7" name="Freeform 86"/>
          <p:cNvSpPr/>
          <p:nvPr/>
        </p:nvSpPr>
        <p:spPr>
          <a:xfrm>
            <a:off x="12237973" y="9877804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" name="Freeform 87"/>
          <p:cNvSpPr/>
          <p:nvPr/>
        </p:nvSpPr>
        <p:spPr>
          <a:xfrm>
            <a:off x="12236067" y="9878180"/>
            <a:ext cx="2636005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" name="Freeform 88"/>
          <p:cNvSpPr/>
          <p:nvPr/>
        </p:nvSpPr>
        <p:spPr>
          <a:xfrm>
            <a:off x="12237973" y="10019151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" name="Freeform 90"/>
          <p:cNvSpPr/>
          <p:nvPr/>
        </p:nvSpPr>
        <p:spPr>
          <a:xfrm>
            <a:off x="12237973" y="10159356"/>
            <a:ext cx="2636006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" name="Straight Connector 2"/>
          <p:cNvSpPr/>
          <p:nvPr/>
        </p:nvSpPr>
        <p:spPr>
          <a:xfrm>
            <a:off x="12237973" y="6966880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" name="Straight Connector 71"/>
          <p:cNvSpPr/>
          <p:nvPr/>
        </p:nvSpPr>
        <p:spPr>
          <a:xfrm>
            <a:off x="12237973" y="6678848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" name="Freeform 90"/>
          <p:cNvSpPr/>
          <p:nvPr/>
        </p:nvSpPr>
        <p:spPr>
          <a:xfrm>
            <a:off x="12237973" y="10298666"/>
            <a:ext cx="2636006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" name="TextBox 98"/>
          <p:cNvSpPr txBox="1"/>
          <p:nvPr/>
        </p:nvSpPr>
        <p:spPr>
          <a:xfrm>
            <a:off x="13070458" y="9889172"/>
            <a:ext cx="17630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25" name="TextBox 74"/>
          <p:cNvSpPr txBox="1"/>
          <p:nvPr/>
        </p:nvSpPr>
        <p:spPr>
          <a:xfrm>
            <a:off x="12243182" y="9193193"/>
            <a:ext cx="12663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26" name="Freeform 47"/>
          <p:cNvSpPr/>
          <p:nvPr/>
        </p:nvSpPr>
        <p:spPr>
          <a:xfrm>
            <a:off x="12226542" y="9184596"/>
            <a:ext cx="2646002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" name="TextBox 109"/>
          <p:cNvSpPr txBox="1"/>
          <p:nvPr/>
        </p:nvSpPr>
        <p:spPr>
          <a:xfrm>
            <a:off x="12253914" y="8867116"/>
            <a:ext cx="9599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28" name="TextBox 110"/>
          <p:cNvSpPr txBox="1"/>
          <p:nvPr/>
        </p:nvSpPr>
        <p:spPr>
          <a:xfrm>
            <a:off x="12223991" y="8967075"/>
            <a:ext cx="25908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29" name="Straight Connector 115"/>
          <p:cNvSpPr/>
          <p:nvPr/>
        </p:nvSpPr>
        <p:spPr>
          <a:xfrm>
            <a:off x="12237973" y="7857455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" name="Rectangle 118"/>
          <p:cNvSpPr txBox="1"/>
          <p:nvPr/>
        </p:nvSpPr>
        <p:spPr>
          <a:xfrm>
            <a:off x="12292583" y="374374"/>
            <a:ext cx="2524151" cy="24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31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" name="Freeform 47"/>
          <p:cNvSpPr/>
          <p:nvPr/>
        </p:nvSpPr>
        <p:spPr>
          <a:xfrm flipV="1">
            <a:off x="13531175" y="9183037"/>
            <a:ext cx="2" cy="124738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35" name="Freeform 45"/>
          <p:cNvSpPr/>
          <p:nvPr/>
        </p:nvSpPr>
        <p:spPr>
          <a:xfrm>
            <a:off x="12230100" y="8849604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" name="Straight Connector 52"/>
          <p:cNvSpPr/>
          <p:nvPr/>
        </p:nvSpPr>
        <p:spPr>
          <a:xfrm>
            <a:off x="12237973" y="8270047"/>
            <a:ext cx="2636005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" name="Freeform 47"/>
          <p:cNvSpPr/>
          <p:nvPr/>
        </p:nvSpPr>
        <p:spPr>
          <a:xfrm>
            <a:off x="12236067" y="9317742"/>
            <a:ext cx="263152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" name="Freeform 48"/>
          <p:cNvSpPr/>
          <p:nvPr/>
        </p:nvSpPr>
        <p:spPr>
          <a:xfrm>
            <a:off x="12227249" y="9427722"/>
            <a:ext cx="2646001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" name="Freeform 21"/>
          <p:cNvSpPr/>
          <p:nvPr/>
        </p:nvSpPr>
        <p:spPr>
          <a:xfrm>
            <a:off x="12959990" y="9317742"/>
            <a:ext cx="2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0" name="Freeform 67"/>
          <p:cNvSpPr/>
          <p:nvPr/>
        </p:nvSpPr>
        <p:spPr>
          <a:xfrm>
            <a:off x="13975212" y="9321119"/>
            <a:ext cx="2" cy="108130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1" name="TextBox 1"/>
          <p:cNvSpPr txBox="1"/>
          <p:nvPr/>
        </p:nvSpPr>
        <p:spPr>
          <a:xfrm>
            <a:off x="63498" y="10507980"/>
            <a:ext cx="7731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42" name="Picture Placeholder 2"/>
          <p:cNvSpPr/>
          <p:nvPr/>
        </p:nvSpPr>
        <p:spPr>
          <a:xfrm>
            <a:off x="599800" y="508423"/>
            <a:ext cx="11233729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" name="TextBox 6"/>
          <p:cNvSpPr txBox="1"/>
          <p:nvPr/>
        </p:nvSpPr>
        <p:spPr>
          <a:xfrm>
            <a:off x="13549306" y="7032755"/>
            <a:ext cx="1284187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44" name="Freeform: Shape 7"/>
          <p:cNvSpPr/>
          <p:nvPr/>
        </p:nvSpPr>
        <p:spPr>
          <a:xfrm>
            <a:off x="12537433" y="7031193"/>
            <a:ext cx="705487" cy="6648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" name="TextBox 23"/>
          <p:cNvSpPr txBox="1"/>
          <p:nvPr/>
        </p:nvSpPr>
        <p:spPr>
          <a:xfrm>
            <a:off x="13969973" y="9321327"/>
            <a:ext cx="85647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46" name="TextBox 24"/>
          <p:cNvSpPr txBox="1"/>
          <p:nvPr/>
        </p:nvSpPr>
        <p:spPr>
          <a:xfrm>
            <a:off x="13098735" y="9321327"/>
            <a:ext cx="8301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47" name="TextBox 26"/>
          <p:cNvSpPr txBox="1"/>
          <p:nvPr/>
        </p:nvSpPr>
        <p:spPr>
          <a:xfrm>
            <a:off x="12228576" y="9321327"/>
            <a:ext cx="8335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48" name="TextBox 27"/>
          <p:cNvSpPr txBox="1"/>
          <p:nvPr/>
        </p:nvSpPr>
        <p:spPr>
          <a:xfrm>
            <a:off x="13056406" y="9758240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49" name="TextBox 28"/>
          <p:cNvSpPr txBox="1"/>
          <p:nvPr/>
        </p:nvSpPr>
        <p:spPr>
          <a:xfrm>
            <a:off x="12247271" y="9758240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50" name="TextBox 29"/>
          <p:cNvSpPr txBox="1"/>
          <p:nvPr/>
        </p:nvSpPr>
        <p:spPr>
          <a:xfrm>
            <a:off x="12516948" y="9758240"/>
            <a:ext cx="49439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51" name="TextBox 30"/>
          <p:cNvSpPr txBox="1"/>
          <p:nvPr/>
        </p:nvSpPr>
        <p:spPr>
          <a:xfrm>
            <a:off x="12233457" y="8514819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52" name="TextBox 31"/>
          <p:cNvSpPr txBox="1"/>
          <p:nvPr/>
        </p:nvSpPr>
        <p:spPr>
          <a:xfrm>
            <a:off x="12239090" y="7990071"/>
            <a:ext cx="2600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53" name="TextBox 32"/>
          <p:cNvSpPr txBox="1"/>
          <p:nvPr/>
        </p:nvSpPr>
        <p:spPr>
          <a:xfrm>
            <a:off x="13056406" y="9904169"/>
            <a:ext cx="17770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54" name="TextBox 33"/>
          <p:cNvSpPr txBox="1"/>
          <p:nvPr/>
        </p:nvSpPr>
        <p:spPr>
          <a:xfrm>
            <a:off x="12247271" y="9904169"/>
            <a:ext cx="22438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sp>
        <p:nvSpPr>
          <p:cNvPr id="55" name="TextBox 34"/>
          <p:cNvSpPr txBox="1"/>
          <p:nvPr/>
        </p:nvSpPr>
        <p:spPr>
          <a:xfrm>
            <a:off x="12516948" y="9904169"/>
            <a:ext cx="49439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pic>
        <p:nvPicPr>
          <p:cNvPr id="5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2" cy="646233"/>
          </a:xfrm>
          <a:prstGeom prst="rect">
            <a:avLst/>
          </a:prstGeom>
          <a:ln w="12700">
            <a:miter lim="400000"/>
          </a:ln>
        </p:spPr>
      </p:pic>
      <p:pic>
        <p:nvPicPr>
          <p:cNvPr id="57" name="Picture 12" descr="Picture 1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236199" y="784803"/>
            <a:ext cx="542593" cy="548690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extBox 16"/>
          <p:cNvSpPr txBox="1"/>
          <p:nvPr/>
        </p:nvSpPr>
        <p:spPr>
          <a:xfrm>
            <a:off x="13295610" y="750208"/>
            <a:ext cx="1437460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00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OP LOGO</a:t>
            </a:r>
          </a:p>
        </p:txBody>
      </p:sp>
      <p:sp>
        <p:nvSpPr>
          <p:cNvPr id="59" name="Straight Arrow Connector 19"/>
          <p:cNvSpPr/>
          <p:nvPr/>
        </p:nvSpPr>
        <p:spPr>
          <a:xfrm flipH="1">
            <a:off x="14298898" y="9425743"/>
            <a:ext cx="587068" cy="427931"/>
          </a:xfrm>
          <a:prstGeom prst="line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" name="Rectangle 28"/>
          <p:cNvSpPr txBox="1"/>
          <p:nvPr/>
        </p:nvSpPr>
        <p:spPr>
          <a:xfrm>
            <a:off x="1031881" y="10077208"/>
            <a:ext cx="13986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GSM</a:t>
            </a:r>
          </a:p>
        </p:txBody>
      </p:sp>
      <p:sp>
        <p:nvSpPr>
          <p:cNvPr id="61" name="Freeform 62"/>
          <p:cNvSpPr/>
          <p:nvPr/>
        </p:nvSpPr>
        <p:spPr>
          <a:xfrm>
            <a:off x="12230100" y="702182"/>
            <a:ext cx="2646001" cy="3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" name="Freeform 55"/>
          <p:cNvSpPr/>
          <p:nvPr/>
        </p:nvSpPr>
        <p:spPr>
          <a:xfrm>
            <a:off x="922781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" name="Freeform 56"/>
          <p:cNvSpPr/>
          <p:nvPr/>
        </p:nvSpPr>
        <p:spPr>
          <a:xfrm>
            <a:off x="6228519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" name="Freeform 57"/>
          <p:cNvSpPr/>
          <p:nvPr/>
        </p:nvSpPr>
        <p:spPr>
          <a:xfrm>
            <a:off x="3204778" y="10104121"/>
            <a:ext cx="2" cy="335282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" name="Rectangle 7"/>
          <p:cNvSpPr txBox="1"/>
          <p:nvPr/>
        </p:nvSpPr>
        <p:spPr>
          <a:xfrm>
            <a:off x="271007" y="10249421"/>
            <a:ext cx="2888053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66" name="Rectangle 8"/>
          <p:cNvSpPr txBox="1"/>
          <p:nvPr/>
        </p:nvSpPr>
        <p:spPr>
          <a:xfrm>
            <a:off x="3250501" y="10249613"/>
            <a:ext cx="29244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67" name="Rectangle 9"/>
          <p:cNvSpPr txBox="1"/>
          <p:nvPr/>
        </p:nvSpPr>
        <p:spPr>
          <a:xfrm>
            <a:off x="6272324" y="10254545"/>
            <a:ext cx="2901969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68" name="Rectangle 10"/>
          <p:cNvSpPr txBox="1"/>
          <p:nvPr/>
        </p:nvSpPr>
        <p:spPr>
          <a:xfrm>
            <a:off x="9273537" y="10246401"/>
            <a:ext cx="2912501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69" name="Rectangle 11"/>
          <p:cNvSpPr/>
          <p:nvPr/>
        </p:nvSpPr>
        <p:spPr>
          <a:xfrm>
            <a:off x="225282" y="10279246"/>
            <a:ext cx="12004820" cy="157179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0" name="Rectangle 12"/>
          <p:cNvSpPr/>
          <p:nvPr/>
        </p:nvSpPr>
        <p:spPr>
          <a:xfrm>
            <a:off x="225282" y="10103973"/>
            <a:ext cx="12004820" cy="174456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1" name="Rectangle 91"/>
          <p:cNvSpPr txBox="1"/>
          <p:nvPr/>
        </p:nvSpPr>
        <p:spPr>
          <a:xfrm>
            <a:off x="12352687" y="1531652"/>
            <a:ext cx="535694" cy="202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74" name="Rectangle 38"/>
          <p:cNvGrpSpPr/>
          <p:nvPr/>
        </p:nvGrpSpPr>
        <p:grpSpPr>
          <a:xfrm>
            <a:off x="12242779" y="6286958"/>
            <a:ext cx="2627296" cy="459739"/>
            <a:chOff x="0" y="0"/>
            <a:chExt cx="2627295" cy="459738"/>
          </a:xfrm>
        </p:grpSpPr>
        <p:sp>
          <p:nvSpPr>
            <p:cNvPr id="72" name="Rectangle"/>
            <p:cNvSpPr/>
            <p:nvPr/>
          </p:nvSpPr>
          <p:spPr>
            <a:xfrm>
              <a:off x="-1" y="67851"/>
              <a:ext cx="2627297" cy="324039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73" name="GSM 1800MHz"/>
            <p:cNvSpPr txBox="1"/>
            <p:nvPr/>
          </p:nvSpPr>
          <p:spPr>
            <a:xfrm>
              <a:off x="55244" y="0"/>
              <a:ext cx="2516806" cy="4597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GSM 1800MHz</a:t>
              </a:r>
            </a:p>
          </p:txBody>
        </p:sp>
      </p:grpSp>
      <p:sp>
        <p:nvSpPr>
          <p:cNvPr id="75" name="Rectangle 41"/>
          <p:cNvSpPr txBox="1"/>
          <p:nvPr/>
        </p:nvSpPr>
        <p:spPr>
          <a:xfrm>
            <a:off x="3250497" y="10088032"/>
            <a:ext cx="2932900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sp>
        <p:nvSpPr>
          <p:cNvPr id="76" name="Rectangle 42"/>
          <p:cNvSpPr txBox="1"/>
          <p:nvPr/>
        </p:nvSpPr>
        <p:spPr>
          <a:xfrm>
            <a:off x="6274861" y="10083865"/>
            <a:ext cx="2896894" cy="202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grpSp>
        <p:nvGrpSpPr>
          <p:cNvPr id="95" name="Group 39"/>
          <p:cNvGrpSpPr/>
          <p:nvPr/>
        </p:nvGrpSpPr>
        <p:grpSpPr>
          <a:xfrm>
            <a:off x="12144185" y="1695398"/>
            <a:ext cx="1269046" cy="1164239"/>
            <a:chOff x="0" y="0"/>
            <a:chExt cx="1269045" cy="1164238"/>
          </a:xfrm>
        </p:grpSpPr>
        <p:sp>
          <p:nvSpPr>
            <p:cNvPr id="77" name="TextBox 43"/>
            <p:cNvSpPr txBox="1"/>
            <p:nvPr/>
          </p:nvSpPr>
          <p:spPr>
            <a:xfrm>
              <a:off x="-1" y="-1"/>
              <a:ext cx="1013466" cy="228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grpSp>
          <p:nvGrpSpPr>
            <p:cNvPr id="94" name="Group 44"/>
            <p:cNvGrpSpPr/>
            <p:nvPr/>
          </p:nvGrpSpPr>
          <p:grpSpPr>
            <a:xfrm>
              <a:off x="-1" y="-1"/>
              <a:ext cx="1269046" cy="1164239"/>
              <a:chOff x="0" y="0"/>
              <a:chExt cx="1269044" cy="1164238"/>
            </a:xfrm>
          </p:grpSpPr>
          <p:grpSp>
            <p:nvGrpSpPr>
              <p:cNvPr id="83" name="Group 45"/>
              <p:cNvGrpSpPr/>
              <p:nvPr/>
            </p:nvGrpSpPr>
            <p:grpSpPr>
              <a:xfrm>
                <a:off x="255735" y="284360"/>
                <a:ext cx="619347" cy="879879"/>
                <a:chOff x="0" y="0"/>
                <a:chExt cx="619346" cy="879877"/>
              </a:xfrm>
            </p:grpSpPr>
            <p:sp>
              <p:nvSpPr>
                <p:cNvPr id="78" name="Rectangle 56"/>
                <p:cNvSpPr/>
                <p:nvPr/>
              </p:nvSpPr>
              <p:spPr>
                <a:xfrm>
                  <a:off x="-1" y="-1"/>
                  <a:ext cx="618998" cy="177167"/>
                </a:xfrm>
                <a:prstGeom prst="rect">
                  <a:avLst/>
                </a:prstGeom>
                <a:solidFill>
                  <a:srgbClr val="28E3FC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79" name="Rectangle 75"/>
                <p:cNvSpPr/>
                <p:nvPr/>
              </p:nvSpPr>
              <p:spPr>
                <a:xfrm>
                  <a:off x="0" y="177165"/>
                  <a:ext cx="618998" cy="177167"/>
                </a:xfrm>
                <a:prstGeom prst="rect">
                  <a:avLst/>
                </a:prstGeom>
                <a:solidFill>
                  <a:srgbClr val="00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80" name="Rectangle 76"/>
                <p:cNvSpPr/>
                <p:nvPr/>
              </p:nvSpPr>
              <p:spPr>
                <a:xfrm>
                  <a:off x="348" y="354331"/>
                  <a:ext cx="618998" cy="177167"/>
                </a:xfrm>
                <a:prstGeom prst="rect">
                  <a:avLst/>
                </a:prstGeom>
                <a:solidFill>
                  <a:srgbClr val="FF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81" name="Rectangle 77"/>
                <p:cNvSpPr/>
                <p:nvPr/>
              </p:nvSpPr>
              <p:spPr>
                <a:xfrm>
                  <a:off x="348" y="531497"/>
                  <a:ext cx="618998" cy="177167"/>
                </a:xfrm>
                <a:prstGeom prst="rect">
                  <a:avLst/>
                </a:prstGeom>
                <a:solidFill>
                  <a:srgbClr val="FFC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82" name="Rectangle 78"/>
                <p:cNvSpPr/>
                <p:nvPr/>
              </p:nvSpPr>
              <p:spPr>
                <a:xfrm>
                  <a:off x="348" y="702710"/>
                  <a:ext cx="618998" cy="177167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</p:grpSp>
          <p:sp>
            <p:nvSpPr>
              <p:cNvPr id="84" name="Straight Connector 46"/>
              <p:cNvSpPr/>
              <p:nvPr/>
            </p:nvSpPr>
            <p:spPr>
              <a:xfrm>
                <a:off x="811837" y="816672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5" name="Straight Connector 47"/>
              <p:cNvSpPr/>
              <p:nvPr/>
            </p:nvSpPr>
            <p:spPr>
              <a:xfrm>
                <a:off x="812086" y="638693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6" name="Straight Connector 48"/>
              <p:cNvSpPr/>
              <p:nvPr/>
            </p:nvSpPr>
            <p:spPr>
              <a:xfrm>
                <a:off x="812086" y="461528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7" name="Straight Connector 49"/>
              <p:cNvSpPr/>
              <p:nvPr/>
            </p:nvSpPr>
            <p:spPr>
              <a:xfrm>
                <a:off x="830247" y="987071"/>
                <a:ext cx="180002" cy="2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8" name="TextBox 50"/>
              <p:cNvSpPr txBox="1"/>
              <p:nvPr/>
            </p:nvSpPr>
            <p:spPr>
              <a:xfrm>
                <a:off x="-1" y="0"/>
                <a:ext cx="1013466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algn="ctr" defTabSz="914371">
                  <a:defRPr b="1" sz="1000" u="sng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SNIR (dB)</a:t>
                </a:r>
              </a:p>
            </p:txBody>
          </p:sp>
          <p:sp>
            <p:nvSpPr>
              <p:cNvPr id="89" name="TextBox 51"/>
              <p:cNvSpPr txBox="1"/>
              <p:nvPr/>
            </p:nvSpPr>
            <p:spPr>
              <a:xfrm>
                <a:off x="880765" y="136854"/>
                <a:ext cx="333529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Max</a:t>
                </a:r>
              </a:p>
            </p:txBody>
          </p:sp>
          <p:sp>
            <p:nvSpPr>
              <p:cNvPr id="90" name="TextBox 52"/>
              <p:cNvSpPr txBox="1"/>
              <p:nvPr/>
            </p:nvSpPr>
            <p:spPr>
              <a:xfrm>
                <a:off x="935956" y="339737"/>
                <a:ext cx="324838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 &gt;20</a:t>
                </a:r>
              </a:p>
            </p:txBody>
          </p:sp>
          <p:sp>
            <p:nvSpPr>
              <p:cNvPr id="91" name="TextBox 53"/>
              <p:cNvSpPr txBox="1"/>
              <p:nvPr/>
            </p:nvSpPr>
            <p:spPr>
              <a:xfrm>
                <a:off x="944207" y="523745"/>
                <a:ext cx="324838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 &gt;14</a:t>
                </a:r>
              </a:p>
            </p:txBody>
          </p:sp>
          <p:sp>
            <p:nvSpPr>
              <p:cNvPr id="92" name="TextBox 54"/>
              <p:cNvSpPr txBox="1"/>
              <p:nvPr/>
            </p:nvSpPr>
            <p:spPr>
              <a:xfrm>
                <a:off x="980238" y="695082"/>
                <a:ext cx="260470" cy="22851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6</a:t>
                </a:r>
              </a:p>
            </p:txBody>
          </p:sp>
          <p:sp>
            <p:nvSpPr>
              <p:cNvPr id="93" name="TextBox 55"/>
              <p:cNvSpPr txBox="1"/>
              <p:nvPr/>
            </p:nvSpPr>
            <p:spPr>
              <a:xfrm>
                <a:off x="977068" y="876825"/>
                <a:ext cx="260470" cy="22850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0</a:t>
                </a:r>
              </a:p>
            </p:txBody>
          </p:sp>
        </p:grpSp>
      </p:grpSp>
      <p:sp>
        <p:nvSpPr>
          <p:cNvPr id="96" name="&lt;NUM&gt;"/>
          <p:cNvSpPr txBox="1"/>
          <p:nvPr/>
        </p:nvSpPr>
        <p:spPr>
          <a:xfrm>
            <a:off x="14324159" y="9149660"/>
            <a:ext cx="366672" cy="180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97" name="Title Text"/>
          <p:cNvSpPr txBox="1"/>
          <p:nvPr>
            <p:ph type="title"/>
          </p:nvPr>
        </p:nvSpPr>
        <p:spPr>
          <a:xfrm>
            <a:off x="2264326" y="1200532"/>
            <a:ext cx="12090401" cy="2601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98" name="Body Level One…"/>
          <p:cNvSpPr txBox="1"/>
          <p:nvPr>
            <p:ph type="body" idx="1"/>
          </p:nvPr>
        </p:nvSpPr>
        <p:spPr>
          <a:xfrm>
            <a:off x="8435468" y="3802097"/>
            <a:ext cx="5919259" cy="6891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xfrm>
            <a:off x="14362295" y="9201556"/>
            <a:ext cx="127001" cy="1270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ctr"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  <p:sldLayoutId id="2147483661" r:id="rId16"/>
    <p:sldLayoutId id="2147483662" r:id="rId17"/>
    <p:sldLayoutId id="2147483663" r:id="rId18"/>
    <p:sldLayoutId id="2147483664" r:id="rId19"/>
    <p:sldLayoutId id="2147483665" r:id="rId20"/>
    <p:sldLayoutId id="2147483666" r:id="rId21"/>
    <p:sldLayoutId id="2147483667" r:id="rId22"/>
    <p:sldLayoutId id="2147483668" r:id="rId23"/>
  </p:sldLayoutIdLst>
  <p:transition xmlns:p14="http://schemas.microsoft.com/office/powerpoint/2010/main" spd="med" advClick="1"/>
  <p:txStyles>
    <p:titleStyle>
      <a:lvl1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527988" marR="0" indent="-52798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1215600" marR="0" indent="-511616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883633" marR="0" indent="-475663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2679681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3383665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4087650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4791633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5495618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6199602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TextBox 2"/>
          <p:cNvSpPr txBox="1"/>
          <p:nvPr/>
        </p:nvSpPr>
        <p:spPr>
          <a:xfrm>
            <a:off x="801749" y="1971358"/>
            <a:ext cx="13231691" cy="1018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3100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pPr>
            <a:r>
              <a:t>[STATIONCODE_STATIONNAME]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sz="3100">
                <a:latin typeface="Arial"/>
                <a:ea typeface="Arial"/>
                <a:cs typeface="Arial"/>
                <a:sym typeface="Arial"/>
              </a:defRPr>
            </a:pPr>
            <a:r>
              <a:t>Appendix B – RF Predictions</a:t>
            </a:r>
          </a:p>
        </p:txBody>
      </p:sp>
      <p:graphicFrame>
        <p:nvGraphicFramePr>
          <p:cNvPr id="1828" name="Table 1"/>
          <p:cNvGraphicFramePr/>
          <p:nvPr/>
        </p:nvGraphicFramePr>
        <p:xfrm>
          <a:off x="379507" y="9879341"/>
          <a:ext cx="13834712" cy="59455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4226524"/>
                <a:gridCol w="683645"/>
                <a:gridCol w="2158879"/>
                <a:gridCol w="1570586"/>
                <a:gridCol w="1570586"/>
                <a:gridCol w="1835046"/>
                <a:gridCol w="1789442"/>
              </a:tblGrid>
              <a:tr h="277458"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Document Reference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Revision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Description of Changes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Date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Author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Checked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Approved  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</a:tr>
              <a:tr h="317095">
                <a:tc>
                  <a:txBody>
                    <a:bodyPr/>
                    <a:lstStyle/>
                    <a:p>
                      <a:pPr>
                        <a:defRPr sz="1100">
                          <a:latin typeface="Verdana"/>
                          <a:ea typeface="Verdana"/>
                          <a:cs typeface="Verdana"/>
                          <a:sym typeface="Verdana"/>
                        </a:defRPr>
                      </a:pPr>
                      <a:r>
                        <a:t>TCP01-BAI-COM-</a:t>
                      </a:r>
                      <a:r>
                        <a:rPr>
                          <a:solidFill>
                            <a:srgbClr val="FF0000"/>
                          </a:solidFill>
                        </a:rPr>
                        <a:t>[STATION CODE]</a:t>
                      </a:r>
                      <a:r>
                        <a:t>_0-SPE-DM-000&lt;P&gt;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P02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Updated Design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sym typeface="Helvetica"/>
                        </a:rPr>
                        <a:t>&lt;&lt;DATE&gt;&gt;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ym typeface="Helvetica"/>
                        </a:defRPr>
                      </a:pPr>
                      <a:r>
                        <a:t>&lt;&lt;</a:t>
                      </a:r>
                      <a:r>
                        <a:rPr sz="1100"/>
                        <a:t>AUTHOR&gt;&gt;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sym typeface="Helvetica"/>
                        </a:rPr>
                        <a:t>&lt;&lt;CHECKED&gt;&gt;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sym typeface="Helvetica"/>
                        </a:rPr>
                        <a:t>&lt;&lt;APPROVED&gt;&gt;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831" name="Rectangle 5"/>
          <p:cNvGrpSpPr/>
          <p:nvPr/>
        </p:nvGrpSpPr>
        <p:grpSpPr>
          <a:xfrm>
            <a:off x="756029" y="3047898"/>
            <a:ext cx="13458191" cy="6606007"/>
            <a:chOff x="0" y="0"/>
            <a:chExt cx="13458189" cy="6606005"/>
          </a:xfrm>
        </p:grpSpPr>
        <p:sp>
          <p:nvSpPr>
            <p:cNvPr id="1829" name="Rectangle"/>
            <p:cNvSpPr/>
            <p:nvPr/>
          </p:nvSpPr>
          <p:spPr>
            <a:xfrm>
              <a:off x="-1" y="-1"/>
              <a:ext cx="13458191" cy="660600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30" name="3D MODEL IMAGE"/>
            <p:cNvSpPr txBox="1"/>
            <p:nvPr/>
          </p:nvSpPr>
          <p:spPr>
            <a:xfrm>
              <a:off x="58419" y="3054082"/>
              <a:ext cx="13341351" cy="49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700"/>
              </a:lvl1pPr>
            </a:lstStyle>
            <a:p>
              <a:pPr/>
              <a:r>
                <a:t>3D MODEL IMAGE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TextBox 25"/>
          <p:cNvSpPr txBox="1"/>
          <p:nvPr/>
        </p:nvSpPr>
        <p:spPr>
          <a:xfrm>
            <a:off x="693805" y="1991731"/>
            <a:ext cx="13231691" cy="561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31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EXECUTIVE SUMMARY</a:t>
            </a:r>
          </a:p>
        </p:txBody>
      </p:sp>
      <p:pic>
        <p:nvPicPr>
          <p:cNvPr id="1834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217714" y="4834771"/>
            <a:ext cx="4882375" cy="5653772"/>
          </a:xfrm>
          <a:prstGeom prst="rect">
            <a:avLst/>
          </a:prstGeom>
          <a:ln w="12700">
            <a:miter lim="400000"/>
          </a:ln>
        </p:spPr>
      </p:pic>
      <p:sp>
        <p:nvSpPr>
          <p:cNvPr id="1835" name="TextBox 4"/>
          <p:cNvSpPr txBox="1"/>
          <p:nvPr/>
        </p:nvSpPr>
        <p:spPr>
          <a:xfrm>
            <a:off x="1233526" y="2615313"/>
            <a:ext cx="12691969" cy="2918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r">
              <a:lnSpc>
                <a:spcPct val="107000"/>
              </a:lnSpc>
              <a:spcBef>
                <a:spcPts val="800"/>
              </a:spcBef>
              <a:defRPr sz="17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This document to be read in conjunction with </a:t>
            </a:r>
            <a:r>
              <a:rPr>
                <a:solidFill>
                  <a:srgbClr val="FF0000"/>
                </a:solidFill>
              </a:rPr>
              <a:t>STATION-NAME </a:t>
            </a:r>
            <a:r>
              <a:t>detailed design document. This document contains RF predictions for the proposed system at </a:t>
            </a:r>
            <a:r>
              <a:rPr>
                <a:solidFill>
                  <a:srgbClr val="FF0000"/>
                </a:solidFill>
              </a:rPr>
              <a:t>STATION-NAME </a:t>
            </a:r>
            <a:r>
              <a:t>Station. Predictions have been carried out using industry’s renown in-building coverage prediction tool, i.e. iBwave. The plots include coverage predictions for </a:t>
            </a:r>
            <a:r>
              <a:rPr>
                <a:solidFill>
                  <a:srgbClr val="FF0000"/>
                </a:solidFill>
              </a:rPr>
              <a:t>OPERATOR-NAME</a:t>
            </a:r>
            <a:r>
              <a:t> across their relevant </a:t>
            </a:r>
            <a:r>
              <a:rPr>
                <a:solidFill>
                  <a:srgbClr val="FF0000"/>
                </a:solidFill>
              </a:rPr>
              <a:t>GSM / LTE / 5GNR </a:t>
            </a:r>
            <a:r>
              <a:t>bands. The results are presented with technology specific legends as defined within the JOTS. 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 algn="just">
              <a:lnSpc>
                <a:spcPct val="107000"/>
              </a:lnSpc>
              <a:spcBef>
                <a:spcPts val="800"/>
              </a:spcBef>
              <a:defRPr sz="17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The building has been concisely modelled up in iBwave for accurate production of the results. The following materials have been utilised to model up the building.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 algn="just">
              <a:lnSpc>
                <a:spcPct val="107000"/>
              </a:lnSpc>
              <a:spcBef>
                <a:spcPts val="800"/>
              </a:spcBef>
              <a:defRPr sz="1700">
                <a:latin typeface="Arial"/>
                <a:ea typeface="Arial"/>
                <a:cs typeface="Arial"/>
                <a:sym typeface="Arial"/>
              </a:defRPr>
            </a:pPr>
          </a:p>
          <a:p>
            <a:pPr marL="285570" indent="-285570" algn="just">
              <a:lnSpc>
                <a:spcPct val="107000"/>
              </a:lnSpc>
              <a:spcBef>
                <a:spcPts val="800"/>
              </a:spcBef>
              <a:buSzPct val="100000"/>
              <a:buChar char="-"/>
              <a:defRPr sz="1700"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" name="TextBox 3"/>
          <p:cNvSpPr txBox="1"/>
          <p:nvPr/>
        </p:nvSpPr>
        <p:spPr>
          <a:xfrm>
            <a:off x="6663072" y="4804276"/>
            <a:ext cx="2189221" cy="444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9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40" name="TextBox 1"/>
          <p:cNvSpPr txBox="1"/>
          <p:nvPr/>
        </p:nvSpPr>
        <p:spPr>
          <a:xfrm>
            <a:off x="10434893" y="10062237"/>
            <a:ext cx="1396849" cy="205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41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42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45" name="TextBox 1"/>
          <p:cNvSpPr txBox="1"/>
          <p:nvPr/>
        </p:nvSpPr>
        <p:spPr>
          <a:xfrm>
            <a:off x="10358812" y="10049282"/>
            <a:ext cx="1581848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46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47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50" name="TextBox 1"/>
          <p:cNvSpPr txBox="1"/>
          <p:nvPr/>
        </p:nvSpPr>
        <p:spPr>
          <a:xfrm>
            <a:off x="10246938" y="10081258"/>
            <a:ext cx="1385687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51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2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55" name="TextBox 1"/>
          <p:cNvSpPr txBox="1"/>
          <p:nvPr/>
        </p:nvSpPr>
        <p:spPr>
          <a:xfrm>
            <a:off x="10289557" y="10075409"/>
            <a:ext cx="1440028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56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7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60" name="TextBox 1"/>
          <p:cNvSpPr txBox="1"/>
          <p:nvPr/>
        </p:nvSpPr>
        <p:spPr>
          <a:xfrm>
            <a:off x="10281560" y="10057244"/>
            <a:ext cx="1743125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61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62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4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65" name="TextBox 1"/>
          <p:cNvSpPr txBox="1"/>
          <p:nvPr/>
        </p:nvSpPr>
        <p:spPr>
          <a:xfrm>
            <a:off x="10275168" y="10064747"/>
            <a:ext cx="1494368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66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67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70" name="TextBox 1"/>
          <p:cNvSpPr txBox="1"/>
          <p:nvPr/>
        </p:nvSpPr>
        <p:spPr>
          <a:xfrm>
            <a:off x="10233083" y="10073271"/>
            <a:ext cx="1367574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71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72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75" name="TextBox 1"/>
          <p:cNvSpPr txBox="1"/>
          <p:nvPr/>
        </p:nvSpPr>
        <p:spPr>
          <a:xfrm>
            <a:off x="10253851" y="10075408"/>
            <a:ext cx="1874753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76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77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80" name="TextBox 1"/>
          <p:cNvSpPr txBox="1"/>
          <p:nvPr/>
        </p:nvSpPr>
        <p:spPr>
          <a:xfrm>
            <a:off x="10242674" y="10081793"/>
            <a:ext cx="1376629" cy="228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81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82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85" name="TextBox 1"/>
          <p:cNvSpPr txBox="1"/>
          <p:nvPr/>
        </p:nvSpPr>
        <p:spPr>
          <a:xfrm>
            <a:off x="10267184" y="10081793"/>
            <a:ext cx="1358517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86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87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9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90" name="TextBox 1"/>
          <p:cNvSpPr txBox="1"/>
          <p:nvPr/>
        </p:nvSpPr>
        <p:spPr>
          <a:xfrm>
            <a:off x="10227225" y="10079152"/>
            <a:ext cx="1468255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91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92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95" name="TextBox 1"/>
          <p:cNvSpPr txBox="1"/>
          <p:nvPr/>
        </p:nvSpPr>
        <p:spPr>
          <a:xfrm>
            <a:off x="10234148" y="10090315"/>
            <a:ext cx="1512482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896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97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9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0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901" name="TextBox 1"/>
          <p:cNvSpPr txBox="1"/>
          <p:nvPr/>
        </p:nvSpPr>
        <p:spPr>
          <a:xfrm>
            <a:off x="10205914" y="10088712"/>
            <a:ext cx="1657390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902" name="Rectangle 4"/>
          <p:cNvSpPr/>
          <p:nvPr/>
        </p:nvSpPr>
        <p:spPr>
          <a:xfrm>
            <a:off x="13014759" y="722061"/>
            <a:ext cx="1758750" cy="914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3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6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907" name="TextBox 2"/>
          <p:cNvSpPr txBox="1"/>
          <p:nvPr/>
        </p:nvSpPr>
        <p:spPr>
          <a:xfrm>
            <a:off x="10317437" y="10058816"/>
            <a:ext cx="1125114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908" name="Rectangle 3"/>
          <p:cNvSpPr/>
          <p:nvPr/>
        </p:nvSpPr>
        <p:spPr>
          <a:xfrm>
            <a:off x="13014759" y="764674"/>
            <a:ext cx="1784336" cy="675633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9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1" name="Slide Number"/>
          <p:cNvSpPr txBox="1"/>
          <p:nvPr>
            <p:ph type="sldNum" sz="quarter" idx="4294967295"/>
          </p:nvPr>
        </p:nvSpPr>
        <p:spPr>
          <a:xfrm>
            <a:off x="14362294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912" name="Picture Placeholder 2" descr="Picture Placeholder 2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xfrm>
            <a:off x="599802" y="525468"/>
            <a:ext cx="11233726" cy="9364397"/>
          </a:xfrm>
          <a:prstGeom prst="rect">
            <a:avLst/>
          </a:prstGeom>
        </p:spPr>
      </p:pic>
      <p:sp>
        <p:nvSpPr>
          <p:cNvPr id="1913" name="TextBox 1"/>
          <p:cNvSpPr txBox="1"/>
          <p:nvPr/>
        </p:nvSpPr>
        <p:spPr>
          <a:xfrm>
            <a:off x="10308311" y="10068338"/>
            <a:ext cx="1520920" cy="228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  <p:sp>
        <p:nvSpPr>
          <p:cNvPr id="1914" name="Rectangle 2"/>
          <p:cNvSpPr/>
          <p:nvPr/>
        </p:nvSpPr>
        <p:spPr>
          <a:xfrm>
            <a:off x="13060235" y="744626"/>
            <a:ext cx="1699200" cy="75747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15" name="TextBox 3"/>
          <p:cNvSpPr txBox="1"/>
          <p:nvPr/>
        </p:nvSpPr>
        <p:spPr>
          <a:xfrm>
            <a:off x="13116284" y="799540"/>
            <a:ext cx="1580046" cy="44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