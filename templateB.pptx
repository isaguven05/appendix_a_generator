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5113000" cy="10693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140758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alpha val="20000"/>
            </a:scheme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alpha val="20000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round/>
            </a:ln>
          </a:top>
          <a:bottom>
            <a:ln w="12700" cap="flat">
              <a:solidFill>
                <a:schemeClr val="accent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round/>
            </a:ln>
          </a:top>
          <a:bottom>
            <a:ln w="12700" cap="flat">
              <a:solidFill>
                <a:schemeClr val="accent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Shape 180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0" name="Shape 181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914128" latinLnBrk="0">
      <a:defRPr sz="1200">
        <a:latin typeface="+mj-lt"/>
        <a:ea typeface="+mj-ea"/>
        <a:cs typeface="+mj-cs"/>
        <a:sym typeface="Calibri"/>
      </a:defRPr>
    </a:lvl1pPr>
    <a:lvl2pPr indent="228600" defTabSz="914128" latinLnBrk="0">
      <a:defRPr sz="1200">
        <a:latin typeface="+mj-lt"/>
        <a:ea typeface="+mj-ea"/>
        <a:cs typeface="+mj-cs"/>
        <a:sym typeface="Calibri"/>
      </a:defRPr>
    </a:lvl2pPr>
    <a:lvl3pPr indent="457200" defTabSz="914128" latinLnBrk="0">
      <a:defRPr sz="1200">
        <a:latin typeface="+mj-lt"/>
        <a:ea typeface="+mj-ea"/>
        <a:cs typeface="+mj-cs"/>
        <a:sym typeface="Calibri"/>
      </a:defRPr>
    </a:lvl3pPr>
    <a:lvl4pPr indent="685800" defTabSz="914128" latinLnBrk="0">
      <a:defRPr sz="1200">
        <a:latin typeface="+mj-lt"/>
        <a:ea typeface="+mj-ea"/>
        <a:cs typeface="+mj-cs"/>
        <a:sym typeface="Calibri"/>
      </a:defRPr>
    </a:lvl4pPr>
    <a:lvl5pPr indent="914400" defTabSz="914128" latinLnBrk="0">
      <a:defRPr sz="1200">
        <a:latin typeface="+mj-lt"/>
        <a:ea typeface="+mj-ea"/>
        <a:cs typeface="+mj-cs"/>
        <a:sym typeface="Calibri"/>
      </a:defRPr>
    </a:lvl5pPr>
    <a:lvl6pPr indent="1143000" defTabSz="914128" latinLnBrk="0">
      <a:defRPr sz="1200">
        <a:latin typeface="+mj-lt"/>
        <a:ea typeface="+mj-ea"/>
        <a:cs typeface="+mj-cs"/>
        <a:sym typeface="Calibri"/>
      </a:defRPr>
    </a:lvl6pPr>
    <a:lvl7pPr indent="1371600" defTabSz="914128" latinLnBrk="0">
      <a:defRPr sz="1200">
        <a:latin typeface="+mj-lt"/>
        <a:ea typeface="+mj-ea"/>
        <a:cs typeface="+mj-cs"/>
        <a:sym typeface="Calibri"/>
      </a:defRPr>
    </a:lvl7pPr>
    <a:lvl8pPr indent="1600200" defTabSz="914128" latinLnBrk="0">
      <a:defRPr sz="1200">
        <a:latin typeface="+mj-lt"/>
        <a:ea typeface="+mj-ea"/>
        <a:cs typeface="+mj-cs"/>
        <a:sym typeface="Calibri"/>
      </a:defRPr>
    </a:lvl8pPr>
    <a:lvl9pPr indent="1828800" defTabSz="914128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SM 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GSM Rxl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13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16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17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20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22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24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27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5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36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38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39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41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4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45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52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53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54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57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58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59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60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6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GSM</a:t>
            </a:r>
          </a:p>
        </p:txBody>
      </p:sp>
      <p:grpSp>
        <p:nvGrpSpPr>
          <p:cNvPr id="166" name="Rectangle 87"/>
          <p:cNvGrpSpPr/>
          <p:nvPr/>
        </p:nvGrpSpPr>
        <p:grpSpPr>
          <a:xfrm>
            <a:off x="12242778" y="6286958"/>
            <a:ext cx="2627299" cy="459737"/>
            <a:chOff x="0" y="0"/>
            <a:chExt cx="2627297" cy="459735"/>
          </a:xfrm>
        </p:grpSpPr>
        <p:sp>
          <p:nvSpPr>
            <p:cNvPr id="164" name="Rectangle"/>
            <p:cNvSpPr/>
            <p:nvPr/>
          </p:nvSpPr>
          <p:spPr>
            <a:xfrm>
              <a:off x="-1" y="67851"/>
              <a:ext cx="2627299" cy="324040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65" name="GSM 1800MHz"/>
            <p:cNvSpPr txBox="1"/>
            <p:nvPr/>
          </p:nvSpPr>
          <p:spPr>
            <a:xfrm>
              <a:off x="55243" y="0"/>
              <a:ext cx="2516809" cy="45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Calibri (Body)"/>
                  <a:ea typeface="Calibri (Body)"/>
                  <a:cs typeface="Calibri (Body)"/>
                  <a:sym typeface="Calibri (Body)"/>
                </a:defRPr>
              </a:lvl1pPr>
            </a:lstStyle>
            <a:p>
              <a:pPr/>
              <a:r>
                <a:t>GSM 1800MHz</a:t>
              </a:r>
            </a:p>
          </p:txBody>
        </p:sp>
      </p:grpSp>
      <p:sp>
        <p:nvSpPr>
          <p:cNvPr id="167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Rectangle 7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71" name="Rectangle 8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72" name="Rectangle 9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73" name="Rectangle 10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74" name="Rectangle 11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75" name="Rectangle 12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43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1800MHz</a:t>
            </a:r>
          </a:p>
        </p:txBody>
      </p:sp>
      <p:sp>
        <p:nvSpPr>
          <p:cNvPr id="177" name="Rectangle 44"/>
          <p:cNvSpPr txBox="1"/>
          <p:nvPr/>
        </p:nvSpPr>
        <p:spPr>
          <a:xfrm>
            <a:off x="6274834" y="10083708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RxLev (dBm)</a:t>
            </a:r>
          </a:p>
        </p:txBody>
      </p:sp>
      <p:sp>
        <p:nvSpPr>
          <p:cNvPr id="178" name="Rectangle 45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201" name="Group 46"/>
          <p:cNvGrpSpPr/>
          <p:nvPr/>
        </p:nvGrpSpPr>
        <p:grpSpPr>
          <a:xfrm>
            <a:off x="12332024" y="1794036"/>
            <a:ext cx="1253525" cy="2247724"/>
            <a:chOff x="0" y="-1"/>
            <a:chExt cx="1253524" cy="2247722"/>
          </a:xfrm>
        </p:grpSpPr>
        <p:sp>
          <p:nvSpPr>
            <p:cNvPr id="179" name="Straight Connector 47"/>
            <p:cNvSpPr/>
            <p:nvPr/>
          </p:nvSpPr>
          <p:spPr>
            <a:xfrm>
              <a:off x="60112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0" name="Straight Connector 48"/>
            <p:cNvSpPr/>
            <p:nvPr/>
          </p:nvSpPr>
          <p:spPr>
            <a:xfrm>
              <a:off x="60112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" name="Straight Connector 49"/>
            <p:cNvSpPr/>
            <p:nvPr/>
          </p:nvSpPr>
          <p:spPr>
            <a:xfrm>
              <a:off x="60112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2" name="Straight Connector 50"/>
            <p:cNvSpPr/>
            <p:nvPr/>
          </p:nvSpPr>
          <p:spPr>
            <a:xfrm>
              <a:off x="60112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3" name="Straight Connector 51"/>
            <p:cNvSpPr/>
            <p:nvPr/>
          </p:nvSpPr>
          <p:spPr>
            <a:xfrm>
              <a:off x="60112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4" name="Straight Connector 52"/>
            <p:cNvSpPr/>
            <p:nvPr/>
          </p:nvSpPr>
          <p:spPr>
            <a:xfrm>
              <a:off x="60112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" name="Straight Connector 53"/>
            <p:cNvSpPr/>
            <p:nvPr/>
          </p:nvSpPr>
          <p:spPr>
            <a:xfrm>
              <a:off x="60112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6" name="Straight Connector 54"/>
            <p:cNvSpPr/>
            <p:nvPr/>
          </p:nvSpPr>
          <p:spPr>
            <a:xfrm>
              <a:off x="60112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7" name="Straight Connector 55"/>
            <p:cNvSpPr/>
            <p:nvPr/>
          </p:nvSpPr>
          <p:spPr>
            <a:xfrm>
              <a:off x="60112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88" name="Picture 56" descr="Picture 5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6281" y="292571"/>
              <a:ext cx="624844" cy="18440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TextBox 57"/>
            <p:cNvSpPr txBox="1"/>
            <p:nvPr/>
          </p:nvSpPr>
          <p:spPr>
            <a:xfrm>
              <a:off x="683115" y="2019214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90" name="TextBox 58"/>
            <p:cNvSpPr txBox="1"/>
            <p:nvPr/>
          </p:nvSpPr>
          <p:spPr>
            <a:xfrm>
              <a:off x="826842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-55</a:t>
              </a:r>
            </a:p>
          </p:txBody>
        </p:sp>
        <p:sp>
          <p:nvSpPr>
            <p:cNvPr id="191" name="TextBox 59"/>
            <p:cNvSpPr txBox="1"/>
            <p:nvPr/>
          </p:nvSpPr>
          <p:spPr>
            <a:xfrm>
              <a:off x="826842" y="540935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92" name="TextBox 60"/>
            <p:cNvSpPr txBox="1"/>
            <p:nvPr/>
          </p:nvSpPr>
          <p:spPr>
            <a:xfrm>
              <a:off x="826842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-75</a:t>
              </a:r>
            </a:p>
          </p:txBody>
        </p:sp>
        <p:sp>
          <p:nvSpPr>
            <p:cNvPr id="193" name="TextBox 61"/>
            <p:cNvSpPr txBox="1"/>
            <p:nvPr/>
          </p:nvSpPr>
          <p:spPr>
            <a:xfrm>
              <a:off x="826842" y="908601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-85</a:t>
              </a:r>
            </a:p>
          </p:txBody>
        </p:sp>
        <p:sp>
          <p:nvSpPr>
            <p:cNvPr id="194" name="TextBox 62"/>
            <p:cNvSpPr txBox="1"/>
            <p:nvPr/>
          </p:nvSpPr>
          <p:spPr>
            <a:xfrm>
              <a:off x="826842" y="1089576"/>
              <a:ext cx="363718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95" name="TextBox 63"/>
            <p:cNvSpPr txBox="1"/>
            <p:nvPr/>
          </p:nvSpPr>
          <p:spPr>
            <a:xfrm>
              <a:off x="826842" y="1274361"/>
              <a:ext cx="363718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-98</a:t>
              </a:r>
            </a:p>
          </p:txBody>
        </p:sp>
        <p:sp>
          <p:nvSpPr>
            <p:cNvPr id="196" name="TextBox 64"/>
            <p:cNvSpPr txBox="1"/>
            <p:nvPr/>
          </p:nvSpPr>
          <p:spPr>
            <a:xfrm>
              <a:off x="825439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-101</a:t>
              </a:r>
            </a:p>
          </p:txBody>
        </p:sp>
        <p:sp>
          <p:nvSpPr>
            <p:cNvPr id="197" name="TextBox 65"/>
            <p:cNvSpPr txBox="1"/>
            <p:nvPr/>
          </p:nvSpPr>
          <p:spPr>
            <a:xfrm>
              <a:off x="825439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-103</a:t>
              </a:r>
            </a:p>
          </p:txBody>
        </p:sp>
        <p:sp>
          <p:nvSpPr>
            <p:cNvPr id="198" name="TextBox 66"/>
            <p:cNvSpPr txBox="1"/>
            <p:nvPr/>
          </p:nvSpPr>
          <p:spPr>
            <a:xfrm>
              <a:off x="825439" y="1817292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-106</a:t>
              </a:r>
            </a:p>
          </p:txBody>
        </p:sp>
        <p:sp>
          <p:nvSpPr>
            <p:cNvPr id="199" name="TextBox 67"/>
            <p:cNvSpPr txBox="1"/>
            <p:nvPr/>
          </p:nvSpPr>
          <p:spPr>
            <a:xfrm>
              <a:off x="683116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200" name="TextBox 68"/>
            <p:cNvSpPr txBox="1"/>
            <p:nvPr/>
          </p:nvSpPr>
          <p:spPr>
            <a:xfrm>
              <a:off x="0" y="-2"/>
              <a:ext cx="1076282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GSM RxLev (dBm)</a:t>
              </a:r>
            </a:p>
          </p:txBody>
        </p:sp>
      </p:grpSp>
      <p:sp>
        <p:nvSpPr>
          <p:cNvPr id="202" name="DRAWN:  &lt;D&gt;"/>
          <p:cNvSpPr txBox="1"/>
          <p:nvPr/>
        </p:nvSpPr>
        <p:spPr>
          <a:xfrm>
            <a:off x="12328552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203" name="CHECKED: &lt;C&gt;"/>
          <p:cNvSpPr txBox="1"/>
          <p:nvPr/>
        </p:nvSpPr>
        <p:spPr>
          <a:xfrm>
            <a:off x="13116311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204" name="APPROVED: &lt;A&gt;"/>
          <p:cNvSpPr txBox="1"/>
          <p:nvPr/>
        </p:nvSpPr>
        <p:spPr>
          <a:xfrm>
            <a:off x="14079283" y="9282356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205" name="&lt;NUM&gt;"/>
          <p:cNvSpPr txBox="1"/>
          <p:nvPr/>
        </p:nvSpPr>
        <p:spPr>
          <a:xfrm>
            <a:off x="14324158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206" name="&lt;P01&gt;"/>
          <p:cNvSpPr txBox="1"/>
          <p:nvPr/>
        </p:nvSpPr>
        <p:spPr>
          <a:xfrm>
            <a:off x="12618696" y="9717431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207" name="&lt;P02&gt;"/>
          <p:cNvSpPr txBox="1"/>
          <p:nvPr/>
        </p:nvSpPr>
        <p:spPr>
          <a:xfrm>
            <a:off x="12607962" y="9862504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208" name="&lt;&lt;logo&gt;&gt;"/>
          <p:cNvSpPr txBox="1"/>
          <p:nvPr/>
        </p:nvSpPr>
        <p:spPr>
          <a:xfrm>
            <a:off x="13316342" y="875553"/>
            <a:ext cx="1054156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MTS RS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217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220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221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224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26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228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231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39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240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242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243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245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46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48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249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2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256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257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258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260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261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262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263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264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26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UMTS</a:t>
            </a:r>
          </a:p>
        </p:txBody>
      </p:sp>
      <p:sp>
        <p:nvSpPr>
          <p:cNvPr id="268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" name="Rectangle 5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272" name="Rectangle 6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273" name="Rectangle 7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274" name="Rectangle 8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275" name="Rectangle 9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76" name="Rectangle 10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77" name="Rectangle 59"/>
          <p:cNvSpPr txBox="1"/>
          <p:nvPr/>
        </p:nvSpPr>
        <p:spPr>
          <a:xfrm>
            <a:off x="3254726" y="10094413"/>
            <a:ext cx="2924496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2100MHz</a:t>
            </a:r>
          </a:p>
        </p:txBody>
      </p:sp>
      <p:sp>
        <p:nvSpPr>
          <p:cNvPr id="278" name="Rectangle 60"/>
          <p:cNvSpPr txBox="1"/>
          <p:nvPr/>
        </p:nvSpPr>
        <p:spPr>
          <a:xfrm>
            <a:off x="6274834" y="10090178"/>
            <a:ext cx="2924496" cy="202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RSCP (dBm)</a:t>
            </a:r>
          </a:p>
        </p:txBody>
      </p:sp>
      <p:grpSp>
        <p:nvGrpSpPr>
          <p:cNvPr id="281" name="Rectangle 41"/>
          <p:cNvGrpSpPr/>
          <p:nvPr/>
        </p:nvGrpSpPr>
        <p:grpSpPr>
          <a:xfrm>
            <a:off x="12242778" y="6286958"/>
            <a:ext cx="2627299" cy="459737"/>
            <a:chOff x="0" y="0"/>
            <a:chExt cx="2627297" cy="459735"/>
          </a:xfrm>
        </p:grpSpPr>
        <p:sp>
          <p:nvSpPr>
            <p:cNvPr id="279" name="Rectangle"/>
            <p:cNvSpPr/>
            <p:nvPr/>
          </p:nvSpPr>
          <p:spPr>
            <a:xfrm>
              <a:off x="-1" y="67851"/>
              <a:ext cx="2627299" cy="324040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280" name="UMTS 2100MHz"/>
            <p:cNvSpPr txBox="1"/>
            <p:nvPr/>
          </p:nvSpPr>
          <p:spPr>
            <a:xfrm>
              <a:off x="55243" y="0"/>
              <a:ext cx="2516809" cy="45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Calibri (Body)"/>
                  <a:ea typeface="Calibri (Body)"/>
                  <a:cs typeface="Calibri (Body)"/>
                  <a:sym typeface="Calibri (Body)"/>
                </a:defRPr>
              </a:lvl1pPr>
            </a:lstStyle>
            <a:p>
              <a:pPr/>
              <a:r>
                <a:t>UMTS 2100MHz</a:t>
              </a:r>
            </a:p>
          </p:txBody>
        </p:sp>
      </p:grpSp>
      <p:sp>
        <p:nvSpPr>
          <p:cNvPr id="282" name="Rectangle 43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305" name="Group 92"/>
          <p:cNvGrpSpPr/>
          <p:nvPr/>
        </p:nvGrpSpPr>
        <p:grpSpPr>
          <a:xfrm>
            <a:off x="12338243" y="1794036"/>
            <a:ext cx="1247307" cy="2247724"/>
            <a:chOff x="0" y="-1"/>
            <a:chExt cx="1247306" cy="2247722"/>
          </a:xfrm>
        </p:grpSpPr>
        <p:sp>
          <p:nvSpPr>
            <p:cNvPr id="283" name="Straight Connector 93"/>
            <p:cNvSpPr/>
            <p:nvPr/>
          </p:nvSpPr>
          <p:spPr>
            <a:xfrm>
              <a:off x="593500" y="1946114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4" name="Straight Connector 94"/>
            <p:cNvSpPr/>
            <p:nvPr/>
          </p:nvSpPr>
          <p:spPr>
            <a:xfrm>
              <a:off x="593500" y="1578449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5" name="Straight Connector 95"/>
            <p:cNvSpPr/>
            <p:nvPr/>
          </p:nvSpPr>
          <p:spPr>
            <a:xfrm>
              <a:off x="593500" y="1397474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6" name="Straight Connector 96"/>
            <p:cNvSpPr/>
            <p:nvPr/>
          </p:nvSpPr>
          <p:spPr>
            <a:xfrm>
              <a:off x="593500" y="1214594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7" name="Straight Connector 97"/>
            <p:cNvSpPr/>
            <p:nvPr/>
          </p:nvSpPr>
          <p:spPr>
            <a:xfrm>
              <a:off x="593500" y="1029806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8" name="Straight Connector 98"/>
            <p:cNvSpPr/>
            <p:nvPr/>
          </p:nvSpPr>
          <p:spPr>
            <a:xfrm>
              <a:off x="593500" y="846926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9" name="Straight Connector 99"/>
            <p:cNvSpPr/>
            <p:nvPr/>
          </p:nvSpPr>
          <p:spPr>
            <a:xfrm>
              <a:off x="593500" y="662141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0" name="Straight Connector 100"/>
            <p:cNvSpPr/>
            <p:nvPr/>
          </p:nvSpPr>
          <p:spPr>
            <a:xfrm>
              <a:off x="593500" y="483071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1" name="Straight Connector 101"/>
            <p:cNvSpPr/>
            <p:nvPr/>
          </p:nvSpPr>
          <p:spPr>
            <a:xfrm>
              <a:off x="593500" y="1761329"/>
              <a:ext cx="180002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292" name="Picture 102" descr="Picture 10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8660" y="292571"/>
              <a:ext cx="624844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3" name="TextBox 103"/>
            <p:cNvSpPr txBox="1"/>
            <p:nvPr/>
          </p:nvSpPr>
          <p:spPr>
            <a:xfrm>
              <a:off x="675495" y="2019214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294" name="TextBox 104"/>
            <p:cNvSpPr txBox="1"/>
            <p:nvPr/>
          </p:nvSpPr>
          <p:spPr>
            <a:xfrm>
              <a:off x="819221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-55</a:t>
              </a:r>
            </a:p>
          </p:txBody>
        </p:sp>
        <p:sp>
          <p:nvSpPr>
            <p:cNvPr id="295" name="TextBox 105"/>
            <p:cNvSpPr txBox="1"/>
            <p:nvPr/>
          </p:nvSpPr>
          <p:spPr>
            <a:xfrm>
              <a:off x="819221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296" name="TextBox 106"/>
            <p:cNvSpPr txBox="1"/>
            <p:nvPr/>
          </p:nvSpPr>
          <p:spPr>
            <a:xfrm>
              <a:off x="819221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-77</a:t>
              </a:r>
            </a:p>
          </p:txBody>
        </p:sp>
        <p:sp>
          <p:nvSpPr>
            <p:cNvPr id="297" name="TextBox 107"/>
            <p:cNvSpPr txBox="1"/>
            <p:nvPr/>
          </p:nvSpPr>
          <p:spPr>
            <a:xfrm>
              <a:off x="819221" y="908601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-87</a:t>
              </a:r>
            </a:p>
          </p:txBody>
        </p:sp>
        <p:sp>
          <p:nvSpPr>
            <p:cNvPr id="298" name="TextBox 108"/>
            <p:cNvSpPr txBox="1"/>
            <p:nvPr/>
          </p:nvSpPr>
          <p:spPr>
            <a:xfrm>
              <a:off x="819221" y="108957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-97</a:t>
              </a:r>
            </a:p>
          </p:txBody>
        </p:sp>
        <p:sp>
          <p:nvSpPr>
            <p:cNvPr id="299" name="TextBox 109"/>
            <p:cNvSpPr txBox="1"/>
            <p:nvPr/>
          </p:nvSpPr>
          <p:spPr>
            <a:xfrm>
              <a:off x="819221" y="1274362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-100</a:t>
              </a:r>
            </a:p>
          </p:txBody>
        </p:sp>
        <p:sp>
          <p:nvSpPr>
            <p:cNvPr id="300" name="TextBox 110"/>
            <p:cNvSpPr txBox="1"/>
            <p:nvPr/>
          </p:nvSpPr>
          <p:spPr>
            <a:xfrm>
              <a:off x="817817" y="1453436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-106</a:t>
              </a:r>
            </a:p>
          </p:txBody>
        </p:sp>
        <p:sp>
          <p:nvSpPr>
            <p:cNvPr id="301" name="TextBox 111"/>
            <p:cNvSpPr txBox="1"/>
            <p:nvPr/>
          </p:nvSpPr>
          <p:spPr>
            <a:xfrm>
              <a:off x="817817" y="1638220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-109</a:t>
              </a:r>
            </a:p>
          </p:txBody>
        </p:sp>
        <p:sp>
          <p:nvSpPr>
            <p:cNvPr id="302" name="TextBox 112"/>
            <p:cNvSpPr txBox="1"/>
            <p:nvPr/>
          </p:nvSpPr>
          <p:spPr>
            <a:xfrm>
              <a:off x="817817" y="1817294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-112</a:t>
              </a:r>
            </a:p>
          </p:txBody>
        </p:sp>
        <p:sp>
          <p:nvSpPr>
            <p:cNvPr id="303" name="TextBox 113"/>
            <p:cNvSpPr txBox="1"/>
            <p:nvPr/>
          </p:nvSpPr>
          <p:spPr>
            <a:xfrm>
              <a:off x="675494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304" name="TextBox 114"/>
            <p:cNvSpPr txBox="1"/>
            <p:nvPr/>
          </p:nvSpPr>
          <p:spPr>
            <a:xfrm>
              <a:off x="0" y="-2"/>
              <a:ext cx="1076280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UMTS RSCP (dBm)</a:t>
              </a:r>
            </a:p>
          </p:txBody>
        </p:sp>
      </p:grpSp>
      <p:sp>
        <p:nvSpPr>
          <p:cNvPr id="306" name="DRAWN:  &lt;D&gt;"/>
          <p:cNvSpPr txBox="1"/>
          <p:nvPr/>
        </p:nvSpPr>
        <p:spPr>
          <a:xfrm>
            <a:off x="12336953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307" name="CHECKED: &lt;C&gt;"/>
          <p:cNvSpPr txBox="1"/>
          <p:nvPr/>
        </p:nvSpPr>
        <p:spPr>
          <a:xfrm>
            <a:off x="13120512" y="928499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308" name="APPROVED: &lt;A&gt;"/>
          <p:cNvSpPr txBox="1"/>
          <p:nvPr/>
        </p:nvSpPr>
        <p:spPr>
          <a:xfrm>
            <a:off x="14085503" y="9281573"/>
            <a:ext cx="709755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309" name="&lt;NUM&gt;"/>
          <p:cNvSpPr txBox="1"/>
          <p:nvPr/>
        </p:nvSpPr>
        <p:spPr>
          <a:xfrm>
            <a:off x="14298897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310" name="&lt;P01&gt;"/>
          <p:cNvSpPr txBox="1"/>
          <p:nvPr/>
        </p:nvSpPr>
        <p:spPr>
          <a:xfrm>
            <a:off x="12607962" y="9704958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311" name="&lt;P02&gt;"/>
          <p:cNvSpPr txBox="1"/>
          <p:nvPr/>
        </p:nvSpPr>
        <p:spPr>
          <a:xfrm>
            <a:off x="12607962" y="9857189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312" name="&lt;&lt;logo&gt;&gt;"/>
          <p:cNvSpPr txBox="1"/>
          <p:nvPr/>
        </p:nvSpPr>
        <p:spPr>
          <a:xfrm>
            <a:off x="13243962" y="875553"/>
            <a:ext cx="1054156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3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MTS Ec/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321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3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324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325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7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328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30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332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335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7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1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343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344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346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347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8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349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50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1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52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353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4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5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6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9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360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361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362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364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365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366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367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368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36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UMTS</a:t>
            </a:r>
          </a:p>
        </p:txBody>
      </p:sp>
      <p:sp>
        <p:nvSpPr>
          <p:cNvPr id="372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4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" name="Rectangle 5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376" name="Rectangle 6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377" name="Rectangle 7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378" name="Rectangle 8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379" name="Rectangle 9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10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1" name="Rectangle 60"/>
          <p:cNvSpPr txBox="1"/>
          <p:nvPr/>
        </p:nvSpPr>
        <p:spPr>
          <a:xfrm>
            <a:off x="6274834" y="10090178"/>
            <a:ext cx="2924496" cy="202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Ec/Io (dB)</a:t>
            </a:r>
          </a:p>
        </p:txBody>
      </p:sp>
      <p:sp>
        <p:nvSpPr>
          <p:cNvPr id="382" name="Rectangle 36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383" name="Rectangle 97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2100MHz</a:t>
            </a:r>
          </a:p>
        </p:txBody>
      </p:sp>
      <p:grpSp>
        <p:nvGrpSpPr>
          <p:cNvPr id="386" name="Rectangle 99"/>
          <p:cNvGrpSpPr/>
          <p:nvPr/>
        </p:nvGrpSpPr>
        <p:grpSpPr>
          <a:xfrm>
            <a:off x="12242778" y="6286958"/>
            <a:ext cx="2627299" cy="459737"/>
            <a:chOff x="0" y="0"/>
            <a:chExt cx="2627297" cy="459735"/>
          </a:xfrm>
        </p:grpSpPr>
        <p:sp>
          <p:nvSpPr>
            <p:cNvPr id="384" name="Rectangle"/>
            <p:cNvSpPr/>
            <p:nvPr/>
          </p:nvSpPr>
          <p:spPr>
            <a:xfrm>
              <a:off x="-1" y="67851"/>
              <a:ext cx="2627299" cy="324040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85" name="UMTS 2100MHz"/>
            <p:cNvSpPr txBox="1"/>
            <p:nvPr/>
          </p:nvSpPr>
          <p:spPr>
            <a:xfrm>
              <a:off x="55243" y="0"/>
              <a:ext cx="2516809" cy="45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Calibri (Body)"/>
                  <a:ea typeface="Calibri (Body)"/>
                  <a:cs typeface="Calibri (Body)"/>
                  <a:sym typeface="Calibri (Body)"/>
                </a:defRPr>
              </a:lvl1pPr>
            </a:lstStyle>
            <a:p>
              <a:pPr/>
              <a:r>
                <a:t>UMTS 2100MHz</a:t>
              </a:r>
            </a:p>
          </p:txBody>
        </p:sp>
      </p:grpSp>
      <p:grpSp>
        <p:nvGrpSpPr>
          <p:cNvPr id="404" name="Group 20"/>
          <p:cNvGrpSpPr/>
          <p:nvPr/>
        </p:nvGrpSpPr>
        <p:grpSpPr>
          <a:xfrm>
            <a:off x="12368364" y="1843455"/>
            <a:ext cx="1176905" cy="1391541"/>
            <a:chOff x="0" y="-1"/>
            <a:chExt cx="1176904" cy="1391540"/>
          </a:xfrm>
        </p:grpSpPr>
        <p:grpSp>
          <p:nvGrpSpPr>
            <p:cNvPr id="392" name="Group 22"/>
            <p:cNvGrpSpPr/>
            <p:nvPr/>
          </p:nvGrpSpPr>
          <p:grpSpPr>
            <a:xfrm>
              <a:off x="143987" y="410683"/>
              <a:ext cx="619349" cy="879876"/>
              <a:chOff x="0" y="-1"/>
              <a:chExt cx="619348" cy="879875"/>
            </a:xfrm>
          </p:grpSpPr>
          <p:sp>
            <p:nvSpPr>
              <p:cNvPr id="387" name="Rectangle 39"/>
              <p:cNvSpPr/>
              <p:nvPr/>
            </p:nvSpPr>
            <p:spPr>
              <a:xfrm>
                <a:off x="-1" y="-2"/>
                <a:ext cx="619001" cy="177167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88" name="Rectangle 40"/>
              <p:cNvSpPr/>
              <p:nvPr/>
            </p:nvSpPr>
            <p:spPr>
              <a:xfrm>
                <a:off x="-1" y="177165"/>
                <a:ext cx="619001" cy="177167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89" name="Rectangle 41"/>
              <p:cNvSpPr/>
              <p:nvPr/>
            </p:nvSpPr>
            <p:spPr>
              <a:xfrm>
                <a:off x="347" y="354329"/>
                <a:ext cx="619001" cy="1771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90" name="Rectangle 42"/>
              <p:cNvSpPr/>
              <p:nvPr/>
            </p:nvSpPr>
            <p:spPr>
              <a:xfrm>
                <a:off x="347" y="531495"/>
                <a:ext cx="619001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91" name="Rectangle 43"/>
              <p:cNvSpPr/>
              <p:nvPr/>
            </p:nvSpPr>
            <p:spPr>
              <a:xfrm>
                <a:off x="347" y="702708"/>
                <a:ext cx="619001" cy="17716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393" name="Straight Connector 23"/>
            <p:cNvSpPr/>
            <p:nvPr/>
          </p:nvSpPr>
          <p:spPr>
            <a:xfrm>
              <a:off x="677561" y="94217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4" name="Straight Connector 24"/>
            <p:cNvSpPr/>
            <p:nvPr/>
          </p:nvSpPr>
          <p:spPr>
            <a:xfrm>
              <a:off x="677561" y="76549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5" name="Straight Connector 25"/>
            <p:cNvSpPr/>
            <p:nvPr/>
          </p:nvSpPr>
          <p:spPr>
            <a:xfrm>
              <a:off x="677561" y="58784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6" name="Straight Connector 26"/>
            <p:cNvSpPr/>
            <p:nvPr/>
          </p:nvSpPr>
          <p:spPr>
            <a:xfrm>
              <a:off x="677561" y="111553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7" name="TextBox 27"/>
            <p:cNvSpPr txBox="1"/>
            <p:nvPr/>
          </p:nvSpPr>
          <p:spPr>
            <a:xfrm>
              <a:off x="-1" y="-2"/>
              <a:ext cx="101346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UMTS Ec/No (dB)</a:t>
              </a:r>
            </a:p>
          </p:txBody>
        </p:sp>
        <p:sp>
          <p:nvSpPr>
            <p:cNvPr id="398" name="TextBox 32"/>
            <p:cNvSpPr txBox="1"/>
            <p:nvPr/>
          </p:nvSpPr>
          <p:spPr>
            <a:xfrm>
              <a:off x="782344" y="286348"/>
              <a:ext cx="327379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399" name="TextBox 33"/>
            <p:cNvSpPr txBox="1"/>
            <p:nvPr/>
          </p:nvSpPr>
          <p:spPr>
            <a:xfrm>
              <a:off x="845707" y="458249"/>
              <a:ext cx="27063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&gt;-4</a:t>
              </a:r>
            </a:p>
          </p:txBody>
        </p:sp>
        <p:sp>
          <p:nvSpPr>
            <p:cNvPr id="400" name="TextBox 34"/>
            <p:cNvSpPr txBox="1"/>
            <p:nvPr/>
          </p:nvSpPr>
          <p:spPr>
            <a:xfrm>
              <a:off x="844122" y="624818"/>
              <a:ext cx="27063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&gt;-8</a:t>
              </a:r>
            </a:p>
          </p:txBody>
        </p:sp>
        <p:sp>
          <p:nvSpPr>
            <p:cNvPr id="401" name="TextBox 35"/>
            <p:cNvSpPr txBox="1"/>
            <p:nvPr/>
          </p:nvSpPr>
          <p:spPr>
            <a:xfrm>
              <a:off x="841897" y="812580"/>
              <a:ext cx="33500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&gt;-10</a:t>
              </a:r>
            </a:p>
          </p:txBody>
        </p:sp>
        <p:sp>
          <p:nvSpPr>
            <p:cNvPr id="402" name="TextBox 37"/>
            <p:cNvSpPr txBox="1"/>
            <p:nvPr/>
          </p:nvSpPr>
          <p:spPr>
            <a:xfrm>
              <a:off x="841576" y="998316"/>
              <a:ext cx="33500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&gt;-13</a:t>
              </a:r>
            </a:p>
          </p:txBody>
        </p:sp>
        <p:sp>
          <p:nvSpPr>
            <p:cNvPr id="403" name="TextBox 38"/>
            <p:cNvSpPr txBox="1"/>
            <p:nvPr/>
          </p:nvSpPr>
          <p:spPr>
            <a:xfrm>
              <a:off x="799352" y="1163032"/>
              <a:ext cx="30858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Min</a:t>
              </a:r>
            </a:p>
          </p:txBody>
        </p:sp>
      </p:grpSp>
      <p:sp>
        <p:nvSpPr>
          <p:cNvPr id="405" name="DRAWN:  &lt;D&gt;"/>
          <p:cNvSpPr txBox="1"/>
          <p:nvPr/>
        </p:nvSpPr>
        <p:spPr>
          <a:xfrm>
            <a:off x="12322172" y="9282356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406" name="CHECKED: &lt;C&gt;"/>
          <p:cNvSpPr txBox="1"/>
          <p:nvPr/>
        </p:nvSpPr>
        <p:spPr>
          <a:xfrm>
            <a:off x="13113122" y="9282356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407" name="APPROVED: &lt;A&gt;"/>
          <p:cNvSpPr txBox="1"/>
          <p:nvPr/>
        </p:nvSpPr>
        <p:spPr>
          <a:xfrm>
            <a:off x="14081690" y="9282356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408" name="&lt;NUM&gt;"/>
          <p:cNvSpPr txBox="1"/>
          <p:nvPr/>
        </p:nvSpPr>
        <p:spPr>
          <a:xfrm>
            <a:off x="14324158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409" name="&lt;P01&gt;"/>
          <p:cNvSpPr txBox="1"/>
          <p:nvPr/>
        </p:nvSpPr>
        <p:spPr>
          <a:xfrm>
            <a:off x="12598436" y="9708097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410" name="&lt;P02&gt;"/>
          <p:cNvSpPr txBox="1"/>
          <p:nvPr/>
        </p:nvSpPr>
        <p:spPr>
          <a:xfrm>
            <a:off x="12607962" y="9842496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411" name="&lt;&lt;logo&gt;&gt;"/>
          <p:cNvSpPr txBox="1"/>
          <p:nvPr/>
        </p:nvSpPr>
        <p:spPr>
          <a:xfrm>
            <a:off x="13312722" y="875553"/>
            <a:ext cx="1054156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4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18_LTE 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420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423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424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427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29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431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434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9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442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443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445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446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7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448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49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51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452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459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460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461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463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464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465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466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467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46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grpSp>
        <p:nvGrpSpPr>
          <p:cNvPr id="473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471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72" name="LTE 18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1800MHz</a:t>
              </a:r>
            </a:p>
          </p:txBody>
        </p:sp>
      </p:grpSp>
      <p:sp>
        <p:nvSpPr>
          <p:cNvPr id="474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478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479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480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481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82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83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RSRP (dBm)</a:t>
            </a:r>
          </a:p>
        </p:txBody>
      </p:sp>
      <p:grpSp>
        <p:nvGrpSpPr>
          <p:cNvPr id="506" name="Group 59"/>
          <p:cNvGrpSpPr/>
          <p:nvPr/>
        </p:nvGrpSpPr>
        <p:grpSpPr>
          <a:xfrm>
            <a:off x="12275817" y="1792968"/>
            <a:ext cx="1308271" cy="2247723"/>
            <a:chOff x="-1" y="-1"/>
            <a:chExt cx="1308270" cy="2247721"/>
          </a:xfrm>
        </p:grpSpPr>
        <p:sp>
          <p:nvSpPr>
            <p:cNvPr id="484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5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6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7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8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9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90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91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92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493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4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495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496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497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498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499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500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501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502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503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504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505" name="TextBox 126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sp>
        <p:nvSpPr>
          <p:cNvPr id="507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508" name="Rectangle 63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1800MHz</a:t>
            </a:r>
          </a:p>
        </p:txBody>
      </p:sp>
      <p:sp>
        <p:nvSpPr>
          <p:cNvPr id="509" name="DRAWN:  &lt;D&gt;"/>
          <p:cNvSpPr txBox="1"/>
          <p:nvPr/>
        </p:nvSpPr>
        <p:spPr>
          <a:xfrm>
            <a:off x="12299064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510" name="CHECKED: &lt;C&gt;"/>
          <p:cNvSpPr txBox="1"/>
          <p:nvPr/>
        </p:nvSpPr>
        <p:spPr>
          <a:xfrm>
            <a:off x="13136051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511" name="APPROVED: &lt;A&gt;"/>
          <p:cNvSpPr txBox="1"/>
          <p:nvPr/>
        </p:nvSpPr>
        <p:spPr>
          <a:xfrm>
            <a:off x="14039416" y="9281573"/>
            <a:ext cx="709755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512" name="&lt;P01&gt;"/>
          <p:cNvSpPr txBox="1"/>
          <p:nvPr/>
        </p:nvSpPr>
        <p:spPr>
          <a:xfrm>
            <a:off x="12598436" y="9708097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513" name="&lt;P02&gt;"/>
          <p:cNvSpPr txBox="1"/>
          <p:nvPr/>
        </p:nvSpPr>
        <p:spPr>
          <a:xfrm>
            <a:off x="12569541" y="9851239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514" name="&lt;NUM&gt;"/>
          <p:cNvSpPr txBox="1"/>
          <p:nvPr/>
        </p:nvSpPr>
        <p:spPr>
          <a:xfrm>
            <a:off x="14324158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515" name="&lt;&lt;logo&gt;&gt;"/>
          <p:cNvSpPr txBox="1"/>
          <p:nvPr/>
        </p:nvSpPr>
        <p:spPr>
          <a:xfrm>
            <a:off x="13306366" y="875553"/>
            <a:ext cx="1054156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5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18_LTE 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524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527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528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531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33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535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538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9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546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547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549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550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552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553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555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556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563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564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565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567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568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569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570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571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5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sp>
        <p:nvSpPr>
          <p:cNvPr id="575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579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580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581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582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583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584" name="Rectangle 35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587" name="Rectangle 54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585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586" name="LTE 18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1800MHz</a:t>
              </a:r>
            </a:p>
          </p:txBody>
        </p:sp>
      </p:grpSp>
      <p:sp>
        <p:nvSpPr>
          <p:cNvPr id="588" name="Rectangle 56"/>
          <p:cNvSpPr txBox="1"/>
          <p:nvPr/>
        </p:nvSpPr>
        <p:spPr>
          <a:xfrm>
            <a:off x="6274834" y="10083708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SNIR (dB)</a:t>
            </a:r>
          </a:p>
        </p:txBody>
      </p:sp>
      <p:sp>
        <p:nvSpPr>
          <p:cNvPr id="589" name="Rectangle 57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1800MHz</a:t>
            </a:r>
          </a:p>
        </p:txBody>
      </p:sp>
      <p:grpSp>
        <p:nvGrpSpPr>
          <p:cNvPr id="606" name="Group 43"/>
          <p:cNvGrpSpPr/>
          <p:nvPr/>
        </p:nvGrpSpPr>
        <p:grpSpPr>
          <a:xfrm>
            <a:off x="12144184" y="1695398"/>
            <a:ext cx="1269044" cy="1164239"/>
            <a:chOff x="-1" y="-1"/>
            <a:chExt cx="1269043" cy="1164238"/>
          </a:xfrm>
        </p:grpSpPr>
        <p:grpSp>
          <p:nvGrpSpPr>
            <p:cNvPr id="595" name="Group 55"/>
            <p:cNvGrpSpPr/>
            <p:nvPr/>
          </p:nvGrpSpPr>
          <p:grpSpPr>
            <a:xfrm>
              <a:off x="255734" y="284359"/>
              <a:ext cx="619349" cy="879879"/>
              <a:chOff x="0" y="-1"/>
              <a:chExt cx="619347" cy="879878"/>
            </a:xfrm>
          </p:grpSpPr>
          <p:sp>
            <p:nvSpPr>
              <p:cNvPr id="590" name="Rectangle 71"/>
              <p:cNvSpPr/>
              <p:nvPr/>
            </p:nvSpPr>
            <p:spPr>
              <a:xfrm>
                <a:off x="-1" y="-2"/>
                <a:ext cx="618999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1" name="Rectangle 72"/>
              <p:cNvSpPr/>
              <p:nvPr/>
            </p:nvSpPr>
            <p:spPr>
              <a:xfrm>
                <a:off x="0" y="177165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2" name="Rectangle 73"/>
              <p:cNvSpPr/>
              <p:nvPr/>
            </p:nvSpPr>
            <p:spPr>
              <a:xfrm>
                <a:off x="348" y="354331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3" name="Rectangle 74"/>
              <p:cNvSpPr/>
              <p:nvPr/>
            </p:nvSpPr>
            <p:spPr>
              <a:xfrm>
                <a:off x="348" y="531497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4" name="Rectangle 75"/>
              <p:cNvSpPr/>
              <p:nvPr/>
            </p:nvSpPr>
            <p:spPr>
              <a:xfrm>
                <a:off x="348" y="702710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96" name="Straight Connector 60"/>
            <p:cNvSpPr/>
            <p:nvPr/>
          </p:nvSpPr>
          <p:spPr>
            <a:xfrm>
              <a:off x="811837" y="81667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97" name="Straight Connector 61"/>
            <p:cNvSpPr/>
            <p:nvPr/>
          </p:nvSpPr>
          <p:spPr>
            <a:xfrm>
              <a:off x="812086" y="63869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98" name="Straight Connector 63"/>
            <p:cNvSpPr/>
            <p:nvPr/>
          </p:nvSpPr>
          <p:spPr>
            <a:xfrm>
              <a:off x="812086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99" name="Straight Connector 64"/>
            <p:cNvSpPr/>
            <p:nvPr/>
          </p:nvSpPr>
          <p:spPr>
            <a:xfrm>
              <a:off x="830247" y="98706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00" name="TextBox 65"/>
            <p:cNvSpPr txBox="1"/>
            <p:nvPr/>
          </p:nvSpPr>
          <p:spPr>
            <a:xfrm>
              <a:off x="-2" y="-2"/>
              <a:ext cx="1013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sp>
          <p:nvSpPr>
            <p:cNvPr id="601" name="TextBox 66"/>
            <p:cNvSpPr txBox="1"/>
            <p:nvPr/>
          </p:nvSpPr>
          <p:spPr>
            <a:xfrm>
              <a:off x="880764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602" name="TextBox 67"/>
            <p:cNvSpPr txBox="1"/>
            <p:nvPr/>
          </p:nvSpPr>
          <p:spPr>
            <a:xfrm>
              <a:off x="935955" y="339737"/>
              <a:ext cx="32483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603" name="TextBox 68"/>
            <p:cNvSpPr txBox="1"/>
            <p:nvPr/>
          </p:nvSpPr>
          <p:spPr>
            <a:xfrm>
              <a:off x="944206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604" name="TextBox 69"/>
            <p:cNvSpPr txBox="1"/>
            <p:nvPr/>
          </p:nvSpPr>
          <p:spPr>
            <a:xfrm>
              <a:off x="980237" y="695081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605" name="TextBox 70"/>
            <p:cNvSpPr txBox="1"/>
            <p:nvPr/>
          </p:nvSpPr>
          <p:spPr>
            <a:xfrm>
              <a:off x="977067" y="876823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sp>
        <p:nvSpPr>
          <p:cNvPr id="607" name="DRAWN:  &lt;D&gt;"/>
          <p:cNvSpPr txBox="1"/>
          <p:nvPr/>
        </p:nvSpPr>
        <p:spPr>
          <a:xfrm>
            <a:off x="12299064" y="9274488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608" name="CHECKED: &lt;C&gt;"/>
          <p:cNvSpPr txBox="1"/>
          <p:nvPr/>
        </p:nvSpPr>
        <p:spPr>
          <a:xfrm>
            <a:off x="13136051" y="928239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609" name="APPROVED: &lt;A&gt;"/>
          <p:cNvSpPr txBox="1"/>
          <p:nvPr/>
        </p:nvSpPr>
        <p:spPr>
          <a:xfrm>
            <a:off x="14039416" y="9288988"/>
            <a:ext cx="709755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610" name="&lt;P01&gt;"/>
          <p:cNvSpPr txBox="1"/>
          <p:nvPr/>
        </p:nvSpPr>
        <p:spPr>
          <a:xfrm>
            <a:off x="12598436" y="9704958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611" name="&lt;P02&gt;"/>
          <p:cNvSpPr txBox="1"/>
          <p:nvPr/>
        </p:nvSpPr>
        <p:spPr>
          <a:xfrm>
            <a:off x="12592863" y="9857189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612" name="&lt;NUM&gt;"/>
          <p:cNvSpPr txBox="1"/>
          <p:nvPr/>
        </p:nvSpPr>
        <p:spPr>
          <a:xfrm>
            <a:off x="14298897" y="9155237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613" name="&lt;&lt;logo&gt;&gt;"/>
          <p:cNvSpPr txBox="1"/>
          <p:nvPr/>
        </p:nvSpPr>
        <p:spPr>
          <a:xfrm>
            <a:off x="13287390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6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1_LTE 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622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625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626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629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31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633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636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644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645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647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648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650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51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2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53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654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6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661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662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663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665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666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667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668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669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67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671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grpSp>
        <p:nvGrpSpPr>
          <p:cNvPr id="675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673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674" name="LTE 21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2100MHz</a:t>
              </a:r>
            </a:p>
          </p:txBody>
        </p:sp>
      </p:grpSp>
      <p:sp>
        <p:nvSpPr>
          <p:cNvPr id="676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680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681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682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683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84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85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RSRP (dBm)</a:t>
            </a:r>
          </a:p>
        </p:txBody>
      </p:sp>
      <p:grpSp>
        <p:nvGrpSpPr>
          <p:cNvPr id="708" name="Group 59"/>
          <p:cNvGrpSpPr/>
          <p:nvPr/>
        </p:nvGrpSpPr>
        <p:grpSpPr>
          <a:xfrm>
            <a:off x="12275817" y="1792968"/>
            <a:ext cx="1308271" cy="2247723"/>
            <a:chOff x="-1" y="-1"/>
            <a:chExt cx="1308270" cy="2247721"/>
          </a:xfrm>
        </p:grpSpPr>
        <p:sp>
          <p:nvSpPr>
            <p:cNvPr id="686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87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88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89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0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1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2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3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4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695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6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697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698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699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700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701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702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703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704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705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706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707" name="TextBox 126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sp>
        <p:nvSpPr>
          <p:cNvPr id="709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710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2100MHz</a:t>
            </a:r>
          </a:p>
        </p:txBody>
      </p:sp>
      <p:sp>
        <p:nvSpPr>
          <p:cNvPr id="711" name="DRAWN:  &lt;D&gt;"/>
          <p:cNvSpPr txBox="1"/>
          <p:nvPr/>
        </p:nvSpPr>
        <p:spPr>
          <a:xfrm>
            <a:off x="12336953" y="9274488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712" name="CHECKED: &lt;C&gt;"/>
          <p:cNvSpPr txBox="1"/>
          <p:nvPr/>
        </p:nvSpPr>
        <p:spPr>
          <a:xfrm>
            <a:off x="13186113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713" name="APPROVED: &lt;A&gt;"/>
          <p:cNvSpPr txBox="1"/>
          <p:nvPr/>
        </p:nvSpPr>
        <p:spPr>
          <a:xfrm>
            <a:off x="14081690" y="9288988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714" name="&lt;P01&gt;"/>
          <p:cNvSpPr txBox="1"/>
          <p:nvPr/>
        </p:nvSpPr>
        <p:spPr>
          <a:xfrm>
            <a:off x="12598436" y="9714745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715" name="&lt;P02&gt;"/>
          <p:cNvSpPr txBox="1"/>
          <p:nvPr/>
        </p:nvSpPr>
        <p:spPr>
          <a:xfrm>
            <a:off x="12597425" y="9854494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716" name="&lt;NUM&gt;"/>
          <p:cNvSpPr txBox="1"/>
          <p:nvPr/>
        </p:nvSpPr>
        <p:spPr>
          <a:xfrm>
            <a:off x="14324158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717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7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1_LTE 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726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729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730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733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35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737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740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748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749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0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751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752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754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5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7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758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0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765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766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767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769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770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771" name="TextBox 31"/>
          <p:cNvSpPr txBox="1"/>
          <p:nvPr/>
        </p:nvSpPr>
        <p:spPr>
          <a:xfrm>
            <a:off x="12229823" y="7989785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772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773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77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775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sp>
        <p:nvSpPr>
          <p:cNvPr id="777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781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782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783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784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5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6" name="Rectangle 35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803" name="Group 36"/>
          <p:cNvGrpSpPr/>
          <p:nvPr/>
        </p:nvGrpSpPr>
        <p:grpSpPr>
          <a:xfrm>
            <a:off x="12144184" y="1695398"/>
            <a:ext cx="1269044" cy="1164239"/>
            <a:chOff x="-1" y="-1"/>
            <a:chExt cx="1269043" cy="1164238"/>
          </a:xfrm>
        </p:grpSpPr>
        <p:grpSp>
          <p:nvGrpSpPr>
            <p:cNvPr id="792" name="Group 37"/>
            <p:cNvGrpSpPr/>
            <p:nvPr/>
          </p:nvGrpSpPr>
          <p:grpSpPr>
            <a:xfrm>
              <a:off x="255734" y="284359"/>
              <a:ext cx="619349" cy="879879"/>
              <a:chOff x="0" y="-1"/>
              <a:chExt cx="619347" cy="879878"/>
            </a:xfrm>
          </p:grpSpPr>
          <p:sp>
            <p:nvSpPr>
              <p:cNvPr id="787" name="Rectangle 48"/>
              <p:cNvSpPr/>
              <p:nvPr/>
            </p:nvSpPr>
            <p:spPr>
              <a:xfrm>
                <a:off x="-1" y="-2"/>
                <a:ext cx="618999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8" name="Rectangle 49"/>
              <p:cNvSpPr/>
              <p:nvPr/>
            </p:nvSpPr>
            <p:spPr>
              <a:xfrm>
                <a:off x="0" y="177165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9" name="Rectangle 50"/>
              <p:cNvSpPr/>
              <p:nvPr/>
            </p:nvSpPr>
            <p:spPr>
              <a:xfrm>
                <a:off x="348" y="354331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0" name="Rectangle 51"/>
              <p:cNvSpPr/>
              <p:nvPr/>
            </p:nvSpPr>
            <p:spPr>
              <a:xfrm>
                <a:off x="348" y="531497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" name="Rectangle 52"/>
              <p:cNvSpPr/>
              <p:nvPr/>
            </p:nvSpPr>
            <p:spPr>
              <a:xfrm>
                <a:off x="348" y="702710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793" name="Straight Connector 38"/>
            <p:cNvSpPr/>
            <p:nvPr/>
          </p:nvSpPr>
          <p:spPr>
            <a:xfrm>
              <a:off x="811837" y="81667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94" name="Straight Connector 39"/>
            <p:cNvSpPr/>
            <p:nvPr/>
          </p:nvSpPr>
          <p:spPr>
            <a:xfrm>
              <a:off x="812086" y="63869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95" name="Straight Connector 40"/>
            <p:cNvSpPr/>
            <p:nvPr/>
          </p:nvSpPr>
          <p:spPr>
            <a:xfrm>
              <a:off x="812086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96" name="Straight Connector 41"/>
            <p:cNvSpPr/>
            <p:nvPr/>
          </p:nvSpPr>
          <p:spPr>
            <a:xfrm>
              <a:off x="830247" y="98706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97" name="TextBox 42"/>
            <p:cNvSpPr txBox="1"/>
            <p:nvPr/>
          </p:nvSpPr>
          <p:spPr>
            <a:xfrm>
              <a:off x="-2" y="-2"/>
              <a:ext cx="1013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sp>
          <p:nvSpPr>
            <p:cNvPr id="798" name="TextBox 43"/>
            <p:cNvSpPr txBox="1"/>
            <p:nvPr/>
          </p:nvSpPr>
          <p:spPr>
            <a:xfrm>
              <a:off x="880764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799" name="TextBox 44"/>
            <p:cNvSpPr txBox="1"/>
            <p:nvPr/>
          </p:nvSpPr>
          <p:spPr>
            <a:xfrm>
              <a:off x="935955" y="339737"/>
              <a:ext cx="32483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800" name="TextBox 45"/>
            <p:cNvSpPr txBox="1"/>
            <p:nvPr/>
          </p:nvSpPr>
          <p:spPr>
            <a:xfrm>
              <a:off x="944206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801" name="TextBox 46"/>
            <p:cNvSpPr txBox="1"/>
            <p:nvPr/>
          </p:nvSpPr>
          <p:spPr>
            <a:xfrm>
              <a:off x="980237" y="695081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802" name="TextBox 47"/>
            <p:cNvSpPr txBox="1"/>
            <p:nvPr/>
          </p:nvSpPr>
          <p:spPr>
            <a:xfrm>
              <a:off x="977067" y="876823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grpSp>
        <p:nvGrpSpPr>
          <p:cNvPr id="806" name="Rectangle 54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804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805" name="LTE 21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2100MHz</a:t>
              </a:r>
            </a:p>
          </p:txBody>
        </p:sp>
      </p:grpSp>
      <p:sp>
        <p:nvSpPr>
          <p:cNvPr id="807" name="Rectangle 56"/>
          <p:cNvSpPr txBox="1"/>
          <p:nvPr/>
        </p:nvSpPr>
        <p:spPr>
          <a:xfrm>
            <a:off x="6274834" y="10083708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SNIR (dB)</a:t>
            </a:r>
          </a:p>
        </p:txBody>
      </p:sp>
      <p:sp>
        <p:nvSpPr>
          <p:cNvPr id="808" name="Rectangle 55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2100MHz</a:t>
            </a:r>
          </a:p>
        </p:txBody>
      </p:sp>
      <p:sp>
        <p:nvSpPr>
          <p:cNvPr id="809" name="DRAWN:  &lt;D&gt;"/>
          <p:cNvSpPr txBox="1"/>
          <p:nvPr/>
        </p:nvSpPr>
        <p:spPr>
          <a:xfrm>
            <a:off x="12322172" y="9274488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810" name="CHECKED: &lt;C&gt;"/>
          <p:cNvSpPr txBox="1"/>
          <p:nvPr/>
        </p:nvSpPr>
        <p:spPr>
          <a:xfrm>
            <a:off x="13113122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811" name="APPROVED: &lt;A&gt;"/>
          <p:cNvSpPr txBox="1"/>
          <p:nvPr/>
        </p:nvSpPr>
        <p:spPr>
          <a:xfrm>
            <a:off x="14081690" y="9281573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812" name="&lt;NUM&gt;"/>
          <p:cNvSpPr txBox="1"/>
          <p:nvPr/>
        </p:nvSpPr>
        <p:spPr>
          <a:xfrm>
            <a:off x="14324158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813" name="&lt;P01&gt;"/>
          <p:cNvSpPr txBox="1"/>
          <p:nvPr/>
        </p:nvSpPr>
        <p:spPr>
          <a:xfrm>
            <a:off x="12598436" y="9704958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814" name="&lt;P02&gt;"/>
          <p:cNvSpPr txBox="1"/>
          <p:nvPr/>
        </p:nvSpPr>
        <p:spPr>
          <a:xfrm>
            <a:off x="12592863" y="9862504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815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8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3_LTE 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824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5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827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828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0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831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833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835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838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9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2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846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847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849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850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852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3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5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856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863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864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865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867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868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869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870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871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8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873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grpSp>
        <p:nvGrpSpPr>
          <p:cNvPr id="877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875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876" name="LTE 23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2300MHz</a:t>
              </a:r>
            </a:p>
          </p:txBody>
        </p:sp>
      </p:grpSp>
      <p:sp>
        <p:nvSpPr>
          <p:cNvPr id="878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882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883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884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885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6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7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RSRP (dBm)</a:t>
            </a:r>
          </a:p>
        </p:txBody>
      </p:sp>
      <p:grpSp>
        <p:nvGrpSpPr>
          <p:cNvPr id="910" name="Group 59"/>
          <p:cNvGrpSpPr/>
          <p:nvPr/>
        </p:nvGrpSpPr>
        <p:grpSpPr>
          <a:xfrm>
            <a:off x="12275817" y="1792968"/>
            <a:ext cx="1308271" cy="2247723"/>
            <a:chOff x="-1" y="-1"/>
            <a:chExt cx="1308270" cy="2247721"/>
          </a:xfrm>
        </p:grpSpPr>
        <p:sp>
          <p:nvSpPr>
            <p:cNvPr id="888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89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0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1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2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3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4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5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6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897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8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899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900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901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902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903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904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905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906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907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908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909" name="TextBox 126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sp>
        <p:nvSpPr>
          <p:cNvPr id="911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912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2300MHz</a:t>
            </a:r>
          </a:p>
        </p:txBody>
      </p:sp>
      <p:sp>
        <p:nvSpPr>
          <p:cNvPr id="913" name="DRAWN:  &lt;D&gt;"/>
          <p:cNvSpPr txBox="1"/>
          <p:nvPr/>
        </p:nvSpPr>
        <p:spPr>
          <a:xfrm>
            <a:off x="12299064" y="9274488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914" name="CHECKED: &lt;C&gt;"/>
          <p:cNvSpPr txBox="1"/>
          <p:nvPr/>
        </p:nvSpPr>
        <p:spPr>
          <a:xfrm>
            <a:off x="13136051" y="928239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915" name="APPROVED: &lt;A&gt;"/>
          <p:cNvSpPr txBox="1"/>
          <p:nvPr/>
        </p:nvSpPr>
        <p:spPr>
          <a:xfrm>
            <a:off x="14039416" y="9282393"/>
            <a:ext cx="709755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916" name="&lt;NUM&gt;"/>
          <p:cNvSpPr txBox="1"/>
          <p:nvPr/>
        </p:nvSpPr>
        <p:spPr>
          <a:xfrm>
            <a:off x="14298897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917" name="&lt;P01&gt;"/>
          <p:cNvSpPr txBox="1"/>
          <p:nvPr/>
        </p:nvSpPr>
        <p:spPr>
          <a:xfrm>
            <a:off x="12618696" y="9714745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918" name="&lt;P02&gt;"/>
          <p:cNvSpPr txBox="1"/>
          <p:nvPr/>
        </p:nvSpPr>
        <p:spPr>
          <a:xfrm>
            <a:off x="12601233" y="9864945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919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9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3_LTE 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928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931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932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935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937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939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942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950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951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953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954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956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7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9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960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967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968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969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971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972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973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974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975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97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977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sp>
        <p:nvSpPr>
          <p:cNvPr id="979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983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984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985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986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7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8" name="Rectangle 35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005" name="Group 36"/>
          <p:cNvGrpSpPr/>
          <p:nvPr/>
        </p:nvGrpSpPr>
        <p:grpSpPr>
          <a:xfrm>
            <a:off x="12144184" y="1695398"/>
            <a:ext cx="1269044" cy="1164239"/>
            <a:chOff x="-1" y="-1"/>
            <a:chExt cx="1269043" cy="1164238"/>
          </a:xfrm>
        </p:grpSpPr>
        <p:grpSp>
          <p:nvGrpSpPr>
            <p:cNvPr id="994" name="Group 37"/>
            <p:cNvGrpSpPr/>
            <p:nvPr/>
          </p:nvGrpSpPr>
          <p:grpSpPr>
            <a:xfrm>
              <a:off x="255734" y="284359"/>
              <a:ext cx="619349" cy="879879"/>
              <a:chOff x="0" y="-1"/>
              <a:chExt cx="619347" cy="879878"/>
            </a:xfrm>
          </p:grpSpPr>
          <p:sp>
            <p:nvSpPr>
              <p:cNvPr id="989" name="Rectangle 48"/>
              <p:cNvSpPr/>
              <p:nvPr/>
            </p:nvSpPr>
            <p:spPr>
              <a:xfrm>
                <a:off x="-1" y="-2"/>
                <a:ext cx="618999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90" name="Rectangle 49"/>
              <p:cNvSpPr/>
              <p:nvPr/>
            </p:nvSpPr>
            <p:spPr>
              <a:xfrm>
                <a:off x="0" y="177165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91" name="Rectangle 50"/>
              <p:cNvSpPr/>
              <p:nvPr/>
            </p:nvSpPr>
            <p:spPr>
              <a:xfrm>
                <a:off x="348" y="354331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92" name="Rectangle 51"/>
              <p:cNvSpPr/>
              <p:nvPr/>
            </p:nvSpPr>
            <p:spPr>
              <a:xfrm>
                <a:off x="348" y="531497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93" name="Rectangle 52"/>
              <p:cNvSpPr/>
              <p:nvPr/>
            </p:nvSpPr>
            <p:spPr>
              <a:xfrm>
                <a:off x="348" y="702710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995" name="Straight Connector 38"/>
            <p:cNvSpPr/>
            <p:nvPr/>
          </p:nvSpPr>
          <p:spPr>
            <a:xfrm>
              <a:off x="811837" y="81667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6" name="Straight Connector 39"/>
            <p:cNvSpPr/>
            <p:nvPr/>
          </p:nvSpPr>
          <p:spPr>
            <a:xfrm>
              <a:off x="812086" y="63869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7" name="Straight Connector 40"/>
            <p:cNvSpPr/>
            <p:nvPr/>
          </p:nvSpPr>
          <p:spPr>
            <a:xfrm>
              <a:off x="812086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8" name="Straight Connector 41"/>
            <p:cNvSpPr/>
            <p:nvPr/>
          </p:nvSpPr>
          <p:spPr>
            <a:xfrm>
              <a:off x="830247" y="98706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9" name="TextBox 42"/>
            <p:cNvSpPr txBox="1"/>
            <p:nvPr/>
          </p:nvSpPr>
          <p:spPr>
            <a:xfrm>
              <a:off x="-2" y="-2"/>
              <a:ext cx="1013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sp>
          <p:nvSpPr>
            <p:cNvPr id="1000" name="TextBox 43"/>
            <p:cNvSpPr txBox="1"/>
            <p:nvPr/>
          </p:nvSpPr>
          <p:spPr>
            <a:xfrm>
              <a:off x="880764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001" name="TextBox 44"/>
            <p:cNvSpPr txBox="1"/>
            <p:nvPr/>
          </p:nvSpPr>
          <p:spPr>
            <a:xfrm>
              <a:off x="935955" y="339737"/>
              <a:ext cx="32483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1002" name="TextBox 45"/>
            <p:cNvSpPr txBox="1"/>
            <p:nvPr/>
          </p:nvSpPr>
          <p:spPr>
            <a:xfrm>
              <a:off x="944206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1003" name="TextBox 46"/>
            <p:cNvSpPr txBox="1"/>
            <p:nvPr/>
          </p:nvSpPr>
          <p:spPr>
            <a:xfrm>
              <a:off x="980237" y="695081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1004" name="TextBox 47"/>
            <p:cNvSpPr txBox="1"/>
            <p:nvPr/>
          </p:nvSpPr>
          <p:spPr>
            <a:xfrm>
              <a:off x="977067" y="876823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grpSp>
        <p:nvGrpSpPr>
          <p:cNvPr id="1008" name="Rectangle 54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006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007" name="LTE 23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2300MHz</a:t>
              </a:r>
            </a:p>
          </p:txBody>
        </p:sp>
      </p:grpSp>
      <p:sp>
        <p:nvSpPr>
          <p:cNvPr id="1009" name="Rectangle 56"/>
          <p:cNvSpPr txBox="1"/>
          <p:nvPr/>
        </p:nvSpPr>
        <p:spPr>
          <a:xfrm>
            <a:off x="6274834" y="10083708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SNIR (dB)</a:t>
            </a:r>
          </a:p>
        </p:txBody>
      </p:sp>
      <p:sp>
        <p:nvSpPr>
          <p:cNvPr id="1010" name="Rectangle 55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2300MHz</a:t>
            </a:r>
          </a:p>
        </p:txBody>
      </p:sp>
      <p:sp>
        <p:nvSpPr>
          <p:cNvPr id="1011" name="DRAWN:  &lt;D&gt;"/>
          <p:cNvSpPr txBox="1"/>
          <p:nvPr/>
        </p:nvSpPr>
        <p:spPr>
          <a:xfrm>
            <a:off x="12336953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012" name="CHECKED: &lt;C&gt;"/>
          <p:cNvSpPr txBox="1"/>
          <p:nvPr/>
        </p:nvSpPr>
        <p:spPr>
          <a:xfrm>
            <a:off x="13136051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013" name="&lt;NUM&gt;"/>
          <p:cNvSpPr txBox="1"/>
          <p:nvPr/>
        </p:nvSpPr>
        <p:spPr>
          <a:xfrm>
            <a:off x="14298897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014" name="APPROVED: &lt;A&gt;"/>
          <p:cNvSpPr txBox="1"/>
          <p:nvPr/>
        </p:nvSpPr>
        <p:spPr>
          <a:xfrm>
            <a:off x="14001526" y="9284993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015" name="&lt;P01&gt;"/>
          <p:cNvSpPr txBox="1"/>
          <p:nvPr/>
        </p:nvSpPr>
        <p:spPr>
          <a:xfrm>
            <a:off x="12598436" y="9708097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016" name="&lt;P02&gt;"/>
          <p:cNvSpPr txBox="1"/>
          <p:nvPr/>
        </p:nvSpPr>
        <p:spPr>
          <a:xfrm>
            <a:off x="12598436" y="9857189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017" name="&lt;&lt;logo&gt;&gt;"/>
          <p:cNvSpPr txBox="1"/>
          <p:nvPr/>
        </p:nvSpPr>
        <p:spPr>
          <a:xfrm>
            <a:off x="13272913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0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6_LTE 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026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029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030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2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033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035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037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040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7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048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049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051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052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054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5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7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058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2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065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066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067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069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070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071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072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073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07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grpSp>
        <p:nvGrpSpPr>
          <p:cNvPr id="1079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077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078" name="LTE 26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2600MHz</a:t>
              </a:r>
            </a:p>
          </p:txBody>
        </p:sp>
      </p:grpSp>
      <p:sp>
        <p:nvSpPr>
          <p:cNvPr id="1080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2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084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085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086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087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8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9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RSRP (dBm)</a:t>
            </a:r>
          </a:p>
        </p:txBody>
      </p:sp>
      <p:grpSp>
        <p:nvGrpSpPr>
          <p:cNvPr id="1112" name="Group 59"/>
          <p:cNvGrpSpPr/>
          <p:nvPr/>
        </p:nvGrpSpPr>
        <p:grpSpPr>
          <a:xfrm>
            <a:off x="12275817" y="1792968"/>
            <a:ext cx="1308271" cy="2247723"/>
            <a:chOff x="-1" y="-1"/>
            <a:chExt cx="1308270" cy="2247721"/>
          </a:xfrm>
        </p:grpSpPr>
        <p:sp>
          <p:nvSpPr>
            <p:cNvPr id="1090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1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2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3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4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5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6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7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98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099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00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101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102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1103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104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1105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1106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1107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1108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1109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1110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111" name="TextBox 126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sp>
        <p:nvSpPr>
          <p:cNvPr id="1113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1114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2600MHz</a:t>
            </a:r>
          </a:p>
        </p:txBody>
      </p:sp>
      <p:sp>
        <p:nvSpPr>
          <p:cNvPr id="1115" name="DRAWN:  &lt;D&gt;"/>
          <p:cNvSpPr txBox="1"/>
          <p:nvPr/>
        </p:nvSpPr>
        <p:spPr>
          <a:xfrm>
            <a:off x="12299064" y="928499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116" name="CHECKED: &lt;C&gt;"/>
          <p:cNvSpPr txBox="1"/>
          <p:nvPr/>
        </p:nvSpPr>
        <p:spPr>
          <a:xfrm>
            <a:off x="13101568" y="9274488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117" name="APPROVED: &lt;A&gt;"/>
          <p:cNvSpPr txBox="1"/>
          <p:nvPr/>
        </p:nvSpPr>
        <p:spPr>
          <a:xfrm>
            <a:off x="14081690" y="9281573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118" name="&lt;P01&gt;"/>
          <p:cNvSpPr txBox="1"/>
          <p:nvPr/>
        </p:nvSpPr>
        <p:spPr>
          <a:xfrm>
            <a:off x="12598436" y="9714745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119" name="&lt;P02&gt;"/>
          <p:cNvSpPr txBox="1"/>
          <p:nvPr/>
        </p:nvSpPr>
        <p:spPr>
          <a:xfrm>
            <a:off x="12592863" y="9854494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120" name="&lt;NUM&gt;"/>
          <p:cNvSpPr txBox="1"/>
          <p:nvPr/>
        </p:nvSpPr>
        <p:spPr>
          <a:xfrm>
            <a:off x="14324158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121" name="&lt;&lt;logo&gt;&gt;"/>
          <p:cNvSpPr txBox="1"/>
          <p:nvPr/>
        </p:nvSpPr>
        <p:spPr>
          <a:xfrm>
            <a:off x="13229485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26_LTE 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130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2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133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134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137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139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141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2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144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152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153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155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156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158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9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1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162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169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170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171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173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174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175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176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177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17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179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sp>
        <p:nvSpPr>
          <p:cNvPr id="1181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185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186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187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188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9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90" name="Rectangle 35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207" name="Group 36"/>
          <p:cNvGrpSpPr/>
          <p:nvPr/>
        </p:nvGrpSpPr>
        <p:grpSpPr>
          <a:xfrm>
            <a:off x="12144184" y="1695398"/>
            <a:ext cx="1269044" cy="1164239"/>
            <a:chOff x="-1" y="-1"/>
            <a:chExt cx="1269043" cy="1164238"/>
          </a:xfrm>
        </p:grpSpPr>
        <p:grpSp>
          <p:nvGrpSpPr>
            <p:cNvPr id="1196" name="Group 37"/>
            <p:cNvGrpSpPr/>
            <p:nvPr/>
          </p:nvGrpSpPr>
          <p:grpSpPr>
            <a:xfrm>
              <a:off x="255734" y="284359"/>
              <a:ext cx="619349" cy="879879"/>
              <a:chOff x="0" y="-1"/>
              <a:chExt cx="619347" cy="879878"/>
            </a:xfrm>
          </p:grpSpPr>
          <p:sp>
            <p:nvSpPr>
              <p:cNvPr id="1191" name="Rectangle 48"/>
              <p:cNvSpPr/>
              <p:nvPr/>
            </p:nvSpPr>
            <p:spPr>
              <a:xfrm>
                <a:off x="-1" y="-2"/>
                <a:ext cx="618999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92" name="Rectangle 49"/>
              <p:cNvSpPr/>
              <p:nvPr/>
            </p:nvSpPr>
            <p:spPr>
              <a:xfrm>
                <a:off x="0" y="177165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93" name="Rectangle 50"/>
              <p:cNvSpPr/>
              <p:nvPr/>
            </p:nvSpPr>
            <p:spPr>
              <a:xfrm>
                <a:off x="348" y="354331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94" name="Rectangle 51"/>
              <p:cNvSpPr/>
              <p:nvPr/>
            </p:nvSpPr>
            <p:spPr>
              <a:xfrm>
                <a:off x="348" y="531497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95" name="Rectangle 52"/>
              <p:cNvSpPr/>
              <p:nvPr/>
            </p:nvSpPr>
            <p:spPr>
              <a:xfrm>
                <a:off x="348" y="702710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197" name="Straight Connector 38"/>
            <p:cNvSpPr/>
            <p:nvPr/>
          </p:nvSpPr>
          <p:spPr>
            <a:xfrm>
              <a:off x="811837" y="81667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98" name="Straight Connector 39"/>
            <p:cNvSpPr/>
            <p:nvPr/>
          </p:nvSpPr>
          <p:spPr>
            <a:xfrm>
              <a:off x="812086" y="63869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99" name="Straight Connector 40"/>
            <p:cNvSpPr/>
            <p:nvPr/>
          </p:nvSpPr>
          <p:spPr>
            <a:xfrm>
              <a:off x="812086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00" name="Straight Connector 41"/>
            <p:cNvSpPr/>
            <p:nvPr/>
          </p:nvSpPr>
          <p:spPr>
            <a:xfrm>
              <a:off x="830247" y="98706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01" name="TextBox 42"/>
            <p:cNvSpPr txBox="1"/>
            <p:nvPr/>
          </p:nvSpPr>
          <p:spPr>
            <a:xfrm>
              <a:off x="-2" y="-2"/>
              <a:ext cx="1013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sp>
          <p:nvSpPr>
            <p:cNvPr id="1202" name="TextBox 43"/>
            <p:cNvSpPr txBox="1"/>
            <p:nvPr/>
          </p:nvSpPr>
          <p:spPr>
            <a:xfrm>
              <a:off x="880764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203" name="TextBox 44"/>
            <p:cNvSpPr txBox="1"/>
            <p:nvPr/>
          </p:nvSpPr>
          <p:spPr>
            <a:xfrm>
              <a:off x="935955" y="339737"/>
              <a:ext cx="32483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1204" name="TextBox 45"/>
            <p:cNvSpPr txBox="1"/>
            <p:nvPr/>
          </p:nvSpPr>
          <p:spPr>
            <a:xfrm>
              <a:off x="944206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1205" name="TextBox 46"/>
            <p:cNvSpPr txBox="1"/>
            <p:nvPr/>
          </p:nvSpPr>
          <p:spPr>
            <a:xfrm>
              <a:off x="980237" y="695081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1206" name="TextBox 47"/>
            <p:cNvSpPr txBox="1"/>
            <p:nvPr/>
          </p:nvSpPr>
          <p:spPr>
            <a:xfrm>
              <a:off x="977067" y="876823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grpSp>
        <p:nvGrpSpPr>
          <p:cNvPr id="1210" name="Rectangle 54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208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209" name="LTE 26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2600MHz</a:t>
              </a:r>
            </a:p>
          </p:txBody>
        </p:sp>
      </p:grpSp>
      <p:sp>
        <p:nvSpPr>
          <p:cNvPr id="1211" name="Rectangle 56"/>
          <p:cNvSpPr txBox="1"/>
          <p:nvPr/>
        </p:nvSpPr>
        <p:spPr>
          <a:xfrm>
            <a:off x="6274834" y="10083708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SNIR (dB)</a:t>
            </a:r>
          </a:p>
        </p:txBody>
      </p:sp>
      <p:sp>
        <p:nvSpPr>
          <p:cNvPr id="1212" name="Rectangle 55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2600MHz</a:t>
            </a:r>
          </a:p>
        </p:txBody>
      </p:sp>
      <p:sp>
        <p:nvSpPr>
          <p:cNvPr id="1213" name="DRAWN:  &lt;D&gt;"/>
          <p:cNvSpPr txBox="1"/>
          <p:nvPr/>
        </p:nvSpPr>
        <p:spPr>
          <a:xfrm>
            <a:off x="12322172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214" name="CHECKED: &lt;C&gt;"/>
          <p:cNvSpPr txBox="1"/>
          <p:nvPr/>
        </p:nvSpPr>
        <p:spPr>
          <a:xfrm>
            <a:off x="13113122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215" name="APPROVED: &lt;A&gt;"/>
          <p:cNvSpPr txBox="1"/>
          <p:nvPr/>
        </p:nvSpPr>
        <p:spPr>
          <a:xfrm>
            <a:off x="14081690" y="9288988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216" name="&lt;P01&gt;"/>
          <p:cNvSpPr txBox="1"/>
          <p:nvPr/>
        </p:nvSpPr>
        <p:spPr>
          <a:xfrm>
            <a:off x="12614346" y="9708097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217" name="&lt;P02&gt;"/>
          <p:cNvSpPr txBox="1"/>
          <p:nvPr/>
        </p:nvSpPr>
        <p:spPr>
          <a:xfrm>
            <a:off x="12614346" y="9877500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218" name="&lt;NUM&gt;"/>
          <p:cNvSpPr txBox="1"/>
          <p:nvPr/>
        </p:nvSpPr>
        <p:spPr>
          <a:xfrm>
            <a:off x="14290619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219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NR3500_SS-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228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231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232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235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237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239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1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242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6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250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251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253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254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256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57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59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260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267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268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269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271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272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273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274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275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27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277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5GNR</a:t>
            </a:r>
          </a:p>
        </p:txBody>
      </p:sp>
      <p:grpSp>
        <p:nvGrpSpPr>
          <p:cNvPr id="1281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279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280" name="NR 35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NR 3500MHz</a:t>
              </a:r>
            </a:p>
          </p:txBody>
        </p:sp>
      </p:grpSp>
      <p:sp>
        <p:nvSpPr>
          <p:cNvPr id="1282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286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287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288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289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90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91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SS-RSRP (dBm)</a:t>
            </a:r>
          </a:p>
        </p:txBody>
      </p:sp>
      <p:grpSp>
        <p:nvGrpSpPr>
          <p:cNvPr id="1314" name="Group 59"/>
          <p:cNvGrpSpPr/>
          <p:nvPr/>
        </p:nvGrpSpPr>
        <p:grpSpPr>
          <a:xfrm>
            <a:off x="12275818" y="1792968"/>
            <a:ext cx="1308271" cy="2247723"/>
            <a:chOff x="0" y="-1"/>
            <a:chExt cx="1308269" cy="2247721"/>
          </a:xfrm>
        </p:grpSpPr>
        <p:sp>
          <p:nvSpPr>
            <p:cNvPr id="1292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3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4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5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6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7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8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99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00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301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02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303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304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1305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306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1307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1308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1309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1310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1311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1312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313" name="TextBox 126"/>
            <p:cNvSpPr txBox="1"/>
            <p:nvPr/>
          </p:nvSpPr>
          <p:spPr>
            <a:xfrm>
              <a:off x="0" y="-2"/>
              <a:ext cx="123790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5GNR SS-RSRP (dBm)</a:t>
              </a:r>
            </a:p>
          </p:txBody>
        </p:sp>
      </p:grpSp>
      <p:sp>
        <p:nvSpPr>
          <p:cNvPr id="1315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1316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3500MHz</a:t>
            </a:r>
          </a:p>
        </p:txBody>
      </p:sp>
      <p:sp>
        <p:nvSpPr>
          <p:cNvPr id="1317" name="DRAWN:  &lt;D&gt;"/>
          <p:cNvSpPr txBox="1"/>
          <p:nvPr/>
        </p:nvSpPr>
        <p:spPr>
          <a:xfrm>
            <a:off x="12299064" y="9274488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318" name="CHECKED: &lt;C&gt;"/>
          <p:cNvSpPr txBox="1"/>
          <p:nvPr/>
        </p:nvSpPr>
        <p:spPr>
          <a:xfrm>
            <a:off x="13101568" y="928157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319" name="APPROVED: &lt;A&gt;"/>
          <p:cNvSpPr txBox="1"/>
          <p:nvPr/>
        </p:nvSpPr>
        <p:spPr>
          <a:xfrm>
            <a:off x="14081690" y="9282393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320" name="&lt;P01&gt;"/>
          <p:cNvSpPr txBox="1"/>
          <p:nvPr/>
        </p:nvSpPr>
        <p:spPr>
          <a:xfrm>
            <a:off x="12598436" y="9717431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321" name="&lt;P02&gt;"/>
          <p:cNvSpPr txBox="1"/>
          <p:nvPr/>
        </p:nvSpPr>
        <p:spPr>
          <a:xfrm>
            <a:off x="12597425" y="9857189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322" name="&lt;NUM&gt;"/>
          <p:cNvSpPr txBox="1"/>
          <p:nvPr/>
        </p:nvSpPr>
        <p:spPr>
          <a:xfrm>
            <a:off x="14298897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323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3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NR3500_SS-SN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332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335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336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339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341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2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343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5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346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54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355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357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358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360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61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63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364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5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0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371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372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373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375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376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377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378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379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38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381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5GNR</a:t>
            </a:r>
          </a:p>
        </p:txBody>
      </p:sp>
      <p:grpSp>
        <p:nvGrpSpPr>
          <p:cNvPr id="1385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383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384" name="NR 35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NR 3500MHz</a:t>
              </a:r>
            </a:p>
          </p:txBody>
        </p:sp>
      </p:grpSp>
      <p:sp>
        <p:nvSpPr>
          <p:cNvPr id="1386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390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391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392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393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4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5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SS-SNIR (dB)</a:t>
            </a:r>
          </a:p>
        </p:txBody>
      </p:sp>
      <p:sp>
        <p:nvSpPr>
          <p:cNvPr id="1396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1397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3500MHz</a:t>
            </a:r>
          </a:p>
        </p:txBody>
      </p:sp>
      <p:sp>
        <p:nvSpPr>
          <p:cNvPr id="1398" name="Rectangle 43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415" name="Group 44"/>
          <p:cNvGrpSpPr/>
          <p:nvPr/>
        </p:nvGrpSpPr>
        <p:grpSpPr>
          <a:xfrm>
            <a:off x="12288498" y="1694982"/>
            <a:ext cx="1214295" cy="1164655"/>
            <a:chOff x="0" y="0"/>
            <a:chExt cx="1214294" cy="1164654"/>
          </a:xfrm>
        </p:grpSpPr>
        <p:grpSp>
          <p:nvGrpSpPr>
            <p:cNvPr id="1404" name="Group 45"/>
            <p:cNvGrpSpPr/>
            <p:nvPr/>
          </p:nvGrpSpPr>
          <p:grpSpPr>
            <a:xfrm>
              <a:off x="111420" y="284776"/>
              <a:ext cx="619349" cy="879879"/>
              <a:chOff x="0" y="-1"/>
              <a:chExt cx="619347" cy="879878"/>
            </a:xfrm>
          </p:grpSpPr>
          <p:sp>
            <p:nvSpPr>
              <p:cNvPr id="1399" name="Rectangle 56"/>
              <p:cNvSpPr/>
              <p:nvPr/>
            </p:nvSpPr>
            <p:spPr>
              <a:xfrm>
                <a:off x="0" y="-2"/>
                <a:ext cx="618999" cy="177169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00" name="Rectangle 57"/>
              <p:cNvSpPr/>
              <p:nvPr/>
            </p:nvSpPr>
            <p:spPr>
              <a:xfrm>
                <a:off x="1" y="177165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01" name="Rectangle 61"/>
              <p:cNvSpPr/>
              <p:nvPr/>
            </p:nvSpPr>
            <p:spPr>
              <a:xfrm>
                <a:off x="349" y="354332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02" name="Rectangle 63"/>
              <p:cNvSpPr/>
              <p:nvPr/>
            </p:nvSpPr>
            <p:spPr>
              <a:xfrm>
                <a:off x="349" y="531497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03" name="Rectangle 64"/>
              <p:cNvSpPr/>
              <p:nvPr/>
            </p:nvSpPr>
            <p:spPr>
              <a:xfrm>
                <a:off x="349" y="702710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405" name="Straight Connector 46"/>
            <p:cNvSpPr/>
            <p:nvPr/>
          </p:nvSpPr>
          <p:spPr>
            <a:xfrm>
              <a:off x="667522" y="817088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06" name="Straight Connector 47"/>
            <p:cNvSpPr/>
            <p:nvPr/>
          </p:nvSpPr>
          <p:spPr>
            <a:xfrm>
              <a:off x="667772" y="63910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07" name="Straight Connector 48"/>
            <p:cNvSpPr/>
            <p:nvPr/>
          </p:nvSpPr>
          <p:spPr>
            <a:xfrm>
              <a:off x="667772" y="461943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08" name="Straight Connector 49"/>
            <p:cNvSpPr/>
            <p:nvPr/>
          </p:nvSpPr>
          <p:spPr>
            <a:xfrm>
              <a:off x="685933" y="98748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09" name="TextBox 50"/>
            <p:cNvSpPr txBox="1"/>
            <p:nvPr/>
          </p:nvSpPr>
          <p:spPr>
            <a:xfrm>
              <a:off x="0" y="0"/>
              <a:ext cx="1214295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5GNR SS-SNIR (dB)</a:t>
              </a:r>
            </a:p>
          </p:txBody>
        </p:sp>
        <p:sp>
          <p:nvSpPr>
            <p:cNvPr id="1410" name="TextBox 51"/>
            <p:cNvSpPr txBox="1"/>
            <p:nvPr/>
          </p:nvSpPr>
          <p:spPr>
            <a:xfrm>
              <a:off x="736449" y="137270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411" name="TextBox 52"/>
            <p:cNvSpPr txBox="1"/>
            <p:nvPr/>
          </p:nvSpPr>
          <p:spPr>
            <a:xfrm>
              <a:off x="791640" y="340153"/>
              <a:ext cx="32483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1412" name="TextBox 53"/>
            <p:cNvSpPr txBox="1"/>
            <p:nvPr/>
          </p:nvSpPr>
          <p:spPr>
            <a:xfrm>
              <a:off x="799891" y="524160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1413" name="TextBox 54"/>
            <p:cNvSpPr txBox="1"/>
            <p:nvPr/>
          </p:nvSpPr>
          <p:spPr>
            <a:xfrm>
              <a:off x="835923" y="695498"/>
              <a:ext cx="260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1414" name="TextBox 55"/>
            <p:cNvSpPr txBox="1"/>
            <p:nvPr/>
          </p:nvSpPr>
          <p:spPr>
            <a:xfrm>
              <a:off x="832752" y="877241"/>
              <a:ext cx="26046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sp>
        <p:nvSpPr>
          <p:cNvPr id="1416" name="DRAWN:  &lt;D&gt;"/>
          <p:cNvSpPr txBox="1"/>
          <p:nvPr/>
        </p:nvSpPr>
        <p:spPr>
          <a:xfrm>
            <a:off x="12322172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417" name="CHECKED: &lt;C&gt;"/>
          <p:cNvSpPr txBox="1"/>
          <p:nvPr/>
        </p:nvSpPr>
        <p:spPr>
          <a:xfrm>
            <a:off x="13113122" y="928499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418" name="APPROVED: &lt;A&gt;"/>
          <p:cNvSpPr txBox="1"/>
          <p:nvPr/>
        </p:nvSpPr>
        <p:spPr>
          <a:xfrm>
            <a:off x="14081690" y="9281573"/>
            <a:ext cx="709756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419" name="&lt;P01&gt;"/>
          <p:cNvSpPr txBox="1"/>
          <p:nvPr/>
        </p:nvSpPr>
        <p:spPr>
          <a:xfrm>
            <a:off x="12598436" y="9717431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420" name="&lt;P02&gt;"/>
          <p:cNvSpPr txBox="1"/>
          <p:nvPr/>
        </p:nvSpPr>
        <p:spPr>
          <a:xfrm>
            <a:off x="12592863" y="9862504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421" name="&lt;NUM&gt;"/>
          <p:cNvSpPr txBox="1"/>
          <p:nvPr/>
        </p:nvSpPr>
        <p:spPr>
          <a:xfrm>
            <a:off x="14298897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422" name="&lt;&lt;logo&gt;&gt;"/>
          <p:cNvSpPr txBox="1"/>
          <p:nvPr/>
        </p:nvSpPr>
        <p:spPr>
          <a:xfrm>
            <a:off x="13422174" y="875553"/>
            <a:ext cx="1054157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4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L21_LTE RS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1431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1434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1435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438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440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442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445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0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453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1454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5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1456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1457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1459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60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62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1463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5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470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1471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1472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1474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1475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1476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1477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1478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pic>
        <p:nvPicPr>
          <p:cNvPr id="14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grpSp>
        <p:nvGrpSpPr>
          <p:cNvPr id="1484" name="Rectangle 77"/>
          <p:cNvGrpSpPr/>
          <p:nvPr/>
        </p:nvGrpSpPr>
        <p:grpSpPr>
          <a:xfrm>
            <a:off x="12242778" y="6320591"/>
            <a:ext cx="2627299" cy="392467"/>
            <a:chOff x="0" y="0"/>
            <a:chExt cx="2627297" cy="392465"/>
          </a:xfrm>
        </p:grpSpPr>
        <p:sp>
          <p:nvSpPr>
            <p:cNvPr id="1482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483" name="LTE 2100MHz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 2100MHz</a:t>
              </a:r>
            </a:p>
          </p:txBody>
        </p:sp>
      </p:grpSp>
      <p:sp>
        <p:nvSpPr>
          <p:cNvPr id="1485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Rectangle 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489" name="Rectangle 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490" name="Rectangle 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491" name="Rectangle 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492" name="Rectangle 8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93" name="Rectangle 9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94" name="Rectangle 58"/>
          <p:cNvSpPr txBox="1"/>
          <p:nvPr/>
        </p:nvSpPr>
        <p:spPr>
          <a:xfrm>
            <a:off x="6266434" y="10086648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RSRP (dBm)</a:t>
            </a:r>
          </a:p>
        </p:txBody>
      </p:sp>
      <p:grpSp>
        <p:nvGrpSpPr>
          <p:cNvPr id="1517" name="Group 59"/>
          <p:cNvGrpSpPr/>
          <p:nvPr/>
        </p:nvGrpSpPr>
        <p:grpSpPr>
          <a:xfrm>
            <a:off x="12275817" y="1792968"/>
            <a:ext cx="1308271" cy="2247723"/>
            <a:chOff x="-1" y="-1"/>
            <a:chExt cx="1308270" cy="2247721"/>
          </a:xfrm>
        </p:grpSpPr>
        <p:sp>
          <p:nvSpPr>
            <p:cNvPr id="1495" name="Straight Connector 60"/>
            <p:cNvSpPr/>
            <p:nvPr/>
          </p:nvSpPr>
          <p:spPr>
            <a:xfrm>
              <a:off x="654461" y="194611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96" name="Straight Connector 106"/>
            <p:cNvSpPr/>
            <p:nvPr/>
          </p:nvSpPr>
          <p:spPr>
            <a:xfrm>
              <a:off x="654461" y="157844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97" name="Straight Connector 107"/>
            <p:cNvSpPr/>
            <p:nvPr/>
          </p:nvSpPr>
          <p:spPr>
            <a:xfrm>
              <a:off x="654461" y="139747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98" name="Straight Connector 108"/>
            <p:cNvSpPr/>
            <p:nvPr/>
          </p:nvSpPr>
          <p:spPr>
            <a:xfrm>
              <a:off x="654461" y="1214593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99" name="Straight Connector 109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0" name="Straight Connector 110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1" name="Straight Connector 111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2" name="Straight Connector 112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3" name="Straight Connector 113"/>
            <p:cNvSpPr/>
            <p:nvPr/>
          </p:nvSpPr>
          <p:spPr>
            <a:xfrm>
              <a:off x="654461" y="1761328"/>
              <a:ext cx="180003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504" name="Picture 114" descr="Picture 1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05" name="TextBox 115"/>
            <p:cNvSpPr txBox="1"/>
            <p:nvPr/>
          </p:nvSpPr>
          <p:spPr>
            <a:xfrm>
              <a:off x="736458" y="2019213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506" name="TextBox 116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507" name="TextBox 117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1508" name="TextBox 118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509" name="TextBox 119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1510" name="TextBox 120"/>
            <p:cNvSpPr txBox="1"/>
            <p:nvPr/>
          </p:nvSpPr>
          <p:spPr>
            <a:xfrm>
              <a:off x="880184" y="1089577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1511" name="TextBox 121"/>
            <p:cNvSpPr txBox="1"/>
            <p:nvPr/>
          </p:nvSpPr>
          <p:spPr>
            <a:xfrm>
              <a:off x="880184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1512" name="TextBox 122"/>
            <p:cNvSpPr txBox="1"/>
            <p:nvPr/>
          </p:nvSpPr>
          <p:spPr>
            <a:xfrm>
              <a:off x="878781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1513" name="TextBox 123"/>
            <p:cNvSpPr txBox="1"/>
            <p:nvPr/>
          </p:nvSpPr>
          <p:spPr>
            <a:xfrm>
              <a:off x="878781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1514" name="TextBox 124"/>
            <p:cNvSpPr txBox="1"/>
            <p:nvPr/>
          </p:nvSpPr>
          <p:spPr>
            <a:xfrm>
              <a:off x="878781" y="1817293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1515" name="TextBox 125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516" name="TextBox 126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sp>
        <p:nvSpPr>
          <p:cNvPr id="1518" name="Rectangle 127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sp>
        <p:nvSpPr>
          <p:cNvPr id="1519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2100MHz</a:t>
            </a:r>
          </a:p>
        </p:txBody>
      </p:sp>
      <p:sp>
        <p:nvSpPr>
          <p:cNvPr id="1520" name="Picture Placeholder 2"/>
          <p:cNvSpPr/>
          <p:nvPr>
            <p:ph type="pic" idx="21"/>
          </p:nvPr>
        </p:nvSpPr>
        <p:spPr>
          <a:xfrm>
            <a:off x="599802" y="508424"/>
            <a:ext cx="11233726" cy="9364396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521" name="DRAWN:  &lt;D&gt;"/>
          <p:cNvSpPr txBox="1"/>
          <p:nvPr/>
        </p:nvSpPr>
        <p:spPr>
          <a:xfrm>
            <a:off x="12266103" y="9281573"/>
            <a:ext cx="596721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1522" name="CHECKED: &lt;C&gt;"/>
          <p:cNvSpPr txBox="1"/>
          <p:nvPr/>
        </p:nvSpPr>
        <p:spPr>
          <a:xfrm>
            <a:off x="13136051" y="9284993"/>
            <a:ext cx="66309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1523" name="APPROVED: &lt;A&gt;"/>
          <p:cNvSpPr txBox="1"/>
          <p:nvPr/>
        </p:nvSpPr>
        <p:spPr>
          <a:xfrm>
            <a:off x="14076392" y="9281573"/>
            <a:ext cx="709755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524" name="&lt;NUM&gt;"/>
          <p:cNvSpPr txBox="1"/>
          <p:nvPr/>
        </p:nvSpPr>
        <p:spPr>
          <a:xfrm>
            <a:off x="14298897" y="9141614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1525" name="&lt;P01&gt;"/>
          <p:cNvSpPr txBox="1"/>
          <p:nvPr/>
        </p:nvSpPr>
        <p:spPr>
          <a:xfrm>
            <a:off x="12598436" y="9708097"/>
            <a:ext cx="328719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1526" name="&lt;P02&gt;"/>
          <p:cNvSpPr txBox="1"/>
          <p:nvPr/>
        </p:nvSpPr>
        <p:spPr>
          <a:xfrm>
            <a:off x="12592863" y="9864945"/>
            <a:ext cx="328718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sp>
        <p:nvSpPr>
          <p:cNvPr id="1527" name="&lt;&lt;logo&gt;&gt;"/>
          <p:cNvSpPr txBox="1"/>
          <p:nvPr/>
        </p:nvSpPr>
        <p:spPr>
          <a:xfrm>
            <a:off x="13243962" y="875553"/>
            <a:ext cx="1054156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15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TextBox 6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536" name="Rectangle 16"/>
          <p:cNvSpPr txBox="1"/>
          <p:nvPr/>
        </p:nvSpPr>
        <p:spPr>
          <a:xfrm>
            <a:off x="262163" y="1680442"/>
            <a:ext cx="394101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CC66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537" name="Rectangle 17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12700">
            <a:solidFill>
              <a:srgbClr val="D91D4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538" name="Title Text"/>
          <p:cNvSpPr txBox="1"/>
          <p:nvPr>
            <p:ph type="title"/>
          </p:nvPr>
        </p:nvSpPr>
        <p:spPr>
          <a:xfrm>
            <a:off x="3818273" y="236991"/>
            <a:ext cx="8675542" cy="20669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 defTabSz="914371"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153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9746" y="328610"/>
            <a:ext cx="3438527" cy="1333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93813" y="641014"/>
            <a:ext cx="2485311" cy="629441"/>
          </a:xfrm>
          <a:prstGeom prst="rect">
            <a:avLst/>
          </a:prstGeom>
          <a:ln w="12700">
            <a:miter lim="400000"/>
          </a:ln>
        </p:spPr>
      </p:pic>
      <p:sp>
        <p:nvSpPr>
          <p:cNvPr id="1541" name="Slide Number"/>
          <p:cNvSpPr txBox="1"/>
          <p:nvPr>
            <p:ph type="sldNum" sz="quarter" idx="2"/>
          </p:nvPr>
        </p:nvSpPr>
        <p:spPr>
          <a:xfrm>
            <a:off x="10572364" y="9787047"/>
            <a:ext cx="258620" cy="24830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GSM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TextBox 6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549" name="Freeform 16"/>
          <p:cNvSpPr/>
          <p:nvPr/>
        </p:nvSpPr>
        <p:spPr>
          <a:xfrm>
            <a:off x="225286" y="10099227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0" name="Freeform 17"/>
          <p:cNvSpPr/>
          <p:nvPr/>
        </p:nvSpPr>
        <p:spPr>
          <a:xfrm>
            <a:off x="225286" y="10266044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4" name="Rectangle 2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555" name="Rectangle 2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556" name="Rectangle 2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557" name="Rectangle 2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558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GSM</a:t>
            </a:r>
          </a:p>
        </p:txBody>
      </p:sp>
      <p:sp>
        <p:nvSpPr>
          <p:cNvPr id="1559" name="Freeform 62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0" name="Rectangle 30"/>
          <p:cNvSpPr txBox="1"/>
          <p:nvPr/>
        </p:nvSpPr>
        <p:spPr>
          <a:xfrm>
            <a:off x="12279307" y="937505"/>
            <a:ext cx="2545052" cy="177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OPERATOR: </a:t>
            </a:r>
          </a:p>
        </p:txBody>
      </p:sp>
      <p:sp>
        <p:nvSpPr>
          <p:cNvPr id="1561" name="Freeform 64"/>
          <p:cNvSpPr/>
          <p:nvPr/>
        </p:nvSpPr>
        <p:spPr>
          <a:xfrm>
            <a:off x="12233909" y="1422262"/>
            <a:ext cx="2640333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64" name="Rectangle 87"/>
          <p:cNvGrpSpPr/>
          <p:nvPr/>
        </p:nvGrpSpPr>
        <p:grpSpPr>
          <a:xfrm>
            <a:off x="12242778" y="5445644"/>
            <a:ext cx="2627299" cy="392467"/>
            <a:chOff x="0" y="0"/>
            <a:chExt cx="2627297" cy="392465"/>
          </a:xfrm>
        </p:grpSpPr>
        <p:sp>
          <p:nvSpPr>
            <p:cNvPr id="1562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563" name="GSM"/>
            <p:cNvSpPr txBox="1"/>
            <p:nvPr/>
          </p:nvSpPr>
          <p:spPr>
            <a:xfrm>
              <a:off x="55243" y="-1"/>
              <a:ext cx="2516809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GSM</a:t>
              </a:r>
            </a:p>
          </p:txBody>
        </p:sp>
      </p:grpSp>
      <p:grpSp>
        <p:nvGrpSpPr>
          <p:cNvPr id="1606" name="Group 88"/>
          <p:cNvGrpSpPr/>
          <p:nvPr/>
        </p:nvGrpSpPr>
        <p:grpSpPr>
          <a:xfrm>
            <a:off x="12277793" y="1578681"/>
            <a:ext cx="2444122" cy="2454167"/>
            <a:chOff x="0" y="0"/>
            <a:chExt cx="2444121" cy="2454166"/>
          </a:xfrm>
        </p:grpSpPr>
        <p:grpSp>
          <p:nvGrpSpPr>
            <p:cNvPr id="1587" name="Group 89"/>
            <p:cNvGrpSpPr/>
            <p:nvPr/>
          </p:nvGrpSpPr>
          <p:grpSpPr>
            <a:xfrm>
              <a:off x="10143" y="206443"/>
              <a:ext cx="1253527" cy="2247723"/>
              <a:chOff x="0" y="0"/>
              <a:chExt cx="1253525" cy="2247722"/>
            </a:xfrm>
          </p:grpSpPr>
          <p:sp>
            <p:nvSpPr>
              <p:cNvPr id="1565" name="Straight Connector 108"/>
              <p:cNvSpPr/>
              <p:nvPr/>
            </p:nvSpPr>
            <p:spPr>
              <a:xfrm>
                <a:off x="601121" y="1946114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6" name="Straight Connector 109"/>
              <p:cNvSpPr/>
              <p:nvPr/>
            </p:nvSpPr>
            <p:spPr>
              <a:xfrm>
                <a:off x="601121" y="1578448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7" name="Straight Connector 110"/>
              <p:cNvSpPr/>
              <p:nvPr/>
            </p:nvSpPr>
            <p:spPr>
              <a:xfrm>
                <a:off x="601121" y="1397473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8" name="Straight Connector 111"/>
              <p:cNvSpPr/>
              <p:nvPr/>
            </p:nvSpPr>
            <p:spPr>
              <a:xfrm>
                <a:off x="601121" y="1214592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9" name="Straight Connector 112"/>
              <p:cNvSpPr/>
              <p:nvPr/>
            </p:nvSpPr>
            <p:spPr>
              <a:xfrm>
                <a:off x="601121" y="1029807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70" name="Straight Connector 113"/>
              <p:cNvSpPr/>
              <p:nvPr/>
            </p:nvSpPr>
            <p:spPr>
              <a:xfrm>
                <a:off x="601121" y="846927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71" name="Straight Connector 114"/>
              <p:cNvSpPr/>
              <p:nvPr/>
            </p:nvSpPr>
            <p:spPr>
              <a:xfrm>
                <a:off x="601121" y="662141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72" name="Straight Connector 115"/>
              <p:cNvSpPr/>
              <p:nvPr/>
            </p:nvSpPr>
            <p:spPr>
              <a:xfrm>
                <a:off x="601121" y="483071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73" name="Straight Connector 116"/>
              <p:cNvSpPr/>
              <p:nvPr/>
            </p:nvSpPr>
            <p:spPr>
              <a:xfrm>
                <a:off x="601121" y="1761329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1574" name="Picture 117" descr="Picture 117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66281" y="292571"/>
                <a:ext cx="624845" cy="184404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575" name="TextBox 118"/>
              <p:cNvSpPr txBox="1"/>
              <p:nvPr/>
            </p:nvSpPr>
            <p:spPr>
              <a:xfrm>
                <a:off x="683116" y="2019215"/>
                <a:ext cx="326697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MIN</a:t>
                </a:r>
              </a:p>
            </p:txBody>
          </p:sp>
          <p:sp>
            <p:nvSpPr>
              <p:cNvPr id="1576" name="TextBox 119"/>
              <p:cNvSpPr txBox="1"/>
              <p:nvPr/>
            </p:nvSpPr>
            <p:spPr>
              <a:xfrm>
                <a:off x="826843" y="356153"/>
                <a:ext cx="363718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-55</a:t>
                </a:r>
              </a:p>
            </p:txBody>
          </p:sp>
          <p:sp>
            <p:nvSpPr>
              <p:cNvPr id="1577" name="TextBox 120"/>
              <p:cNvSpPr txBox="1"/>
              <p:nvPr/>
            </p:nvSpPr>
            <p:spPr>
              <a:xfrm>
                <a:off x="826843" y="540935"/>
                <a:ext cx="36371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-65</a:t>
                </a:r>
              </a:p>
            </p:txBody>
          </p:sp>
          <p:sp>
            <p:nvSpPr>
              <p:cNvPr id="1578" name="TextBox 121"/>
              <p:cNvSpPr txBox="1"/>
              <p:nvPr/>
            </p:nvSpPr>
            <p:spPr>
              <a:xfrm>
                <a:off x="826843" y="723817"/>
                <a:ext cx="36371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-75</a:t>
                </a:r>
              </a:p>
            </p:txBody>
          </p:sp>
          <p:sp>
            <p:nvSpPr>
              <p:cNvPr id="1579" name="TextBox 122"/>
              <p:cNvSpPr txBox="1"/>
              <p:nvPr/>
            </p:nvSpPr>
            <p:spPr>
              <a:xfrm>
                <a:off x="826843" y="908602"/>
                <a:ext cx="36371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-85</a:t>
                </a:r>
              </a:p>
            </p:txBody>
          </p:sp>
          <p:sp>
            <p:nvSpPr>
              <p:cNvPr id="1580" name="TextBox 123"/>
              <p:cNvSpPr txBox="1"/>
              <p:nvPr/>
            </p:nvSpPr>
            <p:spPr>
              <a:xfrm>
                <a:off x="826843" y="1089576"/>
                <a:ext cx="36371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-95</a:t>
                </a:r>
              </a:p>
            </p:txBody>
          </p:sp>
          <p:sp>
            <p:nvSpPr>
              <p:cNvPr id="1581" name="TextBox 124"/>
              <p:cNvSpPr txBox="1"/>
              <p:nvPr/>
            </p:nvSpPr>
            <p:spPr>
              <a:xfrm>
                <a:off x="826843" y="1274361"/>
                <a:ext cx="363718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-98</a:t>
                </a:r>
              </a:p>
            </p:txBody>
          </p:sp>
          <p:sp>
            <p:nvSpPr>
              <p:cNvPr id="1582" name="TextBox 125"/>
              <p:cNvSpPr txBox="1"/>
              <p:nvPr/>
            </p:nvSpPr>
            <p:spPr>
              <a:xfrm>
                <a:off x="825440" y="1453435"/>
                <a:ext cx="428086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-101</a:t>
                </a:r>
              </a:p>
            </p:txBody>
          </p:sp>
          <p:sp>
            <p:nvSpPr>
              <p:cNvPr id="1583" name="TextBox 126"/>
              <p:cNvSpPr txBox="1"/>
              <p:nvPr/>
            </p:nvSpPr>
            <p:spPr>
              <a:xfrm>
                <a:off x="825440" y="1638219"/>
                <a:ext cx="428086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-103</a:t>
                </a:r>
              </a:p>
            </p:txBody>
          </p:sp>
          <p:sp>
            <p:nvSpPr>
              <p:cNvPr id="1584" name="TextBox 127"/>
              <p:cNvSpPr txBox="1"/>
              <p:nvPr/>
            </p:nvSpPr>
            <p:spPr>
              <a:xfrm>
                <a:off x="825440" y="1817293"/>
                <a:ext cx="428086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&gt; -106</a:t>
                </a:r>
              </a:p>
            </p:txBody>
          </p:sp>
          <p:sp>
            <p:nvSpPr>
              <p:cNvPr id="1585" name="TextBox 128"/>
              <p:cNvSpPr txBox="1"/>
              <p:nvPr/>
            </p:nvSpPr>
            <p:spPr>
              <a:xfrm>
                <a:off x="683117" y="169460"/>
                <a:ext cx="352121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MAX</a:t>
                </a:r>
              </a:p>
            </p:txBody>
          </p:sp>
          <p:sp>
            <p:nvSpPr>
              <p:cNvPr id="1586" name="TextBox 129"/>
              <p:cNvSpPr txBox="1"/>
              <p:nvPr/>
            </p:nvSpPr>
            <p:spPr>
              <a:xfrm>
                <a:off x="-1" y="-1"/>
                <a:ext cx="1076284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spAutoFit/>
              </a:bodyPr>
              <a:lstStyle>
                <a:lvl1pPr algn="ctr">
                  <a:defRPr b="1" sz="1000" u="sng"/>
                </a:lvl1pPr>
              </a:lstStyle>
              <a:p>
                <a:pPr/>
                <a:r>
                  <a:t>GSM RxLev (dBm)</a:t>
                </a:r>
              </a:p>
            </p:txBody>
          </p:sp>
        </p:grpSp>
        <p:sp>
          <p:nvSpPr>
            <p:cNvPr id="1588" name="Rectangle 90"/>
            <p:cNvSpPr txBox="1"/>
            <p:nvPr/>
          </p:nvSpPr>
          <p:spPr>
            <a:xfrm>
              <a:off x="0" y="-1"/>
              <a:ext cx="535695" cy="2024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8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LEGEND</a:t>
              </a:r>
            </a:p>
          </p:txBody>
        </p:sp>
        <p:grpSp>
          <p:nvGrpSpPr>
            <p:cNvPr id="1605" name="Group 91"/>
            <p:cNvGrpSpPr/>
            <p:nvPr/>
          </p:nvGrpSpPr>
          <p:grpSpPr>
            <a:xfrm>
              <a:off x="1375066" y="193440"/>
              <a:ext cx="1069056" cy="1168985"/>
              <a:chOff x="0" y="0"/>
              <a:chExt cx="1069055" cy="1168984"/>
            </a:xfrm>
          </p:grpSpPr>
          <p:grpSp>
            <p:nvGrpSpPr>
              <p:cNvPr id="1594" name="Group 92"/>
              <p:cNvGrpSpPr/>
              <p:nvPr/>
            </p:nvGrpSpPr>
            <p:grpSpPr>
              <a:xfrm>
                <a:off x="61088" y="256102"/>
                <a:ext cx="619349" cy="879880"/>
                <a:chOff x="0" y="0"/>
                <a:chExt cx="619348" cy="879878"/>
              </a:xfrm>
            </p:grpSpPr>
            <p:sp>
              <p:nvSpPr>
                <p:cNvPr id="1589" name="Rectangle 103"/>
                <p:cNvSpPr/>
                <p:nvPr/>
              </p:nvSpPr>
              <p:spPr>
                <a:xfrm>
                  <a:off x="-1" y="-1"/>
                  <a:ext cx="619001" cy="177168"/>
                </a:xfrm>
                <a:prstGeom prst="rect">
                  <a:avLst/>
                </a:prstGeom>
                <a:solidFill>
                  <a:srgbClr val="28E3FC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590" name="Rectangle 104"/>
                <p:cNvSpPr/>
                <p:nvPr/>
              </p:nvSpPr>
              <p:spPr>
                <a:xfrm>
                  <a:off x="-1" y="177165"/>
                  <a:ext cx="619001" cy="177168"/>
                </a:xfrm>
                <a:prstGeom prst="rect">
                  <a:avLst/>
                </a:prstGeom>
                <a:solidFill>
                  <a:srgbClr val="00FF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591" name="Rectangle 105"/>
                <p:cNvSpPr/>
                <p:nvPr/>
              </p:nvSpPr>
              <p:spPr>
                <a:xfrm>
                  <a:off x="347" y="354331"/>
                  <a:ext cx="619001" cy="177168"/>
                </a:xfrm>
                <a:prstGeom prst="rect">
                  <a:avLst/>
                </a:prstGeom>
                <a:solidFill>
                  <a:srgbClr val="FFFF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592" name="Rectangle 106"/>
                <p:cNvSpPr/>
                <p:nvPr/>
              </p:nvSpPr>
              <p:spPr>
                <a:xfrm>
                  <a:off x="347" y="531498"/>
                  <a:ext cx="619001" cy="17716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593" name="Rectangle 107"/>
                <p:cNvSpPr/>
                <p:nvPr/>
              </p:nvSpPr>
              <p:spPr>
                <a:xfrm>
                  <a:off x="347" y="702711"/>
                  <a:ext cx="619001" cy="17716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sp>
            <p:nvSpPr>
              <p:cNvPr id="1595" name="Straight Connector 93"/>
              <p:cNvSpPr/>
              <p:nvPr/>
            </p:nvSpPr>
            <p:spPr>
              <a:xfrm>
                <a:off x="594663" y="787600"/>
                <a:ext cx="180003" cy="2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96" name="Straight Connector 94"/>
              <p:cNvSpPr/>
              <p:nvPr/>
            </p:nvSpPr>
            <p:spPr>
              <a:xfrm>
                <a:off x="594663" y="610910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97" name="Straight Connector 95"/>
              <p:cNvSpPr/>
              <p:nvPr/>
            </p:nvSpPr>
            <p:spPr>
              <a:xfrm>
                <a:off x="594663" y="433268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98" name="Straight Connector 96"/>
              <p:cNvSpPr/>
              <p:nvPr/>
            </p:nvSpPr>
            <p:spPr>
              <a:xfrm>
                <a:off x="594663" y="960955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99" name="TextBox 97"/>
              <p:cNvSpPr txBox="1"/>
              <p:nvPr/>
            </p:nvSpPr>
            <p:spPr>
              <a:xfrm>
                <a:off x="0" y="-1"/>
                <a:ext cx="1013465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spAutoFit/>
              </a:bodyPr>
              <a:lstStyle>
                <a:lvl1pPr algn="ctr" defTabSz="914371">
                  <a:defRPr b="1" sz="1000" u="sng"/>
                </a:lvl1pPr>
              </a:lstStyle>
              <a:p>
                <a:pPr/>
                <a:r>
                  <a:t>GSM RxQual (dB)</a:t>
                </a:r>
              </a:p>
            </p:txBody>
          </p:sp>
          <p:sp>
            <p:nvSpPr>
              <p:cNvPr id="1600" name="TextBox 98"/>
              <p:cNvSpPr txBox="1"/>
              <p:nvPr/>
            </p:nvSpPr>
            <p:spPr>
              <a:xfrm>
                <a:off x="726608" y="189785"/>
                <a:ext cx="34244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[1,3]</a:t>
                </a:r>
              </a:p>
            </p:txBody>
          </p:sp>
          <p:sp>
            <p:nvSpPr>
              <p:cNvPr id="1601" name="TextBox 99"/>
              <p:cNvSpPr txBox="1"/>
              <p:nvPr/>
            </p:nvSpPr>
            <p:spPr>
              <a:xfrm>
                <a:off x="724381" y="400406"/>
                <a:ext cx="168505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602" name="TextBox 100"/>
              <p:cNvSpPr txBox="1"/>
              <p:nvPr/>
            </p:nvSpPr>
            <p:spPr>
              <a:xfrm>
                <a:off x="722796" y="566976"/>
                <a:ext cx="168505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1603" name="TextBox 101"/>
              <p:cNvSpPr txBox="1"/>
              <p:nvPr/>
            </p:nvSpPr>
            <p:spPr>
              <a:xfrm>
                <a:off x="720571" y="754738"/>
                <a:ext cx="168505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604" name="TextBox 102"/>
              <p:cNvSpPr txBox="1"/>
              <p:nvPr/>
            </p:nvSpPr>
            <p:spPr>
              <a:xfrm>
                <a:off x="720250" y="940476"/>
                <a:ext cx="168505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7</a:t>
                </a:r>
              </a:p>
            </p:txBody>
          </p:sp>
        </p:grpSp>
      </p:grpSp>
      <p:sp>
        <p:nvSpPr>
          <p:cNvPr id="1607" name="Slide Number"/>
          <p:cNvSpPr txBox="1"/>
          <p:nvPr>
            <p:ph type="sldNum" sz="quarter" idx="2"/>
          </p:nvPr>
        </p:nvSpPr>
        <p:spPr>
          <a:xfrm>
            <a:off x="10572364" y="9787047"/>
            <a:ext cx="258620" cy="24830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MTS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TextBox 6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615" name="Freeform 16"/>
          <p:cNvSpPr/>
          <p:nvPr/>
        </p:nvSpPr>
        <p:spPr>
          <a:xfrm>
            <a:off x="225286" y="10099227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Freeform 17"/>
          <p:cNvSpPr/>
          <p:nvPr/>
        </p:nvSpPr>
        <p:spPr>
          <a:xfrm>
            <a:off x="225286" y="10266044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8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Rectangle 24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621" name="Rectangle 25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622" name="Rectangle 26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623" name="Rectangle 27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624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UMTS</a:t>
            </a:r>
          </a:p>
        </p:txBody>
      </p:sp>
      <p:sp>
        <p:nvSpPr>
          <p:cNvPr id="1625" name="Freeform 62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Rectangle 30"/>
          <p:cNvSpPr txBox="1"/>
          <p:nvPr/>
        </p:nvSpPr>
        <p:spPr>
          <a:xfrm>
            <a:off x="12279307" y="937505"/>
            <a:ext cx="2545052" cy="177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OPERATOR: </a:t>
            </a:r>
          </a:p>
        </p:txBody>
      </p:sp>
      <p:sp>
        <p:nvSpPr>
          <p:cNvPr id="1627" name="Freeform 64"/>
          <p:cNvSpPr/>
          <p:nvPr/>
        </p:nvSpPr>
        <p:spPr>
          <a:xfrm>
            <a:off x="12233909" y="1422262"/>
            <a:ext cx="2640333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630" name="Rectangle 87"/>
          <p:cNvGrpSpPr/>
          <p:nvPr/>
        </p:nvGrpSpPr>
        <p:grpSpPr>
          <a:xfrm>
            <a:off x="12242778" y="5445644"/>
            <a:ext cx="2627299" cy="392467"/>
            <a:chOff x="0" y="0"/>
            <a:chExt cx="2627297" cy="392465"/>
          </a:xfrm>
        </p:grpSpPr>
        <p:sp>
          <p:nvSpPr>
            <p:cNvPr id="1628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629" name="UMTS"/>
            <p:cNvSpPr txBox="1"/>
            <p:nvPr/>
          </p:nvSpPr>
          <p:spPr>
            <a:xfrm>
              <a:off x="45718" y="-1"/>
              <a:ext cx="2535860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UMTS</a:t>
              </a:r>
            </a:p>
          </p:txBody>
        </p:sp>
      </p:grpSp>
      <p:sp>
        <p:nvSpPr>
          <p:cNvPr id="1631" name="Rectangle 88"/>
          <p:cNvSpPr txBox="1"/>
          <p:nvPr/>
        </p:nvSpPr>
        <p:spPr>
          <a:xfrm>
            <a:off x="12277787" y="1578682"/>
            <a:ext cx="53569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654" name="Group 89"/>
          <p:cNvGrpSpPr/>
          <p:nvPr/>
        </p:nvGrpSpPr>
        <p:grpSpPr>
          <a:xfrm>
            <a:off x="12298341" y="1788079"/>
            <a:ext cx="1247308" cy="2247724"/>
            <a:chOff x="-1" y="-1"/>
            <a:chExt cx="1247307" cy="2247722"/>
          </a:xfrm>
        </p:grpSpPr>
        <p:sp>
          <p:nvSpPr>
            <p:cNvPr id="1632" name="Straight Connector 90"/>
            <p:cNvSpPr/>
            <p:nvPr/>
          </p:nvSpPr>
          <p:spPr>
            <a:xfrm>
              <a:off x="593500" y="1946113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3" name="Straight Connector 91"/>
            <p:cNvSpPr/>
            <p:nvPr/>
          </p:nvSpPr>
          <p:spPr>
            <a:xfrm>
              <a:off x="593500" y="1578448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4" name="Straight Connector 92"/>
            <p:cNvSpPr/>
            <p:nvPr/>
          </p:nvSpPr>
          <p:spPr>
            <a:xfrm>
              <a:off x="593500" y="1397473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5" name="Straight Connector 93"/>
            <p:cNvSpPr/>
            <p:nvPr/>
          </p:nvSpPr>
          <p:spPr>
            <a:xfrm>
              <a:off x="593500" y="1214593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6" name="Straight Connector 94"/>
            <p:cNvSpPr/>
            <p:nvPr/>
          </p:nvSpPr>
          <p:spPr>
            <a:xfrm>
              <a:off x="593500" y="1029806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7" name="Straight Connector 95"/>
            <p:cNvSpPr/>
            <p:nvPr/>
          </p:nvSpPr>
          <p:spPr>
            <a:xfrm>
              <a:off x="593500" y="846926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8" name="Straight Connector 96"/>
            <p:cNvSpPr/>
            <p:nvPr/>
          </p:nvSpPr>
          <p:spPr>
            <a:xfrm>
              <a:off x="593500" y="662141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39" name="Straight Connector 97"/>
            <p:cNvSpPr/>
            <p:nvPr/>
          </p:nvSpPr>
          <p:spPr>
            <a:xfrm>
              <a:off x="593500" y="483071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40" name="Straight Connector 98"/>
            <p:cNvSpPr/>
            <p:nvPr/>
          </p:nvSpPr>
          <p:spPr>
            <a:xfrm>
              <a:off x="593500" y="1761328"/>
              <a:ext cx="180002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641" name="Picture 99" descr="Picture 9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8660" y="292571"/>
              <a:ext cx="624844" cy="18440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2" name="TextBox 100"/>
            <p:cNvSpPr txBox="1"/>
            <p:nvPr/>
          </p:nvSpPr>
          <p:spPr>
            <a:xfrm>
              <a:off x="675495" y="2019214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643" name="TextBox 101"/>
            <p:cNvSpPr txBox="1"/>
            <p:nvPr/>
          </p:nvSpPr>
          <p:spPr>
            <a:xfrm>
              <a:off x="819221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-55</a:t>
              </a:r>
            </a:p>
          </p:txBody>
        </p:sp>
        <p:sp>
          <p:nvSpPr>
            <p:cNvPr id="1644" name="TextBox 102"/>
            <p:cNvSpPr txBox="1"/>
            <p:nvPr/>
          </p:nvSpPr>
          <p:spPr>
            <a:xfrm>
              <a:off x="819221" y="540935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645" name="TextBox 103"/>
            <p:cNvSpPr txBox="1"/>
            <p:nvPr/>
          </p:nvSpPr>
          <p:spPr>
            <a:xfrm>
              <a:off x="819221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-77</a:t>
              </a:r>
            </a:p>
          </p:txBody>
        </p:sp>
        <p:sp>
          <p:nvSpPr>
            <p:cNvPr id="1646" name="TextBox 104"/>
            <p:cNvSpPr txBox="1"/>
            <p:nvPr/>
          </p:nvSpPr>
          <p:spPr>
            <a:xfrm>
              <a:off x="819221" y="908601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-87</a:t>
              </a:r>
            </a:p>
          </p:txBody>
        </p:sp>
        <p:sp>
          <p:nvSpPr>
            <p:cNvPr id="1647" name="TextBox 105"/>
            <p:cNvSpPr txBox="1"/>
            <p:nvPr/>
          </p:nvSpPr>
          <p:spPr>
            <a:xfrm>
              <a:off x="819221" y="1089576"/>
              <a:ext cx="363718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-97</a:t>
              </a:r>
            </a:p>
          </p:txBody>
        </p:sp>
        <p:sp>
          <p:nvSpPr>
            <p:cNvPr id="1648" name="TextBox 106"/>
            <p:cNvSpPr txBox="1"/>
            <p:nvPr/>
          </p:nvSpPr>
          <p:spPr>
            <a:xfrm>
              <a:off x="819221" y="1274361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-100</a:t>
              </a:r>
            </a:p>
          </p:txBody>
        </p:sp>
        <p:sp>
          <p:nvSpPr>
            <p:cNvPr id="1649" name="TextBox 107"/>
            <p:cNvSpPr txBox="1"/>
            <p:nvPr/>
          </p:nvSpPr>
          <p:spPr>
            <a:xfrm>
              <a:off x="817817" y="1453435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-106</a:t>
              </a:r>
            </a:p>
          </p:txBody>
        </p:sp>
        <p:sp>
          <p:nvSpPr>
            <p:cNvPr id="1650" name="TextBox 108"/>
            <p:cNvSpPr txBox="1"/>
            <p:nvPr/>
          </p:nvSpPr>
          <p:spPr>
            <a:xfrm>
              <a:off x="817817" y="1638219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-109</a:t>
              </a:r>
            </a:p>
          </p:txBody>
        </p:sp>
        <p:sp>
          <p:nvSpPr>
            <p:cNvPr id="1651" name="TextBox 109"/>
            <p:cNvSpPr txBox="1"/>
            <p:nvPr/>
          </p:nvSpPr>
          <p:spPr>
            <a:xfrm>
              <a:off x="817817" y="1817292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-112</a:t>
              </a:r>
            </a:p>
          </p:txBody>
        </p:sp>
        <p:sp>
          <p:nvSpPr>
            <p:cNvPr id="1652" name="TextBox 110"/>
            <p:cNvSpPr txBox="1"/>
            <p:nvPr/>
          </p:nvSpPr>
          <p:spPr>
            <a:xfrm>
              <a:off x="675494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653" name="TextBox 111"/>
            <p:cNvSpPr txBox="1"/>
            <p:nvPr/>
          </p:nvSpPr>
          <p:spPr>
            <a:xfrm>
              <a:off x="-2" y="-2"/>
              <a:ext cx="1076280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UMTS RSCP (dBm)</a:t>
              </a:r>
            </a:p>
          </p:txBody>
        </p:sp>
      </p:grpSp>
      <p:grpSp>
        <p:nvGrpSpPr>
          <p:cNvPr id="1672" name="Group 57"/>
          <p:cNvGrpSpPr/>
          <p:nvPr/>
        </p:nvGrpSpPr>
        <p:grpSpPr>
          <a:xfrm>
            <a:off x="13542632" y="1750182"/>
            <a:ext cx="1176902" cy="1391541"/>
            <a:chOff x="0" y="-1"/>
            <a:chExt cx="1176901" cy="1391540"/>
          </a:xfrm>
        </p:grpSpPr>
        <p:grpSp>
          <p:nvGrpSpPr>
            <p:cNvPr id="1660" name="Group 58"/>
            <p:cNvGrpSpPr/>
            <p:nvPr/>
          </p:nvGrpSpPr>
          <p:grpSpPr>
            <a:xfrm>
              <a:off x="143987" y="410683"/>
              <a:ext cx="619348" cy="879876"/>
              <a:chOff x="0" y="-1"/>
              <a:chExt cx="619346" cy="879875"/>
            </a:xfrm>
          </p:grpSpPr>
          <p:sp>
            <p:nvSpPr>
              <p:cNvPr id="1655" name="Rectangle 70"/>
              <p:cNvSpPr/>
              <p:nvPr/>
            </p:nvSpPr>
            <p:spPr>
              <a:xfrm>
                <a:off x="-1" y="-2"/>
                <a:ext cx="618999" cy="177167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56" name="Rectangle 71"/>
              <p:cNvSpPr/>
              <p:nvPr/>
            </p:nvSpPr>
            <p:spPr>
              <a:xfrm>
                <a:off x="-1" y="177165"/>
                <a:ext cx="618999" cy="177167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57" name="Rectangle 72"/>
              <p:cNvSpPr/>
              <p:nvPr/>
            </p:nvSpPr>
            <p:spPr>
              <a:xfrm>
                <a:off x="347" y="354329"/>
                <a:ext cx="618999" cy="177167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58" name="Rectangle 73"/>
              <p:cNvSpPr/>
              <p:nvPr/>
            </p:nvSpPr>
            <p:spPr>
              <a:xfrm>
                <a:off x="347" y="531495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59" name="Rectangle 74"/>
              <p:cNvSpPr/>
              <p:nvPr/>
            </p:nvSpPr>
            <p:spPr>
              <a:xfrm>
                <a:off x="347" y="702708"/>
                <a:ext cx="618999" cy="17716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661" name="Straight Connector 59"/>
            <p:cNvSpPr/>
            <p:nvPr/>
          </p:nvSpPr>
          <p:spPr>
            <a:xfrm>
              <a:off x="677559" y="94217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2" name="Straight Connector 60"/>
            <p:cNvSpPr/>
            <p:nvPr/>
          </p:nvSpPr>
          <p:spPr>
            <a:xfrm>
              <a:off x="677559" y="765490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3" name="Straight Connector 61"/>
            <p:cNvSpPr/>
            <p:nvPr/>
          </p:nvSpPr>
          <p:spPr>
            <a:xfrm>
              <a:off x="677559" y="58784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4" name="Straight Connector 62"/>
            <p:cNvSpPr/>
            <p:nvPr/>
          </p:nvSpPr>
          <p:spPr>
            <a:xfrm>
              <a:off x="677559" y="111553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TextBox 63"/>
            <p:cNvSpPr txBox="1"/>
            <p:nvPr/>
          </p:nvSpPr>
          <p:spPr>
            <a:xfrm>
              <a:off x="0" y="-2"/>
              <a:ext cx="1013463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UMTS Ec/No (dB)</a:t>
              </a:r>
            </a:p>
          </p:txBody>
        </p:sp>
        <p:sp>
          <p:nvSpPr>
            <p:cNvPr id="1666" name="TextBox 64"/>
            <p:cNvSpPr txBox="1"/>
            <p:nvPr/>
          </p:nvSpPr>
          <p:spPr>
            <a:xfrm>
              <a:off x="782342" y="286348"/>
              <a:ext cx="327379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667" name="TextBox 65"/>
            <p:cNvSpPr txBox="1"/>
            <p:nvPr/>
          </p:nvSpPr>
          <p:spPr>
            <a:xfrm>
              <a:off x="845705" y="458249"/>
              <a:ext cx="27063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&gt;-4</a:t>
              </a:r>
            </a:p>
          </p:txBody>
        </p:sp>
        <p:sp>
          <p:nvSpPr>
            <p:cNvPr id="1668" name="TextBox 66"/>
            <p:cNvSpPr txBox="1"/>
            <p:nvPr/>
          </p:nvSpPr>
          <p:spPr>
            <a:xfrm>
              <a:off x="844120" y="624818"/>
              <a:ext cx="27063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&gt;-8</a:t>
              </a:r>
            </a:p>
          </p:txBody>
        </p:sp>
        <p:sp>
          <p:nvSpPr>
            <p:cNvPr id="1669" name="TextBox 67"/>
            <p:cNvSpPr txBox="1"/>
            <p:nvPr/>
          </p:nvSpPr>
          <p:spPr>
            <a:xfrm>
              <a:off x="841895" y="812580"/>
              <a:ext cx="33500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&gt;-10</a:t>
              </a:r>
            </a:p>
          </p:txBody>
        </p:sp>
        <p:sp>
          <p:nvSpPr>
            <p:cNvPr id="1670" name="TextBox 68"/>
            <p:cNvSpPr txBox="1"/>
            <p:nvPr/>
          </p:nvSpPr>
          <p:spPr>
            <a:xfrm>
              <a:off x="841574" y="998316"/>
              <a:ext cx="33500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&gt;-13</a:t>
              </a:r>
            </a:p>
          </p:txBody>
        </p:sp>
        <p:sp>
          <p:nvSpPr>
            <p:cNvPr id="1671" name="TextBox 69"/>
            <p:cNvSpPr txBox="1"/>
            <p:nvPr/>
          </p:nvSpPr>
          <p:spPr>
            <a:xfrm>
              <a:off x="799350" y="1163032"/>
              <a:ext cx="308590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Min</a:t>
              </a:r>
            </a:p>
          </p:txBody>
        </p:sp>
      </p:grpSp>
      <p:sp>
        <p:nvSpPr>
          <p:cNvPr id="1673" name="Slide Number"/>
          <p:cNvSpPr txBox="1"/>
          <p:nvPr>
            <p:ph type="sldNum" sz="quarter" idx="2"/>
          </p:nvPr>
        </p:nvSpPr>
        <p:spPr>
          <a:xfrm>
            <a:off x="10572364" y="9787047"/>
            <a:ext cx="258620" cy="24830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T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6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681" name="Freeform 16"/>
          <p:cNvSpPr/>
          <p:nvPr/>
        </p:nvSpPr>
        <p:spPr>
          <a:xfrm>
            <a:off x="225286" y="10099227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2" name="Freeform 17"/>
          <p:cNvSpPr/>
          <p:nvPr/>
        </p:nvSpPr>
        <p:spPr>
          <a:xfrm>
            <a:off x="225286" y="10266044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6" name="Rectangle 58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687" name="Rectangle 59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688" name="Rectangle 60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689" name="Rectangle 61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690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LTE</a:t>
            </a:r>
          </a:p>
        </p:txBody>
      </p:sp>
      <p:sp>
        <p:nvSpPr>
          <p:cNvPr id="1691" name="Freeform 62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Rectangle 20"/>
          <p:cNvSpPr txBox="1"/>
          <p:nvPr/>
        </p:nvSpPr>
        <p:spPr>
          <a:xfrm>
            <a:off x="12279307" y="937505"/>
            <a:ext cx="2545052" cy="177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OPERATOR: </a:t>
            </a:r>
          </a:p>
        </p:txBody>
      </p:sp>
      <p:sp>
        <p:nvSpPr>
          <p:cNvPr id="1693" name="Freeform 64"/>
          <p:cNvSpPr/>
          <p:nvPr/>
        </p:nvSpPr>
        <p:spPr>
          <a:xfrm>
            <a:off x="12233909" y="1422262"/>
            <a:ext cx="2640333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Rectangle 22"/>
          <p:cNvSpPr txBox="1"/>
          <p:nvPr/>
        </p:nvSpPr>
        <p:spPr>
          <a:xfrm>
            <a:off x="12277790" y="157868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717" name="Group 23"/>
          <p:cNvGrpSpPr/>
          <p:nvPr/>
        </p:nvGrpSpPr>
        <p:grpSpPr>
          <a:xfrm>
            <a:off x="12240475" y="1789726"/>
            <a:ext cx="1308272" cy="2247724"/>
            <a:chOff x="-1" y="-1"/>
            <a:chExt cx="1308270" cy="2247722"/>
          </a:xfrm>
        </p:grpSpPr>
        <p:sp>
          <p:nvSpPr>
            <p:cNvPr id="1695" name="Straight Connector 24"/>
            <p:cNvSpPr/>
            <p:nvPr/>
          </p:nvSpPr>
          <p:spPr>
            <a:xfrm>
              <a:off x="654461" y="194611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6" name="Straight Connector 25"/>
            <p:cNvSpPr/>
            <p:nvPr/>
          </p:nvSpPr>
          <p:spPr>
            <a:xfrm>
              <a:off x="654461" y="157844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7" name="Straight Connector 26"/>
            <p:cNvSpPr/>
            <p:nvPr/>
          </p:nvSpPr>
          <p:spPr>
            <a:xfrm>
              <a:off x="654461" y="139747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8" name="Straight Connector 27"/>
            <p:cNvSpPr/>
            <p:nvPr/>
          </p:nvSpPr>
          <p:spPr>
            <a:xfrm>
              <a:off x="654461" y="121459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9" name="Straight Connector 28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Straight Connector 29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1" name="Straight Connector 30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2" name="Straight Connector 31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3" name="Straight Connector 32"/>
            <p:cNvSpPr/>
            <p:nvPr/>
          </p:nvSpPr>
          <p:spPr>
            <a:xfrm>
              <a:off x="654461" y="176132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704" name="Picture 33" descr="Picture 3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05" name="TextBox 34"/>
            <p:cNvSpPr txBox="1"/>
            <p:nvPr/>
          </p:nvSpPr>
          <p:spPr>
            <a:xfrm>
              <a:off x="736458" y="2019214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706" name="TextBox 35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707" name="TextBox 36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1708" name="TextBox 37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709" name="TextBox 38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1710" name="TextBox 39"/>
            <p:cNvSpPr txBox="1"/>
            <p:nvPr/>
          </p:nvSpPr>
          <p:spPr>
            <a:xfrm>
              <a:off x="880184" y="1089577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1711" name="TextBox 40"/>
            <p:cNvSpPr txBox="1"/>
            <p:nvPr/>
          </p:nvSpPr>
          <p:spPr>
            <a:xfrm>
              <a:off x="880184" y="1274362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1712" name="TextBox 41"/>
            <p:cNvSpPr txBox="1"/>
            <p:nvPr/>
          </p:nvSpPr>
          <p:spPr>
            <a:xfrm>
              <a:off x="878781" y="1453436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1713" name="TextBox 42"/>
            <p:cNvSpPr txBox="1"/>
            <p:nvPr/>
          </p:nvSpPr>
          <p:spPr>
            <a:xfrm>
              <a:off x="878781" y="1638220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1714" name="TextBox 43"/>
            <p:cNvSpPr txBox="1"/>
            <p:nvPr/>
          </p:nvSpPr>
          <p:spPr>
            <a:xfrm>
              <a:off x="878781" y="1817294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1715" name="TextBox 44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716" name="TextBox 45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LTE RSRP (dBm)</a:t>
              </a:r>
            </a:p>
          </p:txBody>
        </p:sp>
      </p:grpSp>
      <p:grpSp>
        <p:nvGrpSpPr>
          <p:cNvPr id="1720" name="Rectangle 77"/>
          <p:cNvGrpSpPr/>
          <p:nvPr/>
        </p:nvGrpSpPr>
        <p:grpSpPr>
          <a:xfrm>
            <a:off x="12242778" y="5445644"/>
            <a:ext cx="2627299" cy="392467"/>
            <a:chOff x="0" y="0"/>
            <a:chExt cx="2627297" cy="392465"/>
          </a:xfrm>
        </p:grpSpPr>
        <p:sp>
          <p:nvSpPr>
            <p:cNvPr id="1718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719" name="LTE"/>
            <p:cNvSpPr txBox="1"/>
            <p:nvPr/>
          </p:nvSpPr>
          <p:spPr>
            <a:xfrm>
              <a:off x="45718" y="-1"/>
              <a:ext cx="2535860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LTE</a:t>
              </a:r>
            </a:p>
          </p:txBody>
        </p:sp>
      </p:grpSp>
      <p:grpSp>
        <p:nvGrpSpPr>
          <p:cNvPr id="1737" name="Group 63"/>
          <p:cNvGrpSpPr/>
          <p:nvPr/>
        </p:nvGrpSpPr>
        <p:grpSpPr>
          <a:xfrm>
            <a:off x="13452922" y="1801452"/>
            <a:ext cx="1269043" cy="1164243"/>
            <a:chOff x="0" y="-1"/>
            <a:chExt cx="1269042" cy="1164241"/>
          </a:xfrm>
        </p:grpSpPr>
        <p:grpSp>
          <p:nvGrpSpPr>
            <p:cNvPr id="1726" name="Group 64"/>
            <p:cNvGrpSpPr/>
            <p:nvPr/>
          </p:nvGrpSpPr>
          <p:grpSpPr>
            <a:xfrm>
              <a:off x="255735" y="284359"/>
              <a:ext cx="619348" cy="879882"/>
              <a:chOff x="0" y="0"/>
              <a:chExt cx="619347" cy="879880"/>
            </a:xfrm>
          </p:grpSpPr>
          <p:sp>
            <p:nvSpPr>
              <p:cNvPr id="1721" name="Rectangle 84"/>
              <p:cNvSpPr/>
              <p:nvPr/>
            </p:nvSpPr>
            <p:spPr>
              <a:xfrm>
                <a:off x="-1" y="-1"/>
                <a:ext cx="619000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2" name="Rectangle 85"/>
              <p:cNvSpPr/>
              <p:nvPr/>
            </p:nvSpPr>
            <p:spPr>
              <a:xfrm>
                <a:off x="0" y="177166"/>
                <a:ext cx="619000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3" name="Rectangle 86"/>
              <p:cNvSpPr/>
              <p:nvPr/>
            </p:nvSpPr>
            <p:spPr>
              <a:xfrm>
                <a:off x="348" y="354333"/>
                <a:ext cx="619000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4" name="Rectangle 87"/>
              <p:cNvSpPr/>
              <p:nvPr/>
            </p:nvSpPr>
            <p:spPr>
              <a:xfrm>
                <a:off x="348" y="531500"/>
                <a:ext cx="619000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5" name="Rectangle 88"/>
              <p:cNvSpPr/>
              <p:nvPr/>
            </p:nvSpPr>
            <p:spPr>
              <a:xfrm>
                <a:off x="348" y="702712"/>
                <a:ext cx="619000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727" name="Straight Connector 66"/>
            <p:cNvSpPr/>
            <p:nvPr/>
          </p:nvSpPr>
          <p:spPr>
            <a:xfrm>
              <a:off x="811836" y="81667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28" name="Straight Connector 68"/>
            <p:cNvSpPr/>
            <p:nvPr/>
          </p:nvSpPr>
          <p:spPr>
            <a:xfrm>
              <a:off x="812085" y="63869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29" name="Straight Connector 69"/>
            <p:cNvSpPr/>
            <p:nvPr/>
          </p:nvSpPr>
          <p:spPr>
            <a:xfrm>
              <a:off x="812085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0" name="Straight Connector 70"/>
            <p:cNvSpPr/>
            <p:nvPr/>
          </p:nvSpPr>
          <p:spPr>
            <a:xfrm>
              <a:off x="830246" y="98707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1" name="TextBox 78"/>
            <p:cNvSpPr txBox="1"/>
            <p:nvPr/>
          </p:nvSpPr>
          <p:spPr>
            <a:xfrm>
              <a:off x="-1" y="-2"/>
              <a:ext cx="101346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sp>
          <p:nvSpPr>
            <p:cNvPr id="1732" name="TextBox 79"/>
            <p:cNvSpPr txBox="1"/>
            <p:nvPr/>
          </p:nvSpPr>
          <p:spPr>
            <a:xfrm>
              <a:off x="880763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733" name="TextBox 80"/>
            <p:cNvSpPr txBox="1"/>
            <p:nvPr/>
          </p:nvSpPr>
          <p:spPr>
            <a:xfrm>
              <a:off x="935954" y="339737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1734" name="TextBox 81"/>
            <p:cNvSpPr txBox="1"/>
            <p:nvPr/>
          </p:nvSpPr>
          <p:spPr>
            <a:xfrm>
              <a:off x="944205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1735" name="TextBox 82"/>
            <p:cNvSpPr txBox="1"/>
            <p:nvPr/>
          </p:nvSpPr>
          <p:spPr>
            <a:xfrm>
              <a:off x="980236" y="695083"/>
              <a:ext cx="260469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1736" name="TextBox 83"/>
            <p:cNvSpPr txBox="1"/>
            <p:nvPr/>
          </p:nvSpPr>
          <p:spPr>
            <a:xfrm>
              <a:off x="977066" y="876825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sp>
        <p:nvSpPr>
          <p:cNvPr id="1738" name="Slide Number"/>
          <p:cNvSpPr txBox="1"/>
          <p:nvPr>
            <p:ph type="sldNum" sz="quarter" idx="2"/>
          </p:nvPr>
        </p:nvSpPr>
        <p:spPr>
          <a:xfrm>
            <a:off x="10572364" y="9787047"/>
            <a:ext cx="258620" cy="24830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LT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TextBox 6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1746" name="Freeform 16"/>
          <p:cNvSpPr/>
          <p:nvPr/>
        </p:nvSpPr>
        <p:spPr>
          <a:xfrm>
            <a:off x="225286" y="10099227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7" name="Freeform 17"/>
          <p:cNvSpPr/>
          <p:nvPr/>
        </p:nvSpPr>
        <p:spPr>
          <a:xfrm>
            <a:off x="225286" y="10266044"/>
            <a:ext cx="12006476" cy="1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8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 58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1752" name="Rectangle 59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1753" name="Rectangle 60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1754" name="Rectangle 61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1755" name="Rectangle 62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5GNR</a:t>
            </a:r>
          </a:p>
        </p:txBody>
      </p:sp>
      <p:sp>
        <p:nvSpPr>
          <p:cNvPr id="1756" name="Freeform 62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Rectangle 20"/>
          <p:cNvSpPr txBox="1"/>
          <p:nvPr/>
        </p:nvSpPr>
        <p:spPr>
          <a:xfrm>
            <a:off x="12279307" y="937505"/>
            <a:ext cx="2545052" cy="177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OPERATOR: </a:t>
            </a:r>
          </a:p>
        </p:txBody>
      </p:sp>
      <p:sp>
        <p:nvSpPr>
          <p:cNvPr id="1758" name="Freeform 64"/>
          <p:cNvSpPr/>
          <p:nvPr/>
        </p:nvSpPr>
        <p:spPr>
          <a:xfrm>
            <a:off x="12233909" y="1422262"/>
            <a:ext cx="2640333" cy="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9" name="Rectangle 22"/>
          <p:cNvSpPr txBox="1"/>
          <p:nvPr/>
        </p:nvSpPr>
        <p:spPr>
          <a:xfrm>
            <a:off x="12277790" y="157868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1782" name="Group 23"/>
          <p:cNvGrpSpPr/>
          <p:nvPr/>
        </p:nvGrpSpPr>
        <p:grpSpPr>
          <a:xfrm>
            <a:off x="12240475" y="1789726"/>
            <a:ext cx="1308272" cy="2247724"/>
            <a:chOff x="-1" y="-1"/>
            <a:chExt cx="1308270" cy="2247722"/>
          </a:xfrm>
        </p:grpSpPr>
        <p:sp>
          <p:nvSpPr>
            <p:cNvPr id="1760" name="Straight Connector 24"/>
            <p:cNvSpPr/>
            <p:nvPr/>
          </p:nvSpPr>
          <p:spPr>
            <a:xfrm>
              <a:off x="654461" y="194611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1" name="Straight Connector 25"/>
            <p:cNvSpPr/>
            <p:nvPr/>
          </p:nvSpPr>
          <p:spPr>
            <a:xfrm>
              <a:off x="654461" y="157844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2" name="Straight Connector 26"/>
            <p:cNvSpPr/>
            <p:nvPr/>
          </p:nvSpPr>
          <p:spPr>
            <a:xfrm>
              <a:off x="654461" y="139747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3" name="Straight Connector 27"/>
            <p:cNvSpPr/>
            <p:nvPr/>
          </p:nvSpPr>
          <p:spPr>
            <a:xfrm>
              <a:off x="654461" y="121459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4" name="Straight Connector 28"/>
            <p:cNvSpPr/>
            <p:nvPr/>
          </p:nvSpPr>
          <p:spPr>
            <a:xfrm>
              <a:off x="654461" y="1029806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5" name="Straight Connector 29"/>
            <p:cNvSpPr/>
            <p:nvPr/>
          </p:nvSpPr>
          <p:spPr>
            <a:xfrm>
              <a:off x="654461" y="846926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6" name="Straight Connector 30"/>
            <p:cNvSpPr/>
            <p:nvPr/>
          </p:nvSpPr>
          <p:spPr>
            <a:xfrm>
              <a:off x="654461" y="66214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7" name="Straight Connector 31"/>
            <p:cNvSpPr/>
            <p:nvPr/>
          </p:nvSpPr>
          <p:spPr>
            <a:xfrm>
              <a:off x="654461" y="48307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8" name="Straight Connector 32"/>
            <p:cNvSpPr/>
            <p:nvPr/>
          </p:nvSpPr>
          <p:spPr>
            <a:xfrm>
              <a:off x="654461" y="1761329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pic>
          <p:nvPicPr>
            <p:cNvPr id="1769" name="Picture 33" descr="Picture 3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9621" y="292571"/>
              <a:ext cx="624845" cy="1844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70" name="TextBox 34"/>
            <p:cNvSpPr txBox="1"/>
            <p:nvPr/>
          </p:nvSpPr>
          <p:spPr>
            <a:xfrm>
              <a:off x="736458" y="2019214"/>
              <a:ext cx="32669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MIN</a:t>
              </a:r>
            </a:p>
          </p:txBody>
        </p:sp>
        <p:sp>
          <p:nvSpPr>
            <p:cNvPr id="1771" name="TextBox 35"/>
            <p:cNvSpPr txBox="1"/>
            <p:nvPr/>
          </p:nvSpPr>
          <p:spPr>
            <a:xfrm>
              <a:off x="880183" y="356153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-65</a:t>
              </a:r>
            </a:p>
          </p:txBody>
        </p:sp>
        <p:sp>
          <p:nvSpPr>
            <p:cNvPr id="1772" name="TextBox 36"/>
            <p:cNvSpPr txBox="1"/>
            <p:nvPr/>
          </p:nvSpPr>
          <p:spPr>
            <a:xfrm>
              <a:off x="880183" y="540934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-80</a:t>
              </a:r>
            </a:p>
          </p:txBody>
        </p:sp>
        <p:sp>
          <p:nvSpPr>
            <p:cNvPr id="1773" name="TextBox 37"/>
            <p:cNvSpPr txBox="1"/>
            <p:nvPr/>
          </p:nvSpPr>
          <p:spPr>
            <a:xfrm>
              <a:off x="880183" y="723817"/>
              <a:ext cx="363718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-95</a:t>
              </a:r>
            </a:p>
          </p:txBody>
        </p:sp>
        <p:sp>
          <p:nvSpPr>
            <p:cNvPr id="1774" name="TextBox 38"/>
            <p:cNvSpPr txBox="1"/>
            <p:nvPr/>
          </p:nvSpPr>
          <p:spPr>
            <a:xfrm>
              <a:off x="880183" y="908601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-105</a:t>
              </a:r>
            </a:p>
          </p:txBody>
        </p:sp>
        <p:sp>
          <p:nvSpPr>
            <p:cNvPr id="1775" name="TextBox 39"/>
            <p:cNvSpPr txBox="1"/>
            <p:nvPr/>
          </p:nvSpPr>
          <p:spPr>
            <a:xfrm>
              <a:off x="880184" y="1089577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-110</a:t>
              </a:r>
            </a:p>
          </p:txBody>
        </p:sp>
        <p:sp>
          <p:nvSpPr>
            <p:cNvPr id="1776" name="TextBox 40"/>
            <p:cNvSpPr txBox="1"/>
            <p:nvPr/>
          </p:nvSpPr>
          <p:spPr>
            <a:xfrm>
              <a:off x="880184" y="1274362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-113</a:t>
              </a:r>
            </a:p>
          </p:txBody>
        </p:sp>
        <p:sp>
          <p:nvSpPr>
            <p:cNvPr id="1777" name="TextBox 41"/>
            <p:cNvSpPr txBox="1"/>
            <p:nvPr/>
          </p:nvSpPr>
          <p:spPr>
            <a:xfrm>
              <a:off x="878781" y="1453436"/>
              <a:ext cx="428086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-116</a:t>
              </a:r>
            </a:p>
          </p:txBody>
        </p:sp>
        <p:sp>
          <p:nvSpPr>
            <p:cNvPr id="1778" name="TextBox 42"/>
            <p:cNvSpPr txBox="1"/>
            <p:nvPr/>
          </p:nvSpPr>
          <p:spPr>
            <a:xfrm>
              <a:off x="878781" y="1638220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-118</a:t>
              </a:r>
            </a:p>
          </p:txBody>
        </p:sp>
        <p:sp>
          <p:nvSpPr>
            <p:cNvPr id="1779" name="TextBox 43"/>
            <p:cNvSpPr txBox="1"/>
            <p:nvPr/>
          </p:nvSpPr>
          <p:spPr>
            <a:xfrm>
              <a:off x="878781" y="1817294"/>
              <a:ext cx="428086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&gt; -121</a:t>
              </a:r>
            </a:p>
          </p:txBody>
        </p:sp>
        <p:sp>
          <p:nvSpPr>
            <p:cNvPr id="1780" name="TextBox 44"/>
            <p:cNvSpPr txBox="1"/>
            <p:nvPr/>
          </p:nvSpPr>
          <p:spPr>
            <a:xfrm>
              <a:off x="736458" y="169460"/>
              <a:ext cx="352122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781" name="TextBox 45"/>
            <p:cNvSpPr txBox="1"/>
            <p:nvPr/>
          </p:nvSpPr>
          <p:spPr>
            <a:xfrm>
              <a:off x="-2" y="-2"/>
              <a:ext cx="107628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 sz="1000" u="sng"/>
              </a:lvl1pPr>
            </a:lstStyle>
            <a:p>
              <a:pPr/>
              <a:r>
                <a:t>SS-RSRP (dBm)</a:t>
              </a:r>
            </a:p>
          </p:txBody>
        </p:sp>
      </p:grpSp>
      <p:grpSp>
        <p:nvGrpSpPr>
          <p:cNvPr id="1785" name="Rectangle 77"/>
          <p:cNvGrpSpPr/>
          <p:nvPr/>
        </p:nvGrpSpPr>
        <p:grpSpPr>
          <a:xfrm>
            <a:off x="12242778" y="5445644"/>
            <a:ext cx="2627299" cy="392467"/>
            <a:chOff x="0" y="0"/>
            <a:chExt cx="2627297" cy="392465"/>
          </a:xfrm>
        </p:grpSpPr>
        <p:sp>
          <p:nvSpPr>
            <p:cNvPr id="1783" name="Rectangle"/>
            <p:cNvSpPr/>
            <p:nvPr/>
          </p:nvSpPr>
          <p:spPr>
            <a:xfrm>
              <a:off x="-1" y="34217"/>
              <a:ext cx="2627299" cy="324041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1784" name="5GNR"/>
            <p:cNvSpPr txBox="1"/>
            <p:nvPr/>
          </p:nvSpPr>
          <p:spPr>
            <a:xfrm>
              <a:off x="45718" y="-1"/>
              <a:ext cx="2535860" cy="392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5GNR</a:t>
              </a:r>
            </a:p>
          </p:txBody>
        </p:sp>
      </p:grpSp>
      <p:grpSp>
        <p:nvGrpSpPr>
          <p:cNvPr id="1802" name="Group 63"/>
          <p:cNvGrpSpPr/>
          <p:nvPr/>
        </p:nvGrpSpPr>
        <p:grpSpPr>
          <a:xfrm>
            <a:off x="13533352" y="1801452"/>
            <a:ext cx="1188613" cy="1164243"/>
            <a:chOff x="0" y="-1"/>
            <a:chExt cx="1188612" cy="1164241"/>
          </a:xfrm>
        </p:grpSpPr>
        <p:grpSp>
          <p:nvGrpSpPr>
            <p:cNvPr id="1791" name="Group 64"/>
            <p:cNvGrpSpPr/>
            <p:nvPr/>
          </p:nvGrpSpPr>
          <p:grpSpPr>
            <a:xfrm>
              <a:off x="175306" y="284359"/>
              <a:ext cx="619348" cy="879882"/>
              <a:chOff x="0" y="0"/>
              <a:chExt cx="619347" cy="879880"/>
            </a:xfrm>
          </p:grpSpPr>
          <p:sp>
            <p:nvSpPr>
              <p:cNvPr id="1786" name="Rectangle 84"/>
              <p:cNvSpPr/>
              <p:nvPr/>
            </p:nvSpPr>
            <p:spPr>
              <a:xfrm>
                <a:off x="0" y="-1"/>
                <a:ext cx="618999" cy="177168"/>
              </a:xfrm>
              <a:prstGeom prst="rect">
                <a:avLst/>
              </a:prstGeom>
              <a:solidFill>
                <a:srgbClr val="28E3FC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87" name="Rectangle 85"/>
              <p:cNvSpPr/>
              <p:nvPr/>
            </p:nvSpPr>
            <p:spPr>
              <a:xfrm>
                <a:off x="1" y="177166"/>
                <a:ext cx="618999" cy="177168"/>
              </a:xfrm>
              <a:prstGeom prst="rect">
                <a:avLst/>
              </a:prstGeom>
              <a:solidFill>
                <a:srgbClr val="00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88" name="Rectangle 86"/>
              <p:cNvSpPr/>
              <p:nvPr/>
            </p:nvSpPr>
            <p:spPr>
              <a:xfrm>
                <a:off x="349" y="354333"/>
                <a:ext cx="618999" cy="177168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89" name="Rectangle 87"/>
              <p:cNvSpPr/>
              <p:nvPr/>
            </p:nvSpPr>
            <p:spPr>
              <a:xfrm>
                <a:off x="349" y="531500"/>
                <a:ext cx="618999" cy="177168"/>
              </a:xfrm>
              <a:prstGeom prst="rect">
                <a:avLst/>
              </a:prstGeom>
              <a:solidFill>
                <a:srgbClr val="FFC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90" name="Rectangle 88"/>
              <p:cNvSpPr/>
              <p:nvPr/>
            </p:nvSpPr>
            <p:spPr>
              <a:xfrm>
                <a:off x="349" y="702712"/>
                <a:ext cx="618999" cy="17716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371"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792" name="Straight Connector 66"/>
            <p:cNvSpPr/>
            <p:nvPr/>
          </p:nvSpPr>
          <p:spPr>
            <a:xfrm>
              <a:off x="731407" y="816672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93" name="Straight Connector 68"/>
            <p:cNvSpPr/>
            <p:nvPr/>
          </p:nvSpPr>
          <p:spPr>
            <a:xfrm>
              <a:off x="731656" y="638694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94" name="Straight Connector 69"/>
            <p:cNvSpPr/>
            <p:nvPr/>
          </p:nvSpPr>
          <p:spPr>
            <a:xfrm>
              <a:off x="731656" y="461527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95" name="Straight Connector 70"/>
            <p:cNvSpPr/>
            <p:nvPr/>
          </p:nvSpPr>
          <p:spPr>
            <a:xfrm>
              <a:off x="749818" y="987071"/>
              <a:ext cx="180003" cy="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96" name="TextBox 78"/>
            <p:cNvSpPr txBox="1"/>
            <p:nvPr/>
          </p:nvSpPr>
          <p:spPr>
            <a:xfrm>
              <a:off x="0" y="-2"/>
              <a:ext cx="1013465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SS-SNIR (dB)</a:t>
              </a:r>
            </a:p>
          </p:txBody>
        </p:sp>
        <p:sp>
          <p:nvSpPr>
            <p:cNvPr id="1797" name="TextBox 79"/>
            <p:cNvSpPr txBox="1"/>
            <p:nvPr/>
          </p:nvSpPr>
          <p:spPr>
            <a:xfrm>
              <a:off x="800334" y="136854"/>
              <a:ext cx="333530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Max</a:t>
              </a:r>
            </a:p>
          </p:txBody>
        </p:sp>
        <p:sp>
          <p:nvSpPr>
            <p:cNvPr id="1798" name="TextBox 80"/>
            <p:cNvSpPr txBox="1"/>
            <p:nvPr/>
          </p:nvSpPr>
          <p:spPr>
            <a:xfrm>
              <a:off x="855525" y="339737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&gt;20</a:t>
              </a:r>
            </a:p>
          </p:txBody>
        </p:sp>
        <p:sp>
          <p:nvSpPr>
            <p:cNvPr id="1799" name="TextBox 81"/>
            <p:cNvSpPr txBox="1"/>
            <p:nvPr/>
          </p:nvSpPr>
          <p:spPr>
            <a:xfrm>
              <a:off x="863776" y="523744"/>
              <a:ext cx="324837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 &gt;14</a:t>
              </a:r>
            </a:p>
          </p:txBody>
        </p:sp>
        <p:sp>
          <p:nvSpPr>
            <p:cNvPr id="1800" name="TextBox 82"/>
            <p:cNvSpPr txBox="1"/>
            <p:nvPr/>
          </p:nvSpPr>
          <p:spPr>
            <a:xfrm>
              <a:off x="899807" y="695083"/>
              <a:ext cx="260469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6</a:t>
              </a:r>
            </a:p>
          </p:txBody>
        </p:sp>
        <p:sp>
          <p:nvSpPr>
            <p:cNvPr id="1801" name="TextBox 83"/>
            <p:cNvSpPr txBox="1"/>
            <p:nvPr/>
          </p:nvSpPr>
          <p:spPr>
            <a:xfrm>
              <a:off x="896637" y="876825"/>
              <a:ext cx="260469" cy="228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 defTabSz="914371">
                <a:defRPr sz="1000"/>
              </a:lvl1pPr>
            </a:lstStyle>
            <a:p>
              <a:pPr/>
              <a:r>
                <a:t>&gt; 0</a:t>
              </a:r>
            </a:p>
          </p:txBody>
        </p:sp>
      </p:grpSp>
      <p:sp>
        <p:nvSpPr>
          <p:cNvPr id="1803" name="Slide Number"/>
          <p:cNvSpPr txBox="1"/>
          <p:nvPr>
            <p:ph type="sldNum" sz="quarter" idx="2"/>
          </p:nvPr>
        </p:nvSpPr>
        <p:spPr>
          <a:xfrm>
            <a:off x="10572364" y="9787047"/>
            <a:ext cx="258620" cy="24830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6"/>
          <p:cNvSpPr txBox="1"/>
          <p:nvPr/>
        </p:nvSpPr>
        <p:spPr>
          <a:xfrm>
            <a:off x="13525788" y="9201184"/>
            <a:ext cx="13006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SHEET:</a:t>
            </a:r>
          </a:p>
        </p:txBody>
      </p:sp>
      <p:sp>
        <p:nvSpPr>
          <p:cNvPr id="3" name="Freeform 10"/>
          <p:cNvSpPr/>
          <p:nvPr/>
        </p:nvSpPr>
        <p:spPr>
          <a:xfrm flipH="1">
            <a:off x="12234861" y="209549"/>
            <a:ext cx="1" cy="1022400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" name="Freeform 11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" name="TextBox 15"/>
          <p:cNvSpPr txBox="1"/>
          <p:nvPr/>
        </p:nvSpPr>
        <p:spPr>
          <a:xfrm>
            <a:off x="12339755" y="6726997"/>
            <a:ext cx="2522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A6A6A6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RF PREDICTIONS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12253914" y="7872499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STATION</a:t>
            </a:r>
          </a:p>
        </p:txBody>
      </p:sp>
      <p:sp>
        <p:nvSpPr>
          <p:cNvPr id="7" name="Freeform 45"/>
          <p:cNvSpPr/>
          <p:nvPr/>
        </p:nvSpPr>
        <p:spPr>
          <a:xfrm>
            <a:off x="12230100" y="884833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" name="Freeform 67"/>
          <p:cNvSpPr/>
          <p:nvPr/>
        </p:nvSpPr>
        <p:spPr>
          <a:xfrm>
            <a:off x="13545545" y="6970361"/>
            <a:ext cx="3" cy="89040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" name="TextBox 75"/>
          <p:cNvSpPr txBox="1"/>
          <p:nvPr/>
        </p:nvSpPr>
        <p:spPr>
          <a:xfrm>
            <a:off x="12234160" y="9470638"/>
            <a:ext cx="2592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DRAWING HISTORY</a:t>
            </a:r>
          </a:p>
        </p:txBody>
      </p:sp>
      <p:sp>
        <p:nvSpPr>
          <p:cNvPr id="10" name="Freeform 76"/>
          <p:cNvSpPr/>
          <p:nvPr/>
        </p:nvSpPr>
        <p:spPr>
          <a:xfrm>
            <a:off x="12233492" y="9612058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" name="TextBox 77"/>
          <p:cNvSpPr txBox="1"/>
          <p:nvPr/>
        </p:nvSpPr>
        <p:spPr>
          <a:xfrm>
            <a:off x="12507654" y="9632305"/>
            <a:ext cx="5102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2" name="Freeform 79"/>
          <p:cNvSpPr/>
          <p:nvPr/>
        </p:nvSpPr>
        <p:spPr>
          <a:xfrm>
            <a:off x="12513692" y="9612117"/>
            <a:ext cx="3" cy="821437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" name="TextBox 80"/>
          <p:cNvSpPr txBox="1"/>
          <p:nvPr/>
        </p:nvSpPr>
        <p:spPr>
          <a:xfrm>
            <a:off x="12233491" y="9634148"/>
            <a:ext cx="2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ISSUE</a:t>
            </a:r>
          </a:p>
        </p:txBody>
      </p:sp>
      <p:sp>
        <p:nvSpPr>
          <p:cNvPr id="14" name="Freeform 82"/>
          <p:cNvSpPr/>
          <p:nvPr/>
        </p:nvSpPr>
        <p:spPr>
          <a:xfrm>
            <a:off x="12236067" y="9736835"/>
            <a:ext cx="2636006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" name="Freeform 83"/>
          <p:cNvSpPr/>
          <p:nvPr/>
        </p:nvSpPr>
        <p:spPr>
          <a:xfrm>
            <a:off x="13052420" y="9614213"/>
            <a:ext cx="3" cy="824700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" name="TextBox 84"/>
          <p:cNvSpPr txBox="1"/>
          <p:nvPr/>
        </p:nvSpPr>
        <p:spPr>
          <a:xfrm>
            <a:off x="13058443" y="9631360"/>
            <a:ext cx="1781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7" name="Freeform 86"/>
          <p:cNvSpPr/>
          <p:nvPr/>
        </p:nvSpPr>
        <p:spPr>
          <a:xfrm>
            <a:off x="12237973" y="9877804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" name="Freeform 87"/>
          <p:cNvSpPr/>
          <p:nvPr/>
        </p:nvSpPr>
        <p:spPr>
          <a:xfrm>
            <a:off x="12236067" y="9878180"/>
            <a:ext cx="2636006" cy="3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" name="Freeform 88"/>
          <p:cNvSpPr/>
          <p:nvPr/>
        </p:nvSpPr>
        <p:spPr>
          <a:xfrm>
            <a:off x="12237973" y="10019151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" name="Freeform 90"/>
          <p:cNvSpPr/>
          <p:nvPr/>
        </p:nvSpPr>
        <p:spPr>
          <a:xfrm>
            <a:off x="12237973" y="10159355"/>
            <a:ext cx="2636007" cy="4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traight Connector 2"/>
          <p:cNvSpPr/>
          <p:nvPr/>
        </p:nvSpPr>
        <p:spPr>
          <a:xfrm>
            <a:off x="12237973" y="6966880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traight Connector 71"/>
          <p:cNvSpPr/>
          <p:nvPr/>
        </p:nvSpPr>
        <p:spPr>
          <a:xfrm>
            <a:off x="12237973" y="6678848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Freeform 90"/>
          <p:cNvSpPr/>
          <p:nvPr/>
        </p:nvSpPr>
        <p:spPr>
          <a:xfrm>
            <a:off x="12237973" y="10298666"/>
            <a:ext cx="2636007" cy="2"/>
          </a:xfrm>
          <a:prstGeom prst="line">
            <a:avLst/>
          </a:prstGeom>
          <a:ln w="3175"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" name="TextBox 98"/>
          <p:cNvSpPr txBox="1"/>
          <p:nvPr/>
        </p:nvSpPr>
        <p:spPr>
          <a:xfrm>
            <a:off x="13070458" y="9889172"/>
            <a:ext cx="17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5" name="TextBox 74"/>
          <p:cNvSpPr txBox="1"/>
          <p:nvPr/>
        </p:nvSpPr>
        <p:spPr>
          <a:xfrm>
            <a:off x="12243182" y="9193193"/>
            <a:ext cx="12663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SCALE: </a:t>
            </a:r>
            <a:r>
              <a:rPr>
                <a:solidFill>
                  <a:srgbClr val="000000"/>
                </a:solidFill>
              </a:rPr>
              <a:t>NOT TO SCALE</a:t>
            </a:r>
          </a:p>
        </p:txBody>
      </p:sp>
      <p:sp>
        <p:nvSpPr>
          <p:cNvPr id="26" name="Freeform 47"/>
          <p:cNvSpPr/>
          <p:nvPr/>
        </p:nvSpPr>
        <p:spPr>
          <a:xfrm>
            <a:off x="12226542" y="9184596"/>
            <a:ext cx="2646003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" name="TextBox 109"/>
          <p:cNvSpPr txBox="1"/>
          <p:nvPr/>
        </p:nvSpPr>
        <p:spPr>
          <a:xfrm>
            <a:off x="12253914" y="8867116"/>
            <a:ext cx="959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REFERENCE</a:t>
            </a:r>
          </a:p>
        </p:txBody>
      </p:sp>
      <p:sp>
        <p:nvSpPr>
          <p:cNvPr id="28" name="TextBox 110"/>
          <p:cNvSpPr txBox="1"/>
          <p:nvPr/>
        </p:nvSpPr>
        <p:spPr>
          <a:xfrm>
            <a:off x="12223991" y="8967075"/>
            <a:ext cx="2590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 B – RF PREDICTIONS </a:t>
            </a:r>
          </a:p>
        </p:txBody>
      </p:sp>
      <p:sp>
        <p:nvSpPr>
          <p:cNvPr id="29" name="Straight Connector 115"/>
          <p:cNvSpPr/>
          <p:nvPr/>
        </p:nvSpPr>
        <p:spPr>
          <a:xfrm>
            <a:off x="12237973" y="7857455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" name="Rectangle 118"/>
          <p:cNvSpPr txBox="1"/>
          <p:nvPr/>
        </p:nvSpPr>
        <p:spPr>
          <a:xfrm>
            <a:off x="12292583" y="374373"/>
            <a:ext cx="2524151" cy="24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COMMERCIAL MOBILE SERVICES</a:t>
            </a:r>
          </a:p>
        </p:txBody>
      </p:sp>
      <p:sp>
        <p:nvSpPr>
          <p:cNvPr id="31" name="Rectangle 3"/>
          <p:cNvSpPr/>
          <p:nvPr/>
        </p:nvSpPr>
        <p:spPr>
          <a:xfrm>
            <a:off x="0" y="1"/>
            <a:ext cx="15122525" cy="236989"/>
          </a:xfrm>
          <a:prstGeom prst="rect">
            <a:avLst/>
          </a:prstGeom>
          <a:solidFill>
            <a:srgbClr val="D91D49"/>
          </a:solidFill>
          <a:ln w="25400">
            <a:solidFill>
              <a:srgbClr val="D91D49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2" name="Freeform 47"/>
          <p:cNvSpPr/>
          <p:nvPr/>
        </p:nvSpPr>
        <p:spPr>
          <a:xfrm flipV="1">
            <a:off x="13531175" y="9183037"/>
            <a:ext cx="3" cy="12473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" name="Rectangle 5"/>
          <p:cNvSpPr/>
          <p:nvPr/>
        </p:nvSpPr>
        <p:spPr>
          <a:xfrm>
            <a:off x="223628" y="261258"/>
            <a:ext cx="14646449" cy="10175448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49"/>
          <p:cNvSpPr txBox="1"/>
          <p:nvPr/>
        </p:nvSpPr>
        <p:spPr>
          <a:xfrm>
            <a:off x="12253914" y="8285091"/>
            <a:ext cx="907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ADDRESS</a:t>
            </a:r>
          </a:p>
        </p:txBody>
      </p:sp>
      <p:sp>
        <p:nvSpPr>
          <p:cNvPr id="35" name="Freeform 45"/>
          <p:cNvSpPr/>
          <p:nvPr/>
        </p:nvSpPr>
        <p:spPr>
          <a:xfrm>
            <a:off x="12230100" y="8849604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" name="Straight Connector 52"/>
          <p:cNvSpPr/>
          <p:nvPr/>
        </p:nvSpPr>
        <p:spPr>
          <a:xfrm>
            <a:off x="12237973" y="8270047"/>
            <a:ext cx="2636006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" name="Freeform 47"/>
          <p:cNvSpPr/>
          <p:nvPr/>
        </p:nvSpPr>
        <p:spPr>
          <a:xfrm>
            <a:off x="12236067" y="9317742"/>
            <a:ext cx="2631524" cy="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Freeform 48"/>
          <p:cNvSpPr/>
          <p:nvPr/>
        </p:nvSpPr>
        <p:spPr>
          <a:xfrm>
            <a:off x="12227249" y="9427722"/>
            <a:ext cx="2646002" cy="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Freeform 21"/>
          <p:cNvSpPr/>
          <p:nvPr/>
        </p:nvSpPr>
        <p:spPr>
          <a:xfrm>
            <a:off x="12959990" y="9317742"/>
            <a:ext cx="3" cy="108002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Freeform 67"/>
          <p:cNvSpPr/>
          <p:nvPr/>
        </p:nvSpPr>
        <p:spPr>
          <a:xfrm>
            <a:off x="13975212" y="9321118"/>
            <a:ext cx="3" cy="108131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" name="TextBox 1"/>
          <p:cNvSpPr txBox="1"/>
          <p:nvPr/>
        </p:nvSpPr>
        <p:spPr>
          <a:xfrm>
            <a:off x="63498" y="10507980"/>
            <a:ext cx="7731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/>
            <a:r>
              <a:t>[SEC=PROTECTED]</a:t>
            </a:r>
          </a:p>
        </p:txBody>
      </p:sp>
      <p:sp>
        <p:nvSpPr>
          <p:cNvPr id="42" name="Picture Placeholder 2"/>
          <p:cNvSpPr/>
          <p:nvPr/>
        </p:nvSpPr>
        <p:spPr>
          <a:xfrm>
            <a:off x="599800" y="508423"/>
            <a:ext cx="11233730" cy="93643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defTabSz="1407968">
              <a:spcBef>
                <a:spcPts val="1200"/>
              </a:spcBef>
              <a:defRPr sz="5000"/>
            </a:pPr>
          </a:p>
        </p:txBody>
      </p:sp>
      <p:sp>
        <p:nvSpPr>
          <p:cNvPr id="43" name="TextBox 6"/>
          <p:cNvSpPr txBox="1"/>
          <p:nvPr/>
        </p:nvSpPr>
        <p:spPr>
          <a:xfrm>
            <a:off x="13549306" y="7032755"/>
            <a:ext cx="128418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BOLDYN NETWORKS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</a:t>
            </a:r>
            <a:r>
              <a:rPr baseline="30000"/>
              <a:t>nd</a:t>
            </a:r>
            <a:r>
              <a:t> FLOOR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2 KINGDOM STREET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LONDON </a:t>
            </a:r>
          </a:p>
          <a:p>
            <a:pPr algn="ctr">
              <a:defRPr sz="8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W2 6BD</a:t>
            </a:r>
          </a:p>
        </p:txBody>
      </p:sp>
      <p:sp>
        <p:nvSpPr>
          <p:cNvPr id="44" name="Freeform: Shape 7"/>
          <p:cNvSpPr/>
          <p:nvPr/>
        </p:nvSpPr>
        <p:spPr>
          <a:xfrm>
            <a:off x="12537433" y="7031193"/>
            <a:ext cx="705488" cy="664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73"/>
                </a:moveTo>
                <a:lnTo>
                  <a:pt x="21231" y="9061"/>
                </a:lnTo>
                <a:lnTo>
                  <a:pt x="20308" y="7567"/>
                </a:lnTo>
                <a:lnTo>
                  <a:pt x="18900" y="6563"/>
                </a:lnTo>
                <a:lnTo>
                  <a:pt x="17192" y="6196"/>
                </a:lnTo>
                <a:lnTo>
                  <a:pt x="6808" y="6196"/>
                </a:lnTo>
                <a:lnTo>
                  <a:pt x="6808" y="0"/>
                </a:lnTo>
                <a:lnTo>
                  <a:pt x="4131" y="0"/>
                </a:lnTo>
                <a:lnTo>
                  <a:pt x="4131" y="6196"/>
                </a:lnTo>
                <a:lnTo>
                  <a:pt x="0" y="6196"/>
                </a:lnTo>
                <a:lnTo>
                  <a:pt x="0" y="9037"/>
                </a:lnTo>
                <a:lnTo>
                  <a:pt x="4131" y="9037"/>
                </a:lnTo>
                <a:lnTo>
                  <a:pt x="4131" y="6196"/>
                </a:lnTo>
                <a:lnTo>
                  <a:pt x="6808" y="6196"/>
                </a:lnTo>
                <a:lnTo>
                  <a:pt x="6808" y="9037"/>
                </a:lnTo>
                <a:lnTo>
                  <a:pt x="18923" y="9037"/>
                </a:lnTo>
                <a:lnTo>
                  <a:pt x="18923" y="18759"/>
                </a:lnTo>
                <a:lnTo>
                  <a:pt x="6808" y="18759"/>
                </a:lnTo>
                <a:lnTo>
                  <a:pt x="6808" y="9037"/>
                </a:lnTo>
                <a:lnTo>
                  <a:pt x="4131" y="9037"/>
                </a:lnTo>
                <a:lnTo>
                  <a:pt x="4131" y="16922"/>
                </a:lnTo>
                <a:lnTo>
                  <a:pt x="4477" y="18735"/>
                </a:lnTo>
                <a:lnTo>
                  <a:pt x="5423" y="20229"/>
                </a:lnTo>
                <a:lnTo>
                  <a:pt x="6831" y="21233"/>
                </a:lnTo>
                <a:lnTo>
                  <a:pt x="8538" y="21600"/>
                </a:lnTo>
                <a:lnTo>
                  <a:pt x="17192" y="21600"/>
                </a:lnTo>
                <a:lnTo>
                  <a:pt x="18900" y="21233"/>
                </a:lnTo>
                <a:lnTo>
                  <a:pt x="20308" y="20229"/>
                </a:lnTo>
                <a:lnTo>
                  <a:pt x="21231" y="18759"/>
                </a:lnTo>
                <a:lnTo>
                  <a:pt x="21600" y="16922"/>
                </a:lnTo>
                <a:lnTo>
                  <a:pt x="21600" y="10873"/>
                </a:lnTo>
                <a:close/>
              </a:path>
            </a:pathLst>
          </a:custGeom>
          <a:solidFill>
            <a:srgbClr val="F5054F">
              <a:alpha val="29802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Box 23"/>
          <p:cNvSpPr txBox="1"/>
          <p:nvPr/>
        </p:nvSpPr>
        <p:spPr>
          <a:xfrm>
            <a:off x="13969973" y="9321327"/>
            <a:ext cx="8564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APPROVED: </a:t>
            </a:r>
            <a:r>
              <a:rPr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46" name="TextBox 24"/>
          <p:cNvSpPr txBox="1"/>
          <p:nvPr/>
        </p:nvSpPr>
        <p:spPr>
          <a:xfrm>
            <a:off x="13098735" y="9321327"/>
            <a:ext cx="830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CHECKED: </a:t>
            </a:r>
            <a:r>
              <a:rPr>
                <a:solidFill>
                  <a:srgbClr val="000000"/>
                </a:solidFill>
              </a:rPr>
              <a:t>&lt;C&gt;</a:t>
            </a:r>
          </a:p>
        </p:txBody>
      </p:sp>
      <p:sp>
        <p:nvSpPr>
          <p:cNvPr id="47" name="TextBox 26"/>
          <p:cNvSpPr txBox="1"/>
          <p:nvPr/>
        </p:nvSpPr>
        <p:spPr>
          <a:xfrm>
            <a:off x="12228576" y="9321327"/>
            <a:ext cx="8335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600">
                <a:solidFill>
                  <a:srgbClr val="80808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DRAWN:   </a:t>
            </a:r>
            <a:r>
              <a:rPr>
                <a:solidFill>
                  <a:srgbClr val="000000"/>
                </a:solidFill>
              </a:rPr>
              <a:t>&lt;D&gt;</a:t>
            </a:r>
          </a:p>
        </p:txBody>
      </p:sp>
      <p:sp>
        <p:nvSpPr>
          <p:cNvPr id="48" name="TextBox 27"/>
          <p:cNvSpPr txBox="1"/>
          <p:nvPr/>
        </p:nvSpPr>
        <p:spPr>
          <a:xfrm>
            <a:off x="13056406" y="9758240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Original Submission</a:t>
            </a:r>
          </a:p>
        </p:txBody>
      </p:sp>
      <p:sp>
        <p:nvSpPr>
          <p:cNvPr id="49" name="TextBox 28"/>
          <p:cNvSpPr txBox="1"/>
          <p:nvPr/>
        </p:nvSpPr>
        <p:spPr>
          <a:xfrm>
            <a:off x="12247271" y="9758240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P01</a:t>
            </a:r>
          </a:p>
        </p:txBody>
      </p:sp>
      <p:sp>
        <p:nvSpPr>
          <p:cNvPr id="50" name="TextBox 29"/>
          <p:cNvSpPr txBox="1"/>
          <p:nvPr/>
        </p:nvSpPr>
        <p:spPr>
          <a:xfrm>
            <a:off x="12516948" y="9758240"/>
            <a:ext cx="4943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&lt;P01&gt;</a:t>
            </a:r>
          </a:p>
        </p:txBody>
      </p:sp>
      <p:sp>
        <p:nvSpPr>
          <p:cNvPr id="51" name="TextBox 30"/>
          <p:cNvSpPr txBox="1"/>
          <p:nvPr/>
        </p:nvSpPr>
        <p:spPr>
          <a:xfrm>
            <a:off x="12233457" y="8514819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&lt;&lt;ADDRESS&gt;&gt;</a:t>
            </a:r>
          </a:p>
        </p:txBody>
      </p:sp>
      <p:sp>
        <p:nvSpPr>
          <p:cNvPr id="52" name="TextBox 31"/>
          <p:cNvSpPr txBox="1"/>
          <p:nvPr/>
        </p:nvSpPr>
        <p:spPr>
          <a:xfrm>
            <a:off x="12239090" y="7990071"/>
            <a:ext cx="260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&lt;&lt;STATION_NAME&gt;&gt;</a:t>
            </a:r>
          </a:p>
        </p:txBody>
      </p:sp>
      <p:sp>
        <p:nvSpPr>
          <p:cNvPr id="53" name="TextBox 32"/>
          <p:cNvSpPr txBox="1"/>
          <p:nvPr/>
        </p:nvSpPr>
        <p:spPr>
          <a:xfrm>
            <a:off x="13056406" y="9904169"/>
            <a:ext cx="177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Updated design</a:t>
            </a:r>
          </a:p>
        </p:txBody>
      </p:sp>
      <p:sp>
        <p:nvSpPr>
          <p:cNvPr id="54" name="TextBox 33"/>
          <p:cNvSpPr txBox="1"/>
          <p:nvPr/>
        </p:nvSpPr>
        <p:spPr>
          <a:xfrm>
            <a:off x="12247271" y="9904169"/>
            <a:ext cx="224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P02</a:t>
            </a:r>
          </a:p>
        </p:txBody>
      </p:sp>
      <p:sp>
        <p:nvSpPr>
          <p:cNvPr id="55" name="TextBox 34"/>
          <p:cNvSpPr txBox="1"/>
          <p:nvPr/>
        </p:nvSpPr>
        <p:spPr>
          <a:xfrm>
            <a:off x="12516948" y="9904169"/>
            <a:ext cx="4943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&lt;P02&gt;</a:t>
            </a:r>
          </a:p>
        </p:txBody>
      </p:sp>
      <p:pic>
        <p:nvPicPr>
          <p:cNvPr id="5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3457" y="722526"/>
            <a:ext cx="2633703" cy="646233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Straight Arrow Connector 19"/>
          <p:cNvSpPr/>
          <p:nvPr/>
        </p:nvSpPr>
        <p:spPr>
          <a:xfrm flipH="1">
            <a:off x="14298898" y="9425742"/>
            <a:ext cx="587069" cy="427933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" name="Rectangle 28"/>
          <p:cNvSpPr txBox="1"/>
          <p:nvPr/>
        </p:nvSpPr>
        <p:spPr>
          <a:xfrm>
            <a:off x="1031881" y="10077208"/>
            <a:ext cx="1398602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GSM</a:t>
            </a:r>
          </a:p>
        </p:txBody>
      </p:sp>
      <p:sp>
        <p:nvSpPr>
          <p:cNvPr id="59" name="Freeform 62"/>
          <p:cNvSpPr/>
          <p:nvPr/>
        </p:nvSpPr>
        <p:spPr>
          <a:xfrm>
            <a:off x="12230100" y="702182"/>
            <a:ext cx="2646002" cy="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Freeform 55"/>
          <p:cNvSpPr/>
          <p:nvPr/>
        </p:nvSpPr>
        <p:spPr>
          <a:xfrm>
            <a:off x="9227818" y="10104121"/>
            <a:ext cx="2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" name="Freeform 56"/>
          <p:cNvSpPr/>
          <p:nvPr/>
        </p:nvSpPr>
        <p:spPr>
          <a:xfrm>
            <a:off x="622851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" name="Freeform 57"/>
          <p:cNvSpPr/>
          <p:nvPr/>
        </p:nvSpPr>
        <p:spPr>
          <a:xfrm>
            <a:off x="3204778" y="10104121"/>
            <a:ext cx="3" cy="33528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" name="Rectangle 7"/>
          <p:cNvSpPr txBox="1"/>
          <p:nvPr/>
        </p:nvSpPr>
        <p:spPr>
          <a:xfrm>
            <a:off x="271007" y="10249421"/>
            <a:ext cx="2888053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</a:t>
            </a:r>
          </a:p>
        </p:txBody>
      </p:sp>
      <p:sp>
        <p:nvSpPr>
          <p:cNvPr id="64" name="Rectangle 8"/>
          <p:cNvSpPr txBox="1"/>
          <p:nvPr/>
        </p:nvSpPr>
        <p:spPr>
          <a:xfrm>
            <a:off x="3250501" y="10249613"/>
            <a:ext cx="2924494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Frequency Band</a:t>
            </a:r>
          </a:p>
        </p:txBody>
      </p:sp>
      <p:sp>
        <p:nvSpPr>
          <p:cNvPr id="65" name="Rectangle 9"/>
          <p:cNvSpPr txBox="1"/>
          <p:nvPr/>
        </p:nvSpPr>
        <p:spPr>
          <a:xfrm>
            <a:off x="6272324" y="10254544"/>
            <a:ext cx="2901970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</a:t>
            </a:r>
          </a:p>
        </p:txBody>
      </p:sp>
      <p:sp>
        <p:nvSpPr>
          <p:cNvPr id="66" name="Rectangle 10"/>
          <p:cNvSpPr txBox="1"/>
          <p:nvPr/>
        </p:nvSpPr>
        <p:spPr>
          <a:xfrm>
            <a:off x="9273537" y="10246401"/>
            <a:ext cx="29125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Floor Level</a:t>
            </a:r>
          </a:p>
        </p:txBody>
      </p:sp>
      <p:sp>
        <p:nvSpPr>
          <p:cNvPr id="67" name="Rectangle 11"/>
          <p:cNvSpPr/>
          <p:nvPr/>
        </p:nvSpPr>
        <p:spPr>
          <a:xfrm>
            <a:off x="225282" y="10279246"/>
            <a:ext cx="12004820" cy="15718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8" name="Rectangle 12"/>
          <p:cNvSpPr/>
          <p:nvPr/>
        </p:nvSpPr>
        <p:spPr>
          <a:xfrm>
            <a:off x="225282" y="10103973"/>
            <a:ext cx="12004820" cy="17445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9" name="Rectangle 91"/>
          <p:cNvSpPr txBox="1"/>
          <p:nvPr/>
        </p:nvSpPr>
        <p:spPr>
          <a:xfrm>
            <a:off x="12352687" y="1531652"/>
            <a:ext cx="5356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LEGEND</a:t>
            </a:r>
          </a:p>
        </p:txBody>
      </p:sp>
      <p:grpSp>
        <p:nvGrpSpPr>
          <p:cNvPr id="72" name="Rectangle 38"/>
          <p:cNvGrpSpPr/>
          <p:nvPr/>
        </p:nvGrpSpPr>
        <p:grpSpPr>
          <a:xfrm>
            <a:off x="12242778" y="6286958"/>
            <a:ext cx="2627299" cy="459737"/>
            <a:chOff x="0" y="0"/>
            <a:chExt cx="2627297" cy="459735"/>
          </a:xfrm>
        </p:grpSpPr>
        <p:sp>
          <p:nvSpPr>
            <p:cNvPr id="70" name="Rectangle"/>
            <p:cNvSpPr/>
            <p:nvPr/>
          </p:nvSpPr>
          <p:spPr>
            <a:xfrm>
              <a:off x="-1" y="67851"/>
              <a:ext cx="2627299" cy="324040"/>
            </a:xfrm>
            <a:prstGeom prst="rect">
              <a:avLst/>
            </a:prstGeom>
            <a:solidFill>
              <a:srgbClr val="D91D49"/>
            </a:solidFill>
            <a:ln w="19050" cap="rnd">
              <a:solidFill>
                <a:srgbClr val="D91D49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71" name="GSM 1800MHz"/>
            <p:cNvSpPr txBox="1"/>
            <p:nvPr/>
          </p:nvSpPr>
          <p:spPr>
            <a:xfrm>
              <a:off x="55243" y="0"/>
              <a:ext cx="2516809" cy="45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Calibri (Body)"/>
                  <a:ea typeface="Calibri (Body)"/>
                  <a:cs typeface="Calibri (Body)"/>
                  <a:sym typeface="Calibri (Body)"/>
                </a:defRPr>
              </a:lvl1pPr>
            </a:lstStyle>
            <a:p>
              <a:pPr/>
              <a:r>
                <a:t>GSM 1800MHz</a:t>
              </a:r>
            </a:p>
          </p:txBody>
        </p:sp>
      </p:grpSp>
      <p:sp>
        <p:nvSpPr>
          <p:cNvPr id="73" name="Rectangle 41"/>
          <p:cNvSpPr txBox="1"/>
          <p:nvPr/>
        </p:nvSpPr>
        <p:spPr>
          <a:xfrm>
            <a:off x="3250496" y="10088032"/>
            <a:ext cx="2932901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1800MHz</a:t>
            </a:r>
          </a:p>
        </p:txBody>
      </p:sp>
      <p:sp>
        <p:nvSpPr>
          <p:cNvPr id="74" name="Rectangle 42"/>
          <p:cNvSpPr txBox="1"/>
          <p:nvPr/>
        </p:nvSpPr>
        <p:spPr>
          <a:xfrm>
            <a:off x="6274861" y="10083865"/>
            <a:ext cx="2896895" cy="2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SNIR (dB)</a:t>
            </a:r>
          </a:p>
        </p:txBody>
      </p:sp>
      <p:grpSp>
        <p:nvGrpSpPr>
          <p:cNvPr id="93" name="Group 39"/>
          <p:cNvGrpSpPr/>
          <p:nvPr/>
        </p:nvGrpSpPr>
        <p:grpSpPr>
          <a:xfrm>
            <a:off x="12144183" y="1695397"/>
            <a:ext cx="1269047" cy="1164241"/>
            <a:chOff x="-1" y="0"/>
            <a:chExt cx="1269045" cy="1164240"/>
          </a:xfrm>
        </p:grpSpPr>
        <p:sp>
          <p:nvSpPr>
            <p:cNvPr id="75" name="TextBox 43"/>
            <p:cNvSpPr txBox="1"/>
            <p:nvPr/>
          </p:nvSpPr>
          <p:spPr>
            <a:xfrm>
              <a:off x="-1" y="-1"/>
              <a:ext cx="1013467" cy="228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 defTabSz="914371">
                <a:defRPr b="1" sz="1000" u="sng"/>
              </a:lvl1pPr>
            </a:lstStyle>
            <a:p>
              <a:pPr/>
              <a:r>
                <a:t>SNIR (dB)</a:t>
              </a:r>
            </a:p>
          </p:txBody>
        </p:sp>
        <p:grpSp>
          <p:nvGrpSpPr>
            <p:cNvPr id="92" name="Group 44"/>
            <p:cNvGrpSpPr/>
            <p:nvPr/>
          </p:nvGrpSpPr>
          <p:grpSpPr>
            <a:xfrm>
              <a:off x="-2" y="-1"/>
              <a:ext cx="1269046" cy="1164241"/>
              <a:chOff x="0" y="0"/>
              <a:chExt cx="1269045" cy="1164240"/>
            </a:xfrm>
          </p:grpSpPr>
          <p:grpSp>
            <p:nvGrpSpPr>
              <p:cNvPr id="81" name="Group 45"/>
              <p:cNvGrpSpPr/>
              <p:nvPr/>
            </p:nvGrpSpPr>
            <p:grpSpPr>
              <a:xfrm>
                <a:off x="255734" y="284359"/>
                <a:ext cx="619350" cy="879882"/>
                <a:chOff x="0" y="-1"/>
                <a:chExt cx="619349" cy="879880"/>
              </a:xfrm>
            </p:grpSpPr>
            <p:sp>
              <p:nvSpPr>
                <p:cNvPr id="76" name="Rectangle 56"/>
                <p:cNvSpPr/>
                <p:nvPr/>
              </p:nvSpPr>
              <p:spPr>
                <a:xfrm>
                  <a:off x="-1" y="-2"/>
                  <a:ext cx="619001" cy="177168"/>
                </a:xfrm>
                <a:prstGeom prst="rect">
                  <a:avLst/>
                </a:prstGeom>
                <a:solidFill>
                  <a:srgbClr val="28E3FC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7" name="Rectangle 75"/>
                <p:cNvSpPr/>
                <p:nvPr/>
              </p:nvSpPr>
              <p:spPr>
                <a:xfrm>
                  <a:off x="0" y="177165"/>
                  <a:ext cx="619001" cy="177168"/>
                </a:xfrm>
                <a:prstGeom prst="rect">
                  <a:avLst/>
                </a:prstGeom>
                <a:solidFill>
                  <a:srgbClr val="00FF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8" name="Rectangle 76"/>
                <p:cNvSpPr/>
                <p:nvPr/>
              </p:nvSpPr>
              <p:spPr>
                <a:xfrm>
                  <a:off x="348" y="354332"/>
                  <a:ext cx="619001" cy="177168"/>
                </a:xfrm>
                <a:prstGeom prst="rect">
                  <a:avLst/>
                </a:prstGeom>
                <a:solidFill>
                  <a:srgbClr val="FFFF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9" name="Rectangle 77"/>
                <p:cNvSpPr/>
                <p:nvPr/>
              </p:nvSpPr>
              <p:spPr>
                <a:xfrm>
                  <a:off x="348" y="531499"/>
                  <a:ext cx="619001" cy="177168"/>
                </a:xfrm>
                <a:prstGeom prst="rect">
                  <a:avLst/>
                </a:prstGeom>
                <a:solidFill>
                  <a:srgbClr val="FFC0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0" name="Rectangle 78"/>
                <p:cNvSpPr/>
                <p:nvPr/>
              </p:nvSpPr>
              <p:spPr>
                <a:xfrm>
                  <a:off x="348" y="702712"/>
                  <a:ext cx="619001" cy="17716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371">
                    <a:defRPr sz="18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sp>
            <p:nvSpPr>
              <p:cNvPr id="82" name="Straight Connector 46"/>
              <p:cNvSpPr/>
              <p:nvPr/>
            </p:nvSpPr>
            <p:spPr>
              <a:xfrm>
                <a:off x="811838" y="816673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3" name="Straight Connector 47"/>
              <p:cNvSpPr/>
              <p:nvPr/>
            </p:nvSpPr>
            <p:spPr>
              <a:xfrm>
                <a:off x="812087" y="638694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4" name="Straight Connector 48"/>
              <p:cNvSpPr/>
              <p:nvPr/>
            </p:nvSpPr>
            <p:spPr>
              <a:xfrm>
                <a:off x="812087" y="461528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5" name="Straight Connector 49"/>
              <p:cNvSpPr/>
              <p:nvPr/>
            </p:nvSpPr>
            <p:spPr>
              <a:xfrm>
                <a:off x="830248" y="987072"/>
                <a:ext cx="180003" cy="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6" name="TextBox 50"/>
              <p:cNvSpPr txBox="1"/>
              <p:nvPr/>
            </p:nvSpPr>
            <p:spPr>
              <a:xfrm>
                <a:off x="-1" y="0"/>
                <a:ext cx="1013468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spAutoFit/>
              </a:bodyPr>
              <a:lstStyle>
                <a:lvl1pPr algn="ctr" defTabSz="914371">
                  <a:defRPr b="1" sz="1000" u="sng"/>
                </a:lvl1pPr>
              </a:lstStyle>
              <a:p>
                <a:pPr/>
                <a:r>
                  <a:t>SNIR (dB)</a:t>
                </a:r>
              </a:p>
            </p:txBody>
          </p:sp>
          <p:sp>
            <p:nvSpPr>
              <p:cNvPr id="87" name="TextBox 51"/>
              <p:cNvSpPr txBox="1"/>
              <p:nvPr/>
            </p:nvSpPr>
            <p:spPr>
              <a:xfrm>
                <a:off x="880767" y="136854"/>
                <a:ext cx="333530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Max</a:t>
                </a:r>
              </a:p>
            </p:txBody>
          </p:sp>
          <p:sp>
            <p:nvSpPr>
              <p:cNvPr id="88" name="TextBox 52"/>
              <p:cNvSpPr txBox="1"/>
              <p:nvPr/>
            </p:nvSpPr>
            <p:spPr>
              <a:xfrm>
                <a:off x="935958" y="339737"/>
                <a:ext cx="324836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 &gt;20</a:t>
                </a:r>
              </a:p>
            </p:txBody>
          </p:sp>
          <p:sp>
            <p:nvSpPr>
              <p:cNvPr id="89" name="TextBox 53"/>
              <p:cNvSpPr txBox="1"/>
              <p:nvPr/>
            </p:nvSpPr>
            <p:spPr>
              <a:xfrm>
                <a:off x="944209" y="523745"/>
                <a:ext cx="324836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 &gt;14</a:t>
                </a:r>
              </a:p>
            </p:txBody>
          </p:sp>
          <p:sp>
            <p:nvSpPr>
              <p:cNvPr id="90" name="TextBox 54"/>
              <p:cNvSpPr txBox="1"/>
              <p:nvPr/>
            </p:nvSpPr>
            <p:spPr>
              <a:xfrm>
                <a:off x="980240" y="695083"/>
                <a:ext cx="260468" cy="2285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&gt; 6</a:t>
                </a:r>
              </a:p>
            </p:txBody>
          </p:sp>
          <p:sp>
            <p:nvSpPr>
              <p:cNvPr id="91" name="TextBox 55"/>
              <p:cNvSpPr txBox="1"/>
              <p:nvPr/>
            </p:nvSpPr>
            <p:spPr>
              <a:xfrm>
                <a:off x="977070" y="876826"/>
                <a:ext cx="260468" cy="2285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 defTabSz="914371">
                  <a:defRPr sz="1000"/>
                </a:lvl1pPr>
              </a:lstStyle>
              <a:p>
                <a:pPr/>
                <a:r>
                  <a:t>&gt; 0</a:t>
                </a:r>
              </a:p>
            </p:txBody>
          </p:sp>
        </p:grpSp>
      </p:grpSp>
      <p:sp>
        <p:nvSpPr>
          <p:cNvPr id="94" name="&lt;NUM&gt;"/>
          <p:cNvSpPr txBox="1"/>
          <p:nvPr/>
        </p:nvSpPr>
        <p:spPr>
          <a:xfrm>
            <a:off x="14324158" y="9149660"/>
            <a:ext cx="366670" cy="18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&lt;NUM&gt;</a:t>
            </a:r>
          </a:p>
        </p:txBody>
      </p:sp>
      <p:sp>
        <p:nvSpPr>
          <p:cNvPr id="95" name="&lt;&lt;logo&gt;&gt;"/>
          <p:cNvSpPr txBox="1"/>
          <p:nvPr/>
        </p:nvSpPr>
        <p:spPr>
          <a:xfrm>
            <a:off x="13254214" y="875553"/>
            <a:ext cx="1107125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/>
            </a:lvl1pPr>
          </a:lstStyle>
          <a:p>
            <a:pPr/>
            <a:r>
              <a:t>&lt;&lt;logo&gt;&gt;</a:t>
            </a:r>
          </a:p>
        </p:txBody>
      </p:sp>
      <p:sp>
        <p:nvSpPr>
          <p:cNvPr id="96" name="Title Text"/>
          <p:cNvSpPr txBox="1"/>
          <p:nvPr>
            <p:ph type="title"/>
          </p:nvPr>
        </p:nvSpPr>
        <p:spPr>
          <a:xfrm>
            <a:off x="2264326" y="1200532"/>
            <a:ext cx="12090401" cy="2601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idx="1"/>
          </p:nvPr>
        </p:nvSpPr>
        <p:spPr>
          <a:xfrm>
            <a:off x="8435468" y="3802097"/>
            <a:ext cx="5919259" cy="6891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14362295" y="9201556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defRPr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</p:sldLayoutIdLst>
  <p:transition xmlns:p14="http://schemas.microsoft.com/office/powerpoint/2010/main" spd="med" advClick="1"/>
  <p:txStyles>
    <p:titleStyle>
      <a:lvl1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140796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527988" marR="0" indent="-527988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1215600" marR="0" indent="-511616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883633" marR="0" indent="-475663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2679681" marR="0" indent="-567727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3383665" marR="0" indent="-567727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4087650" marR="0" indent="-567728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4791633" marR="0" indent="-567728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5495618" marR="0" indent="-567728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6199601" marR="0" indent="-567728" algn="l" defTabSz="1407968" rtl="0" latinLnBrk="0">
        <a:lnSpc>
          <a:spcPct val="100000"/>
        </a:lnSpc>
        <a:spcBef>
          <a:spcPts val="12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140758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TextBox 2"/>
          <p:cNvSpPr txBox="1"/>
          <p:nvPr/>
        </p:nvSpPr>
        <p:spPr>
          <a:xfrm>
            <a:off x="801749" y="1971358"/>
            <a:ext cx="13231692" cy="1018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31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[STATIONCODE_STATIONNAME]</a:t>
            </a:r>
            <a:endParaRPr>
              <a:latin typeface="+mj-lt"/>
              <a:ea typeface="+mj-ea"/>
              <a:cs typeface="+mj-cs"/>
              <a:sym typeface="Calibri"/>
            </a:endParaRPr>
          </a:p>
          <a:p>
            <a:pPr>
              <a:defRPr sz="3100">
                <a:latin typeface="Arial"/>
                <a:ea typeface="Arial"/>
                <a:cs typeface="Arial"/>
                <a:sym typeface="Arial"/>
              </a:defRPr>
            </a:pPr>
            <a:r>
              <a:t>Appendix B – RF Predictions</a:t>
            </a:r>
          </a:p>
        </p:txBody>
      </p:sp>
      <p:graphicFrame>
        <p:nvGraphicFramePr>
          <p:cNvPr id="1813" name="Table 1"/>
          <p:cNvGraphicFramePr/>
          <p:nvPr/>
        </p:nvGraphicFramePr>
        <p:xfrm>
          <a:off x="379506" y="9879341"/>
          <a:ext cx="13834714" cy="59455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226524"/>
                <a:gridCol w="683645"/>
                <a:gridCol w="2158879"/>
                <a:gridCol w="1570586"/>
                <a:gridCol w="1570586"/>
                <a:gridCol w="1835045"/>
                <a:gridCol w="1789441"/>
              </a:tblGrid>
              <a:tr h="277458"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Document Reference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Revision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Description of Changes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Date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Author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Checked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0"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Approved  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D91D49"/>
                      </a:solidFill>
                    </a:lnB>
                  </a:tcPr>
                </a:tc>
              </a:tr>
              <a:tr h="317095">
                <a:tc>
                  <a:txBody>
                    <a:bodyPr/>
                    <a:lstStyle/>
                    <a:p>
                      <a:pPr>
                        <a:defRPr sz="11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TCP01-BAI-COM-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[STATION CODE]</a:t>
                      </a:r>
                      <a:r>
                        <a:t>_0-SPE-DM-000&lt;P&gt;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P02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Verdana (Body)"/>
                          <a:ea typeface="Verdana (Body)"/>
                          <a:cs typeface="Verdana (Body)"/>
                          <a:sym typeface="Verdana (Body)"/>
                        </a:rPr>
                        <a:t>Updated Design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sym typeface="Helvetica"/>
                        </a:rPr>
                        <a:t>&lt;&lt;DATE&gt;&gt;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ym typeface="Helvetica"/>
                        </a:defRPr>
                      </a:pPr>
                      <a:r>
                        <a:t>&lt;&lt;</a:t>
                      </a:r>
                      <a:r>
                        <a:rPr sz="1100"/>
                        <a:t>AUTHOR&gt;&gt;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sym typeface="Helvetica"/>
                        </a:rPr>
                        <a:t>&lt;&lt;CHECKED&gt;&gt;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sym typeface="Helvetica"/>
                        </a:rPr>
                        <a:t>&lt;&lt;APPROVED&gt;&gt;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D91D49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816" name="Rectangle 5"/>
          <p:cNvGrpSpPr/>
          <p:nvPr/>
        </p:nvGrpSpPr>
        <p:grpSpPr>
          <a:xfrm>
            <a:off x="756027" y="3047896"/>
            <a:ext cx="13458194" cy="6606010"/>
            <a:chOff x="-1" y="-1"/>
            <a:chExt cx="13458192" cy="6606009"/>
          </a:xfrm>
        </p:grpSpPr>
        <p:sp>
          <p:nvSpPr>
            <p:cNvPr id="1814" name="Rectangle"/>
            <p:cNvSpPr/>
            <p:nvPr/>
          </p:nvSpPr>
          <p:spPr>
            <a:xfrm>
              <a:off x="-2" y="-2"/>
              <a:ext cx="13458194" cy="6606010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815" name="3D MODEL IMAGE"/>
            <p:cNvSpPr txBox="1"/>
            <p:nvPr/>
          </p:nvSpPr>
          <p:spPr>
            <a:xfrm>
              <a:off x="58418" y="3054082"/>
              <a:ext cx="13341354" cy="497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7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/>
              <a:r>
                <a:t>3D MODEL IMAGE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25"/>
          <p:cNvSpPr txBox="1"/>
          <p:nvPr/>
        </p:nvSpPr>
        <p:spPr>
          <a:xfrm>
            <a:off x="693805" y="1991731"/>
            <a:ext cx="13231692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100">
                <a:latin typeface="Verdana (Body)"/>
                <a:ea typeface="Verdana (Body)"/>
                <a:cs typeface="Verdana (Body)"/>
                <a:sym typeface="Verdana (Body)"/>
              </a:defRPr>
            </a:lvl1pPr>
          </a:lstStyle>
          <a:p>
            <a:pPr/>
            <a:r>
              <a:t>EXECUTIVE SUMMARY</a:t>
            </a:r>
          </a:p>
        </p:txBody>
      </p:sp>
      <p:pic>
        <p:nvPicPr>
          <p:cNvPr id="18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17714" y="4834771"/>
            <a:ext cx="4882375" cy="5653773"/>
          </a:xfrm>
          <a:prstGeom prst="rect">
            <a:avLst/>
          </a:prstGeom>
          <a:ln w="12700">
            <a:miter lim="400000"/>
          </a:ln>
        </p:spPr>
      </p:pic>
      <p:sp>
        <p:nvSpPr>
          <p:cNvPr id="1820" name="TextBox 4"/>
          <p:cNvSpPr txBox="1"/>
          <p:nvPr/>
        </p:nvSpPr>
        <p:spPr>
          <a:xfrm>
            <a:off x="1233525" y="2615314"/>
            <a:ext cx="12691971" cy="254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r">
              <a:lnSpc>
                <a:spcPct val="107000"/>
              </a:lnSpc>
              <a:spcBef>
                <a:spcPts val="800"/>
              </a:spcBef>
              <a:defRPr sz="17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This document to be read in conjunction with </a:t>
            </a:r>
            <a:r>
              <a:rPr>
                <a:solidFill>
                  <a:srgbClr val="FF0000"/>
                </a:solidFill>
              </a:rPr>
              <a:t>STATION-NAME </a:t>
            </a:r>
            <a:r>
              <a:t>detailed design document. This document contains RF predictions for the proposed system at </a:t>
            </a:r>
            <a:r>
              <a:rPr>
                <a:solidFill>
                  <a:srgbClr val="FF0000"/>
                </a:solidFill>
              </a:rPr>
              <a:t>STATION-NAME </a:t>
            </a:r>
            <a:r>
              <a:t>Station. Predictions have been carried out using industry’s renown in-building coverage prediction tool, i.e. iBwave. The plots include coverage predictions for </a:t>
            </a:r>
            <a:r>
              <a:rPr>
                <a:solidFill>
                  <a:srgbClr val="FF0000"/>
                </a:solidFill>
              </a:rPr>
              <a:t>OPERATOR-NAME</a:t>
            </a:r>
            <a:r>
              <a:t> across their relevant </a:t>
            </a:r>
            <a:r>
              <a:rPr>
                <a:solidFill>
                  <a:srgbClr val="FF0000"/>
                </a:solidFill>
              </a:rPr>
              <a:t>GSM / LTE / 5GNR </a:t>
            </a:r>
            <a:r>
              <a:t>bands. The results are presented with technology specific legends as defined within the JOTS. </a:t>
            </a:r>
          </a:p>
          <a:p>
            <a:pPr algn="just">
              <a:lnSpc>
                <a:spcPct val="107000"/>
              </a:lnSpc>
              <a:spcBef>
                <a:spcPts val="800"/>
              </a:spcBef>
              <a:defRPr sz="1700">
                <a:latin typeface="Verdana (Body)"/>
                <a:ea typeface="Verdana (Body)"/>
                <a:cs typeface="Verdana (Body)"/>
                <a:sym typeface="Verdana (Body)"/>
              </a:defRPr>
            </a:pPr>
            <a:r>
              <a:t>The building has been concisely modelled up in iBwave for accurate production of the results. The following materials have been utilised to model up the building.</a:t>
            </a:r>
          </a:p>
          <a:p>
            <a:pPr algn="just">
              <a:lnSpc>
                <a:spcPct val="107000"/>
              </a:lnSpc>
              <a:spcBef>
                <a:spcPts val="8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TextBox 3"/>
          <p:cNvSpPr txBox="1"/>
          <p:nvPr/>
        </p:nvSpPr>
        <p:spPr>
          <a:xfrm>
            <a:off x="6663072" y="4804276"/>
            <a:ext cx="2189222" cy="444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  <a:r>
              <a:t>&lt;&lt;logo&gt;&gt;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25" name="TextBox 1"/>
          <p:cNvSpPr txBox="1"/>
          <p:nvPr/>
        </p:nvSpPr>
        <p:spPr>
          <a:xfrm>
            <a:off x="10434893" y="10062236"/>
            <a:ext cx="1396850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28" name="TextBox 1"/>
          <p:cNvSpPr txBox="1"/>
          <p:nvPr/>
        </p:nvSpPr>
        <p:spPr>
          <a:xfrm>
            <a:off x="10358811" y="10049281"/>
            <a:ext cx="1581849" cy="228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31" name="TextBox 1"/>
          <p:cNvSpPr txBox="1"/>
          <p:nvPr/>
        </p:nvSpPr>
        <p:spPr>
          <a:xfrm>
            <a:off x="10246938" y="10081258"/>
            <a:ext cx="1385688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34" name="TextBox 1"/>
          <p:cNvSpPr txBox="1"/>
          <p:nvPr/>
        </p:nvSpPr>
        <p:spPr>
          <a:xfrm>
            <a:off x="10289557" y="10075409"/>
            <a:ext cx="1440029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37" name="TextBox 1"/>
          <p:cNvSpPr txBox="1"/>
          <p:nvPr/>
        </p:nvSpPr>
        <p:spPr>
          <a:xfrm>
            <a:off x="10281560" y="10057244"/>
            <a:ext cx="1743126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40" name="TextBox 1"/>
          <p:cNvSpPr txBox="1"/>
          <p:nvPr/>
        </p:nvSpPr>
        <p:spPr>
          <a:xfrm>
            <a:off x="10275168" y="10064746"/>
            <a:ext cx="1494369" cy="228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43" name="TextBox 1"/>
          <p:cNvSpPr txBox="1"/>
          <p:nvPr/>
        </p:nvSpPr>
        <p:spPr>
          <a:xfrm>
            <a:off x="10233083" y="10073271"/>
            <a:ext cx="1367575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46" name="TextBox 1"/>
          <p:cNvSpPr txBox="1"/>
          <p:nvPr/>
        </p:nvSpPr>
        <p:spPr>
          <a:xfrm>
            <a:off x="10253850" y="10075408"/>
            <a:ext cx="1874754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49" name="TextBox 1"/>
          <p:cNvSpPr txBox="1"/>
          <p:nvPr/>
        </p:nvSpPr>
        <p:spPr>
          <a:xfrm>
            <a:off x="10242674" y="10081793"/>
            <a:ext cx="1376629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52" name="TextBox 1"/>
          <p:cNvSpPr txBox="1"/>
          <p:nvPr/>
        </p:nvSpPr>
        <p:spPr>
          <a:xfrm>
            <a:off x="10267184" y="10081793"/>
            <a:ext cx="1358518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55" name="TextBox 1"/>
          <p:cNvSpPr txBox="1"/>
          <p:nvPr/>
        </p:nvSpPr>
        <p:spPr>
          <a:xfrm>
            <a:off x="10227225" y="10079152"/>
            <a:ext cx="1468256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58" name="TextBox 1"/>
          <p:cNvSpPr txBox="1"/>
          <p:nvPr/>
        </p:nvSpPr>
        <p:spPr>
          <a:xfrm>
            <a:off x="10234148" y="10090315"/>
            <a:ext cx="1512483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Rectangle 2"/>
          <p:cNvSpPr/>
          <p:nvPr/>
        </p:nvSpPr>
        <p:spPr>
          <a:xfrm>
            <a:off x="13060235" y="744626"/>
            <a:ext cx="1699201" cy="75747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61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2" name="TextBox 1"/>
          <p:cNvSpPr txBox="1"/>
          <p:nvPr/>
        </p:nvSpPr>
        <p:spPr>
          <a:xfrm>
            <a:off x="10205914" y="10088712"/>
            <a:ext cx="1657390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5" name="TextBox 2"/>
          <p:cNvSpPr txBox="1"/>
          <p:nvPr/>
        </p:nvSpPr>
        <p:spPr>
          <a:xfrm>
            <a:off x="10317436" y="10058816"/>
            <a:ext cx="1125115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Slide Number"/>
          <p:cNvSpPr txBox="1"/>
          <p:nvPr>
            <p:ph type="sldNum" sz="quarter" idx="4294967295"/>
          </p:nvPr>
        </p:nvSpPr>
        <p:spPr>
          <a:xfrm>
            <a:off x="14362293" y="9201556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68" name="Picture Placeholder 2" descr="Picture Placeholder 2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599802" y="525468"/>
            <a:ext cx="11233726" cy="9364397"/>
          </a:xfrm>
          <a:prstGeom prst="rect">
            <a:avLst/>
          </a:prstGeom>
        </p:spPr>
      </p:pic>
      <p:sp>
        <p:nvSpPr>
          <p:cNvPr id="1869" name="TextBox 1"/>
          <p:cNvSpPr txBox="1"/>
          <p:nvPr/>
        </p:nvSpPr>
        <p:spPr>
          <a:xfrm>
            <a:off x="10308311" y="10068338"/>
            <a:ext cx="1520921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&lt;&lt;BUILDING&gt;&gt;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140758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140758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140758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140758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