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5113000" cy="106934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140758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1pPr>
    <a:lvl2pPr marL="0" marR="0" indent="0" algn="l" defTabSz="140758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2pPr>
    <a:lvl3pPr marL="0" marR="0" indent="0" algn="l" defTabSz="140758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3pPr>
    <a:lvl4pPr marL="0" marR="0" indent="0" algn="l" defTabSz="140758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4pPr>
    <a:lvl5pPr marL="0" marR="0" indent="0" algn="l" defTabSz="140758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5pPr>
    <a:lvl6pPr marL="0" marR="0" indent="0" algn="l" defTabSz="140758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6pPr>
    <a:lvl7pPr marL="0" marR="0" indent="0" algn="l" defTabSz="140758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7pPr>
    <a:lvl8pPr marL="0" marR="0" indent="0" algn="l" defTabSz="140758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8pPr>
    <a:lvl9pPr marL="0" marR="0" indent="0" algn="l" defTabSz="140758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3">
              <a:alpha val="20000"/>
            </a:scheme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3">
              <a:alpha val="20000"/>
            </a:scheme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chemeClr val="accent3"/>
              </a:solidFill>
              <a:prstDash val="solid"/>
              <a:round/>
            </a:ln>
          </a:top>
          <a:bottom>
            <a:ln w="12700" cap="flat">
              <a:solidFill>
                <a:schemeClr val="accent3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chemeClr val="accent3"/>
              </a:solidFill>
              <a:prstDash val="solid"/>
              <a:round/>
            </a:ln>
          </a:top>
          <a:bottom>
            <a:ln w="12700" cap="flat">
              <a:solidFill>
                <a:schemeClr val="accent3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4" name="Shape 1794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795" name="Shape 1795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914128" latinLnBrk="0">
      <a:defRPr sz="1200">
        <a:latin typeface="+mn-lt"/>
        <a:ea typeface="+mn-ea"/>
        <a:cs typeface="+mn-cs"/>
        <a:sym typeface="Calibri"/>
      </a:defRPr>
    </a:lvl1pPr>
    <a:lvl2pPr indent="228600" defTabSz="914128" latinLnBrk="0">
      <a:defRPr sz="1200">
        <a:latin typeface="+mn-lt"/>
        <a:ea typeface="+mn-ea"/>
        <a:cs typeface="+mn-cs"/>
        <a:sym typeface="Calibri"/>
      </a:defRPr>
    </a:lvl2pPr>
    <a:lvl3pPr indent="457200" defTabSz="914128" latinLnBrk="0">
      <a:defRPr sz="1200">
        <a:latin typeface="+mn-lt"/>
        <a:ea typeface="+mn-ea"/>
        <a:cs typeface="+mn-cs"/>
        <a:sym typeface="Calibri"/>
      </a:defRPr>
    </a:lvl3pPr>
    <a:lvl4pPr indent="685800" defTabSz="914128" latinLnBrk="0">
      <a:defRPr sz="1200">
        <a:latin typeface="+mn-lt"/>
        <a:ea typeface="+mn-ea"/>
        <a:cs typeface="+mn-cs"/>
        <a:sym typeface="Calibri"/>
      </a:defRPr>
    </a:lvl4pPr>
    <a:lvl5pPr indent="914400" defTabSz="914128" latinLnBrk="0">
      <a:defRPr sz="1200">
        <a:latin typeface="+mn-lt"/>
        <a:ea typeface="+mn-ea"/>
        <a:cs typeface="+mn-cs"/>
        <a:sym typeface="Calibri"/>
      </a:defRPr>
    </a:lvl5pPr>
    <a:lvl6pPr indent="1143000" defTabSz="914128" latinLnBrk="0">
      <a:defRPr sz="1200">
        <a:latin typeface="+mn-lt"/>
        <a:ea typeface="+mn-ea"/>
        <a:cs typeface="+mn-cs"/>
        <a:sym typeface="Calibri"/>
      </a:defRPr>
    </a:lvl6pPr>
    <a:lvl7pPr indent="1371600" defTabSz="914128" latinLnBrk="0">
      <a:defRPr sz="1200">
        <a:latin typeface="+mn-lt"/>
        <a:ea typeface="+mn-ea"/>
        <a:cs typeface="+mn-cs"/>
        <a:sym typeface="Calibri"/>
      </a:defRPr>
    </a:lvl7pPr>
    <a:lvl8pPr indent="1600200" defTabSz="914128" latinLnBrk="0">
      <a:defRPr sz="1200">
        <a:latin typeface="+mn-lt"/>
        <a:ea typeface="+mn-ea"/>
        <a:cs typeface="+mn-cs"/>
        <a:sym typeface="Calibri"/>
      </a:defRPr>
    </a:lvl8pPr>
    <a:lvl9pPr indent="1828800" defTabSz="914128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GSM SNI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GSM Rxle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extBox 66"/>
          <p:cNvSpPr txBox="1"/>
          <p:nvPr/>
        </p:nvSpPr>
        <p:spPr>
          <a:xfrm>
            <a:off x="13525788" y="9201184"/>
            <a:ext cx="130066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SHEET:</a:t>
            </a:r>
          </a:p>
        </p:txBody>
      </p:sp>
      <p:sp>
        <p:nvSpPr>
          <p:cNvPr id="112" name="Freeform 10"/>
          <p:cNvSpPr/>
          <p:nvPr/>
        </p:nvSpPr>
        <p:spPr>
          <a:xfrm flipH="1">
            <a:off x="12234861" y="209548"/>
            <a:ext cx="1" cy="10224004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3" name="Freeform 11"/>
          <p:cNvSpPr/>
          <p:nvPr/>
        </p:nvSpPr>
        <p:spPr>
          <a:xfrm>
            <a:off x="12230100" y="702182"/>
            <a:ext cx="2646003" cy="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4" name="TextBox 15"/>
          <p:cNvSpPr txBox="1"/>
          <p:nvPr/>
        </p:nvSpPr>
        <p:spPr>
          <a:xfrm>
            <a:off x="12339755" y="6726997"/>
            <a:ext cx="2522705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400">
                <a:solidFill>
                  <a:srgbClr val="A6A6A6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RF PREDICTIONS</a:t>
            </a:r>
          </a:p>
        </p:txBody>
      </p:sp>
      <p:sp>
        <p:nvSpPr>
          <p:cNvPr id="115" name="TextBox 17"/>
          <p:cNvSpPr txBox="1"/>
          <p:nvPr/>
        </p:nvSpPr>
        <p:spPr>
          <a:xfrm>
            <a:off x="12253914" y="7872499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STATION</a:t>
            </a:r>
          </a:p>
        </p:txBody>
      </p:sp>
      <p:sp>
        <p:nvSpPr>
          <p:cNvPr id="116" name="Freeform 45"/>
          <p:cNvSpPr/>
          <p:nvPr/>
        </p:nvSpPr>
        <p:spPr>
          <a:xfrm>
            <a:off x="12230100" y="8848334"/>
            <a:ext cx="2646003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7" name="Freeform 67"/>
          <p:cNvSpPr/>
          <p:nvPr/>
        </p:nvSpPr>
        <p:spPr>
          <a:xfrm>
            <a:off x="13545545" y="6970361"/>
            <a:ext cx="3" cy="890405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8" name="TextBox 75"/>
          <p:cNvSpPr txBox="1"/>
          <p:nvPr/>
        </p:nvSpPr>
        <p:spPr>
          <a:xfrm>
            <a:off x="12234160" y="9470638"/>
            <a:ext cx="259229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DRAWING HISTORY</a:t>
            </a:r>
          </a:p>
        </p:txBody>
      </p:sp>
      <p:sp>
        <p:nvSpPr>
          <p:cNvPr id="119" name="Freeform 76"/>
          <p:cNvSpPr/>
          <p:nvPr/>
        </p:nvSpPr>
        <p:spPr>
          <a:xfrm>
            <a:off x="12233492" y="9612058"/>
            <a:ext cx="2636007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0" name="TextBox 77"/>
          <p:cNvSpPr txBox="1"/>
          <p:nvPr/>
        </p:nvSpPr>
        <p:spPr>
          <a:xfrm>
            <a:off x="12507654" y="9632305"/>
            <a:ext cx="51028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DATE</a:t>
            </a:r>
          </a:p>
        </p:txBody>
      </p:sp>
      <p:sp>
        <p:nvSpPr>
          <p:cNvPr id="121" name="Freeform 79"/>
          <p:cNvSpPr/>
          <p:nvPr/>
        </p:nvSpPr>
        <p:spPr>
          <a:xfrm>
            <a:off x="12513692" y="9612117"/>
            <a:ext cx="4" cy="821437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2" name="TextBox 80"/>
          <p:cNvSpPr txBox="1"/>
          <p:nvPr/>
        </p:nvSpPr>
        <p:spPr>
          <a:xfrm>
            <a:off x="12233491" y="9634148"/>
            <a:ext cx="26032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ISSUE</a:t>
            </a:r>
          </a:p>
        </p:txBody>
      </p:sp>
      <p:sp>
        <p:nvSpPr>
          <p:cNvPr id="123" name="Freeform 82"/>
          <p:cNvSpPr/>
          <p:nvPr/>
        </p:nvSpPr>
        <p:spPr>
          <a:xfrm>
            <a:off x="12236067" y="9736835"/>
            <a:ext cx="2636007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4" name="Freeform 83"/>
          <p:cNvSpPr/>
          <p:nvPr/>
        </p:nvSpPr>
        <p:spPr>
          <a:xfrm>
            <a:off x="13052420" y="9614212"/>
            <a:ext cx="4" cy="824700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5" name="TextBox 84"/>
          <p:cNvSpPr txBox="1"/>
          <p:nvPr/>
        </p:nvSpPr>
        <p:spPr>
          <a:xfrm>
            <a:off x="13058443" y="9631360"/>
            <a:ext cx="178161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DESCRIPTION</a:t>
            </a:r>
          </a:p>
        </p:txBody>
      </p:sp>
      <p:sp>
        <p:nvSpPr>
          <p:cNvPr id="126" name="Freeform 86"/>
          <p:cNvSpPr/>
          <p:nvPr/>
        </p:nvSpPr>
        <p:spPr>
          <a:xfrm>
            <a:off x="12237973" y="9877804"/>
            <a:ext cx="2636008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7" name="Freeform 87"/>
          <p:cNvSpPr/>
          <p:nvPr/>
        </p:nvSpPr>
        <p:spPr>
          <a:xfrm>
            <a:off x="12236067" y="9878180"/>
            <a:ext cx="2636007" cy="3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8" name="Freeform 88"/>
          <p:cNvSpPr/>
          <p:nvPr/>
        </p:nvSpPr>
        <p:spPr>
          <a:xfrm>
            <a:off x="12237973" y="10019151"/>
            <a:ext cx="2636008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9" name="Freeform 90"/>
          <p:cNvSpPr/>
          <p:nvPr/>
        </p:nvSpPr>
        <p:spPr>
          <a:xfrm>
            <a:off x="12237973" y="10159355"/>
            <a:ext cx="2636008" cy="5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0" name="Straight Connector 2"/>
          <p:cNvSpPr/>
          <p:nvPr/>
        </p:nvSpPr>
        <p:spPr>
          <a:xfrm>
            <a:off x="12237973" y="6966880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1" name="Straight Connector 71"/>
          <p:cNvSpPr/>
          <p:nvPr/>
        </p:nvSpPr>
        <p:spPr>
          <a:xfrm>
            <a:off x="12237973" y="6678848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2" name="Freeform 90"/>
          <p:cNvSpPr/>
          <p:nvPr/>
        </p:nvSpPr>
        <p:spPr>
          <a:xfrm>
            <a:off x="12237973" y="10298666"/>
            <a:ext cx="2636008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3" name="TextBox 98"/>
          <p:cNvSpPr txBox="1"/>
          <p:nvPr/>
        </p:nvSpPr>
        <p:spPr>
          <a:xfrm>
            <a:off x="13070458" y="9889172"/>
            <a:ext cx="176304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 </a:t>
            </a:r>
          </a:p>
        </p:txBody>
      </p:sp>
      <p:sp>
        <p:nvSpPr>
          <p:cNvPr id="134" name="TextBox 74"/>
          <p:cNvSpPr txBox="1"/>
          <p:nvPr/>
        </p:nvSpPr>
        <p:spPr>
          <a:xfrm>
            <a:off x="12243182" y="9193193"/>
            <a:ext cx="126636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SCALE: </a:t>
            </a:r>
            <a:r>
              <a:rPr>
                <a:solidFill>
                  <a:srgbClr val="000000"/>
                </a:solidFill>
              </a:rPr>
              <a:t>NOT TO SCALE</a:t>
            </a:r>
          </a:p>
        </p:txBody>
      </p:sp>
      <p:sp>
        <p:nvSpPr>
          <p:cNvPr id="135" name="Freeform 47"/>
          <p:cNvSpPr/>
          <p:nvPr/>
        </p:nvSpPr>
        <p:spPr>
          <a:xfrm>
            <a:off x="12226542" y="9184596"/>
            <a:ext cx="2646004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6" name="TextBox 109"/>
          <p:cNvSpPr txBox="1"/>
          <p:nvPr/>
        </p:nvSpPr>
        <p:spPr>
          <a:xfrm>
            <a:off x="12253914" y="8867116"/>
            <a:ext cx="95997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DOCUMENT REFERENCE</a:t>
            </a:r>
          </a:p>
        </p:txBody>
      </p:sp>
      <p:sp>
        <p:nvSpPr>
          <p:cNvPr id="137" name="TextBox 110"/>
          <p:cNvSpPr txBox="1"/>
          <p:nvPr/>
        </p:nvSpPr>
        <p:spPr>
          <a:xfrm>
            <a:off x="12223991" y="8967075"/>
            <a:ext cx="259089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APPENDIX B – RF PREDICTIONS </a:t>
            </a:r>
          </a:p>
        </p:txBody>
      </p:sp>
      <p:sp>
        <p:nvSpPr>
          <p:cNvPr id="138" name="Straight Connector 115"/>
          <p:cNvSpPr/>
          <p:nvPr/>
        </p:nvSpPr>
        <p:spPr>
          <a:xfrm>
            <a:off x="12237973" y="7857455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9" name="Rectangle 118"/>
          <p:cNvSpPr txBox="1"/>
          <p:nvPr/>
        </p:nvSpPr>
        <p:spPr>
          <a:xfrm>
            <a:off x="12292583" y="374373"/>
            <a:ext cx="2524151" cy="243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0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COMMERCIAL MOBILE SERVICES</a:t>
            </a:r>
          </a:p>
        </p:txBody>
      </p:sp>
      <p:sp>
        <p:nvSpPr>
          <p:cNvPr id="140" name="Rectangle 3"/>
          <p:cNvSpPr/>
          <p:nvPr/>
        </p:nvSpPr>
        <p:spPr>
          <a:xfrm>
            <a:off x="0" y="1"/>
            <a:ext cx="15122525" cy="236989"/>
          </a:xfrm>
          <a:prstGeom prst="rect">
            <a:avLst/>
          </a:prstGeom>
          <a:solidFill>
            <a:srgbClr val="D91D49"/>
          </a:solidFill>
          <a:ln w="25400">
            <a:solidFill>
              <a:srgbClr val="D91D49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41" name="Freeform 47"/>
          <p:cNvSpPr/>
          <p:nvPr/>
        </p:nvSpPr>
        <p:spPr>
          <a:xfrm flipV="1">
            <a:off x="13531176" y="9183037"/>
            <a:ext cx="4" cy="124739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2" name="Rectangle 5"/>
          <p:cNvSpPr/>
          <p:nvPr/>
        </p:nvSpPr>
        <p:spPr>
          <a:xfrm>
            <a:off x="223628" y="261258"/>
            <a:ext cx="14646449" cy="10175448"/>
          </a:xfrm>
          <a:prstGeom prst="rect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43" name="TextBox 49"/>
          <p:cNvSpPr txBox="1"/>
          <p:nvPr/>
        </p:nvSpPr>
        <p:spPr>
          <a:xfrm>
            <a:off x="12253914" y="8285091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ADDRESS</a:t>
            </a:r>
          </a:p>
        </p:txBody>
      </p:sp>
      <p:sp>
        <p:nvSpPr>
          <p:cNvPr id="144" name="Freeform 45"/>
          <p:cNvSpPr/>
          <p:nvPr/>
        </p:nvSpPr>
        <p:spPr>
          <a:xfrm>
            <a:off x="12230100" y="8849604"/>
            <a:ext cx="2646003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5" name="Straight Connector 52"/>
          <p:cNvSpPr/>
          <p:nvPr/>
        </p:nvSpPr>
        <p:spPr>
          <a:xfrm>
            <a:off x="12237973" y="8270047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6" name="Freeform 47"/>
          <p:cNvSpPr/>
          <p:nvPr/>
        </p:nvSpPr>
        <p:spPr>
          <a:xfrm>
            <a:off x="12236067" y="9317742"/>
            <a:ext cx="2631525" cy="5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7" name="Freeform 48"/>
          <p:cNvSpPr/>
          <p:nvPr/>
        </p:nvSpPr>
        <p:spPr>
          <a:xfrm>
            <a:off x="12227249" y="9427722"/>
            <a:ext cx="2646003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8" name="Freeform 21"/>
          <p:cNvSpPr/>
          <p:nvPr/>
        </p:nvSpPr>
        <p:spPr>
          <a:xfrm>
            <a:off x="12959990" y="9317742"/>
            <a:ext cx="4" cy="10800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9" name="Freeform 67"/>
          <p:cNvSpPr/>
          <p:nvPr/>
        </p:nvSpPr>
        <p:spPr>
          <a:xfrm>
            <a:off x="13975212" y="9321118"/>
            <a:ext cx="4" cy="10813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0" name="TextBox 1"/>
          <p:cNvSpPr txBox="1"/>
          <p:nvPr/>
        </p:nvSpPr>
        <p:spPr>
          <a:xfrm>
            <a:off x="63497" y="10507980"/>
            <a:ext cx="77312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000000">
                    <a:alpha val="50000"/>
                  </a:srgbClr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[SEC=PROTECTED]</a:t>
            </a:r>
          </a:p>
        </p:txBody>
      </p:sp>
      <p:sp>
        <p:nvSpPr>
          <p:cNvPr id="151" name="Picture Placeholder 2"/>
          <p:cNvSpPr/>
          <p:nvPr/>
        </p:nvSpPr>
        <p:spPr>
          <a:xfrm>
            <a:off x="599800" y="508423"/>
            <a:ext cx="11233730" cy="936439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 defTabSz="1407968">
              <a:spcBef>
                <a:spcPts val="1200"/>
              </a:spcBef>
              <a:defRPr sz="5000"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52" name="TextBox 6"/>
          <p:cNvSpPr txBox="1"/>
          <p:nvPr/>
        </p:nvSpPr>
        <p:spPr>
          <a:xfrm>
            <a:off x="13549306" y="7032755"/>
            <a:ext cx="1284189" cy="63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BOLDYN NETWORKS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</a:t>
            </a:r>
            <a:r>
              <a:rPr baseline="30000"/>
              <a:t>nd</a:t>
            </a:r>
            <a:r>
              <a:t> FLOOR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 KINGDOM STREET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LONDON 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W2 6BD</a:t>
            </a:r>
          </a:p>
        </p:txBody>
      </p:sp>
      <p:sp>
        <p:nvSpPr>
          <p:cNvPr id="153" name="Freeform: Shape 7"/>
          <p:cNvSpPr/>
          <p:nvPr/>
        </p:nvSpPr>
        <p:spPr>
          <a:xfrm>
            <a:off x="12537433" y="7031193"/>
            <a:ext cx="705489" cy="6648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0873"/>
                </a:moveTo>
                <a:lnTo>
                  <a:pt x="21231" y="9061"/>
                </a:lnTo>
                <a:lnTo>
                  <a:pt x="20308" y="7567"/>
                </a:lnTo>
                <a:lnTo>
                  <a:pt x="18900" y="6563"/>
                </a:lnTo>
                <a:lnTo>
                  <a:pt x="17192" y="6196"/>
                </a:lnTo>
                <a:lnTo>
                  <a:pt x="6808" y="6196"/>
                </a:lnTo>
                <a:lnTo>
                  <a:pt x="6808" y="0"/>
                </a:lnTo>
                <a:lnTo>
                  <a:pt x="4131" y="0"/>
                </a:lnTo>
                <a:lnTo>
                  <a:pt x="4131" y="6196"/>
                </a:lnTo>
                <a:lnTo>
                  <a:pt x="0" y="6196"/>
                </a:lnTo>
                <a:lnTo>
                  <a:pt x="0" y="9037"/>
                </a:lnTo>
                <a:lnTo>
                  <a:pt x="4131" y="9037"/>
                </a:lnTo>
                <a:lnTo>
                  <a:pt x="4131" y="6196"/>
                </a:lnTo>
                <a:lnTo>
                  <a:pt x="6808" y="6196"/>
                </a:lnTo>
                <a:lnTo>
                  <a:pt x="6808" y="9037"/>
                </a:lnTo>
                <a:lnTo>
                  <a:pt x="18923" y="9037"/>
                </a:lnTo>
                <a:lnTo>
                  <a:pt x="18923" y="18759"/>
                </a:lnTo>
                <a:lnTo>
                  <a:pt x="6808" y="18759"/>
                </a:lnTo>
                <a:lnTo>
                  <a:pt x="6808" y="9037"/>
                </a:lnTo>
                <a:lnTo>
                  <a:pt x="4131" y="9037"/>
                </a:lnTo>
                <a:lnTo>
                  <a:pt x="4131" y="16922"/>
                </a:lnTo>
                <a:lnTo>
                  <a:pt x="4477" y="18735"/>
                </a:lnTo>
                <a:lnTo>
                  <a:pt x="5423" y="20229"/>
                </a:lnTo>
                <a:lnTo>
                  <a:pt x="6831" y="21233"/>
                </a:lnTo>
                <a:lnTo>
                  <a:pt x="8538" y="21600"/>
                </a:lnTo>
                <a:lnTo>
                  <a:pt x="17192" y="21600"/>
                </a:lnTo>
                <a:lnTo>
                  <a:pt x="18900" y="21233"/>
                </a:lnTo>
                <a:lnTo>
                  <a:pt x="20308" y="20229"/>
                </a:lnTo>
                <a:lnTo>
                  <a:pt x="21231" y="18759"/>
                </a:lnTo>
                <a:lnTo>
                  <a:pt x="21600" y="16922"/>
                </a:lnTo>
                <a:lnTo>
                  <a:pt x="21600" y="10873"/>
                </a:lnTo>
                <a:close/>
              </a:path>
            </a:pathLst>
          </a:custGeom>
          <a:solidFill>
            <a:srgbClr val="F5054F">
              <a:alpha val="29802"/>
            </a:srgb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54" name="TextBox 27"/>
          <p:cNvSpPr txBox="1"/>
          <p:nvPr/>
        </p:nvSpPr>
        <p:spPr>
          <a:xfrm>
            <a:off x="13056406" y="9758240"/>
            <a:ext cx="177709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Original Submission</a:t>
            </a:r>
          </a:p>
        </p:txBody>
      </p:sp>
      <p:sp>
        <p:nvSpPr>
          <p:cNvPr id="155" name="TextBox 28"/>
          <p:cNvSpPr txBox="1"/>
          <p:nvPr/>
        </p:nvSpPr>
        <p:spPr>
          <a:xfrm>
            <a:off x="12247271" y="9758240"/>
            <a:ext cx="22438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P01</a:t>
            </a:r>
          </a:p>
        </p:txBody>
      </p:sp>
      <p:sp>
        <p:nvSpPr>
          <p:cNvPr id="156" name="TextBox 30"/>
          <p:cNvSpPr txBox="1"/>
          <p:nvPr/>
        </p:nvSpPr>
        <p:spPr>
          <a:xfrm>
            <a:off x="12233457" y="8514819"/>
            <a:ext cx="260097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&lt;&lt;ADDRESS&gt;&gt;</a:t>
            </a:r>
          </a:p>
        </p:txBody>
      </p:sp>
      <p:sp>
        <p:nvSpPr>
          <p:cNvPr id="157" name="TextBox 31"/>
          <p:cNvSpPr txBox="1"/>
          <p:nvPr/>
        </p:nvSpPr>
        <p:spPr>
          <a:xfrm>
            <a:off x="12239090" y="7990071"/>
            <a:ext cx="260097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&lt;&lt;STATION_NAME&gt;&gt;</a:t>
            </a:r>
          </a:p>
        </p:txBody>
      </p:sp>
      <p:sp>
        <p:nvSpPr>
          <p:cNvPr id="158" name="TextBox 32"/>
          <p:cNvSpPr txBox="1"/>
          <p:nvPr/>
        </p:nvSpPr>
        <p:spPr>
          <a:xfrm>
            <a:off x="13056406" y="9904169"/>
            <a:ext cx="177709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Updated design</a:t>
            </a:r>
          </a:p>
        </p:txBody>
      </p:sp>
      <p:sp>
        <p:nvSpPr>
          <p:cNvPr id="159" name="TextBox 33"/>
          <p:cNvSpPr txBox="1"/>
          <p:nvPr/>
        </p:nvSpPr>
        <p:spPr>
          <a:xfrm>
            <a:off x="12247271" y="9904169"/>
            <a:ext cx="22438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P02</a:t>
            </a:r>
          </a:p>
        </p:txBody>
      </p:sp>
      <p:pic>
        <p:nvPicPr>
          <p:cNvPr id="160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2233457" y="722526"/>
            <a:ext cx="2633704" cy="646233"/>
          </a:xfrm>
          <a:prstGeom prst="rect">
            <a:avLst/>
          </a:prstGeom>
          <a:ln w="12700">
            <a:miter lim="400000"/>
          </a:ln>
        </p:spPr>
      </p:pic>
      <p:sp>
        <p:nvSpPr>
          <p:cNvPr id="161" name="Rectangle 28"/>
          <p:cNvSpPr txBox="1"/>
          <p:nvPr/>
        </p:nvSpPr>
        <p:spPr>
          <a:xfrm>
            <a:off x="1031881" y="10077207"/>
            <a:ext cx="1398603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GSM</a:t>
            </a:r>
          </a:p>
        </p:txBody>
      </p:sp>
      <p:grpSp>
        <p:nvGrpSpPr>
          <p:cNvPr id="164" name="Rectangle 87"/>
          <p:cNvGrpSpPr/>
          <p:nvPr/>
        </p:nvGrpSpPr>
        <p:grpSpPr>
          <a:xfrm>
            <a:off x="12242777" y="6286958"/>
            <a:ext cx="2627302" cy="459737"/>
            <a:chOff x="-1" y="0"/>
            <a:chExt cx="2627301" cy="459735"/>
          </a:xfrm>
        </p:grpSpPr>
        <p:sp>
          <p:nvSpPr>
            <p:cNvPr id="162" name="Rectangle"/>
            <p:cNvSpPr/>
            <p:nvPr/>
          </p:nvSpPr>
          <p:spPr>
            <a:xfrm>
              <a:off x="-2" y="67851"/>
              <a:ext cx="2627302" cy="324042"/>
            </a:xfrm>
            <a:prstGeom prst="rect">
              <a:avLst/>
            </a:prstGeom>
            <a:solidFill>
              <a:srgbClr val="D91D49"/>
            </a:solidFill>
            <a:ln w="19050" cap="rnd">
              <a:solidFill>
                <a:srgbClr val="D91D49"/>
              </a:solidFill>
              <a:prstDash val="solid"/>
              <a:bevel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63" name="GSM 1800MHz"/>
            <p:cNvSpPr txBox="1"/>
            <p:nvPr/>
          </p:nvSpPr>
          <p:spPr>
            <a:xfrm>
              <a:off x="55243" y="0"/>
              <a:ext cx="2516811" cy="4597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b="1" sz="2400">
                  <a:solidFill>
                    <a:srgbClr val="FFFFFF"/>
                  </a:solidFill>
                  <a:latin typeface="Calibri (Body)"/>
                  <a:ea typeface="Calibri (Body)"/>
                  <a:cs typeface="Calibri (Body)"/>
                  <a:sym typeface="Calibri (Body)"/>
                </a:defRPr>
              </a:lvl1pPr>
            </a:lstStyle>
            <a:p>
              <a:pPr/>
              <a:r>
                <a:t>GSM 1800MHz</a:t>
              </a:r>
            </a:p>
          </p:txBody>
        </p:sp>
      </p:grpSp>
      <p:sp>
        <p:nvSpPr>
          <p:cNvPr id="165" name="Freeform 55"/>
          <p:cNvSpPr/>
          <p:nvPr/>
        </p:nvSpPr>
        <p:spPr>
          <a:xfrm>
            <a:off x="9227818" y="10104121"/>
            <a:ext cx="3" cy="335284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6" name="Freeform 56"/>
          <p:cNvSpPr/>
          <p:nvPr/>
        </p:nvSpPr>
        <p:spPr>
          <a:xfrm>
            <a:off x="6228517" y="10104121"/>
            <a:ext cx="4" cy="335284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7" name="Freeform 57"/>
          <p:cNvSpPr/>
          <p:nvPr/>
        </p:nvSpPr>
        <p:spPr>
          <a:xfrm>
            <a:off x="3204778" y="10104121"/>
            <a:ext cx="4" cy="335284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8" name="Rectangle 7"/>
          <p:cNvSpPr txBox="1"/>
          <p:nvPr/>
        </p:nvSpPr>
        <p:spPr>
          <a:xfrm>
            <a:off x="271007" y="10249420"/>
            <a:ext cx="2888053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Technology </a:t>
            </a:r>
          </a:p>
        </p:txBody>
      </p:sp>
      <p:sp>
        <p:nvSpPr>
          <p:cNvPr id="169" name="Rectangle 8"/>
          <p:cNvSpPr txBox="1"/>
          <p:nvPr/>
        </p:nvSpPr>
        <p:spPr>
          <a:xfrm>
            <a:off x="3250501" y="10249612"/>
            <a:ext cx="2924494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Frequency Band</a:t>
            </a:r>
          </a:p>
        </p:txBody>
      </p:sp>
      <p:sp>
        <p:nvSpPr>
          <p:cNvPr id="170" name="Rectangle 9"/>
          <p:cNvSpPr txBox="1"/>
          <p:nvPr/>
        </p:nvSpPr>
        <p:spPr>
          <a:xfrm>
            <a:off x="6272324" y="10254543"/>
            <a:ext cx="2901971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Plot</a:t>
            </a:r>
          </a:p>
        </p:txBody>
      </p:sp>
      <p:sp>
        <p:nvSpPr>
          <p:cNvPr id="171" name="Rectangle 10"/>
          <p:cNvSpPr txBox="1"/>
          <p:nvPr/>
        </p:nvSpPr>
        <p:spPr>
          <a:xfrm>
            <a:off x="9273537" y="10246400"/>
            <a:ext cx="2912501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Floor Level</a:t>
            </a:r>
          </a:p>
        </p:txBody>
      </p:sp>
      <p:sp>
        <p:nvSpPr>
          <p:cNvPr id="172" name="Rectangle 11"/>
          <p:cNvSpPr/>
          <p:nvPr/>
        </p:nvSpPr>
        <p:spPr>
          <a:xfrm>
            <a:off x="225282" y="10279246"/>
            <a:ext cx="12004820" cy="157181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73" name="Rectangle 12"/>
          <p:cNvSpPr/>
          <p:nvPr/>
        </p:nvSpPr>
        <p:spPr>
          <a:xfrm>
            <a:off x="225282" y="10103973"/>
            <a:ext cx="12004820" cy="174458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74" name="Rectangle 43"/>
          <p:cNvSpPr txBox="1"/>
          <p:nvPr/>
        </p:nvSpPr>
        <p:spPr>
          <a:xfrm>
            <a:off x="3250495" y="10088032"/>
            <a:ext cx="2932902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1800MHz</a:t>
            </a:r>
          </a:p>
        </p:txBody>
      </p:sp>
      <p:sp>
        <p:nvSpPr>
          <p:cNvPr id="175" name="Rectangle 44"/>
          <p:cNvSpPr txBox="1"/>
          <p:nvPr/>
        </p:nvSpPr>
        <p:spPr>
          <a:xfrm>
            <a:off x="6274834" y="10083707"/>
            <a:ext cx="2896896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RxLev (dBm)</a:t>
            </a:r>
          </a:p>
        </p:txBody>
      </p:sp>
      <p:sp>
        <p:nvSpPr>
          <p:cNvPr id="176" name="Rectangle 45"/>
          <p:cNvSpPr txBox="1"/>
          <p:nvPr/>
        </p:nvSpPr>
        <p:spPr>
          <a:xfrm>
            <a:off x="12352687" y="1531651"/>
            <a:ext cx="535696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LEGEND</a:t>
            </a:r>
          </a:p>
        </p:txBody>
      </p:sp>
      <p:grpSp>
        <p:nvGrpSpPr>
          <p:cNvPr id="199" name="Group 46"/>
          <p:cNvGrpSpPr/>
          <p:nvPr/>
        </p:nvGrpSpPr>
        <p:grpSpPr>
          <a:xfrm>
            <a:off x="12332024" y="1794034"/>
            <a:ext cx="1253525" cy="2247726"/>
            <a:chOff x="0" y="-1"/>
            <a:chExt cx="1253524" cy="2247724"/>
          </a:xfrm>
        </p:grpSpPr>
        <p:sp>
          <p:nvSpPr>
            <p:cNvPr id="177" name="Straight Connector 47"/>
            <p:cNvSpPr/>
            <p:nvPr/>
          </p:nvSpPr>
          <p:spPr>
            <a:xfrm>
              <a:off x="601121" y="1946115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78" name="Straight Connector 48"/>
            <p:cNvSpPr/>
            <p:nvPr/>
          </p:nvSpPr>
          <p:spPr>
            <a:xfrm>
              <a:off x="601121" y="1578450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79" name="Straight Connector 49"/>
            <p:cNvSpPr/>
            <p:nvPr/>
          </p:nvSpPr>
          <p:spPr>
            <a:xfrm>
              <a:off x="601121" y="1397475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80" name="Straight Connector 50"/>
            <p:cNvSpPr/>
            <p:nvPr/>
          </p:nvSpPr>
          <p:spPr>
            <a:xfrm>
              <a:off x="601121" y="1214595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81" name="Straight Connector 51"/>
            <p:cNvSpPr/>
            <p:nvPr/>
          </p:nvSpPr>
          <p:spPr>
            <a:xfrm>
              <a:off x="601121" y="1029807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82" name="Straight Connector 52"/>
            <p:cNvSpPr/>
            <p:nvPr/>
          </p:nvSpPr>
          <p:spPr>
            <a:xfrm>
              <a:off x="601121" y="846927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83" name="Straight Connector 53"/>
            <p:cNvSpPr/>
            <p:nvPr/>
          </p:nvSpPr>
          <p:spPr>
            <a:xfrm>
              <a:off x="601121" y="662142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84" name="Straight Connector 54"/>
            <p:cNvSpPr/>
            <p:nvPr/>
          </p:nvSpPr>
          <p:spPr>
            <a:xfrm>
              <a:off x="601121" y="483072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85" name="Straight Connector 55"/>
            <p:cNvSpPr/>
            <p:nvPr/>
          </p:nvSpPr>
          <p:spPr>
            <a:xfrm>
              <a:off x="601121" y="1761330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pic>
          <p:nvPicPr>
            <p:cNvPr id="186" name="Picture 56" descr="Picture 56"/>
            <p:cNvPicPr>
              <a:picLocks noChangeAspect="1"/>
            </p:cNvPicPr>
            <p:nvPr/>
          </p:nvPicPr>
          <p:blipFill>
            <a:blip r:embed="rId3">
              <a:extLst/>
            </a:blip>
            <a:stretch>
              <a:fillRect/>
            </a:stretch>
          </p:blipFill>
          <p:spPr>
            <a:xfrm>
              <a:off x="66281" y="292572"/>
              <a:ext cx="624845" cy="1844047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87" name="TextBox 57"/>
            <p:cNvSpPr txBox="1"/>
            <p:nvPr/>
          </p:nvSpPr>
          <p:spPr>
            <a:xfrm>
              <a:off x="683115" y="2019216"/>
              <a:ext cx="326697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MIN</a:t>
              </a:r>
            </a:p>
          </p:txBody>
        </p:sp>
        <p:sp>
          <p:nvSpPr>
            <p:cNvPr id="188" name="TextBox 58"/>
            <p:cNvSpPr txBox="1"/>
            <p:nvPr/>
          </p:nvSpPr>
          <p:spPr>
            <a:xfrm>
              <a:off x="826842" y="356154"/>
              <a:ext cx="363718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-55</a:t>
              </a:r>
            </a:p>
          </p:txBody>
        </p:sp>
        <p:sp>
          <p:nvSpPr>
            <p:cNvPr id="189" name="TextBox 59"/>
            <p:cNvSpPr txBox="1"/>
            <p:nvPr/>
          </p:nvSpPr>
          <p:spPr>
            <a:xfrm>
              <a:off x="826842" y="540936"/>
              <a:ext cx="363718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-65</a:t>
              </a:r>
            </a:p>
          </p:txBody>
        </p:sp>
        <p:sp>
          <p:nvSpPr>
            <p:cNvPr id="190" name="TextBox 60"/>
            <p:cNvSpPr txBox="1"/>
            <p:nvPr/>
          </p:nvSpPr>
          <p:spPr>
            <a:xfrm>
              <a:off x="826842" y="723818"/>
              <a:ext cx="363718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-75</a:t>
              </a:r>
            </a:p>
          </p:txBody>
        </p:sp>
        <p:sp>
          <p:nvSpPr>
            <p:cNvPr id="191" name="TextBox 61"/>
            <p:cNvSpPr txBox="1"/>
            <p:nvPr/>
          </p:nvSpPr>
          <p:spPr>
            <a:xfrm>
              <a:off x="826842" y="908602"/>
              <a:ext cx="363718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-85</a:t>
              </a:r>
            </a:p>
          </p:txBody>
        </p:sp>
        <p:sp>
          <p:nvSpPr>
            <p:cNvPr id="192" name="TextBox 62"/>
            <p:cNvSpPr txBox="1"/>
            <p:nvPr/>
          </p:nvSpPr>
          <p:spPr>
            <a:xfrm>
              <a:off x="826842" y="1089577"/>
              <a:ext cx="363718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-95</a:t>
              </a:r>
            </a:p>
          </p:txBody>
        </p:sp>
        <p:sp>
          <p:nvSpPr>
            <p:cNvPr id="193" name="TextBox 63"/>
            <p:cNvSpPr txBox="1"/>
            <p:nvPr/>
          </p:nvSpPr>
          <p:spPr>
            <a:xfrm>
              <a:off x="826842" y="1274363"/>
              <a:ext cx="363718" cy="2285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-98</a:t>
              </a:r>
            </a:p>
          </p:txBody>
        </p:sp>
        <p:sp>
          <p:nvSpPr>
            <p:cNvPr id="194" name="TextBox 64"/>
            <p:cNvSpPr txBox="1"/>
            <p:nvPr/>
          </p:nvSpPr>
          <p:spPr>
            <a:xfrm>
              <a:off x="825439" y="1453437"/>
              <a:ext cx="428086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-101</a:t>
              </a:r>
            </a:p>
          </p:txBody>
        </p:sp>
        <p:sp>
          <p:nvSpPr>
            <p:cNvPr id="195" name="TextBox 65"/>
            <p:cNvSpPr txBox="1"/>
            <p:nvPr/>
          </p:nvSpPr>
          <p:spPr>
            <a:xfrm>
              <a:off x="825439" y="1638221"/>
              <a:ext cx="428086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-103</a:t>
              </a:r>
            </a:p>
          </p:txBody>
        </p:sp>
        <p:sp>
          <p:nvSpPr>
            <p:cNvPr id="196" name="TextBox 66"/>
            <p:cNvSpPr txBox="1"/>
            <p:nvPr/>
          </p:nvSpPr>
          <p:spPr>
            <a:xfrm>
              <a:off x="825439" y="1817294"/>
              <a:ext cx="428086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-106</a:t>
              </a:r>
            </a:p>
          </p:txBody>
        </p:sp>
        <p:sp>
          <p:nvSpPr>
            <p:cNvPr id="197" name="TextBox 67"/>
            <p:cNvSpPr txBox="1"/>
            <p:nvPr/>
          </p:nvSpPr>
          <p:spPr>
            <a:xfrm>
              <a:off x="683116" y="169461"/>
              <a:ext cx="352122" cy="2285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MAX</a:t>
              </a:r>
            </a:p>
          </p:txBody>
        </p:sp>
        <p:sp>
          <p:nvSpPr>
            <p:cNvPr id="198" name="TextBox 68"/>
            <p:cNvSpPr txBox="1"/>
            <p:nvPr/>
          </p:nvSpPr>
          <p:spPr>
            <a:xfrm>
              <a:off x="-1" y="-2"/>
              <a:ext cx="1076284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algn="ctr">
                <a:defRPr b="1" sz="1000" u="sng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GSM RxLev (dBm)</a:t>
              </a:r>
            </a:p>
          </p:txBody>
        </p:sp>
      </p:grpSp>
      <p:sp>
        <p:nvSpPr>
          <p:cNvPr id="200" name="DRAWN:  &lt;D&gt;"/>
          <p:cNvSpPr txBox="1"/>
          <p:nvPr/>
        </p:nvSpPr>
        <p:spPr>
          <a:xfrm>
            <a:off x="12328552" y="9281572"/>
            <a:ext cx="596721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</a:defRPr>
            </a:pPr>
            <a:r>
              <a:t>DRAWN:  </a:t>
            </a:r>
            <a:r>
              <a:rPr>
                <a:solidFill>
                  <a:srgbClr val="000000"/>
                </a:solidFill>
              </a:rPr>
              <a:t>&lt;D&gt;</a:t>
            </a:r>
          </a:p>
        </p:txBody>
      </p:sp>
      <p:sp>
        <p:nvSpPr>
          <p:cNvPr id="201" name="CHECKED: &lt;C&gt;"/>
          <p:cNvSpPr txBox="1"/>
          <p:nvPr/>
        </p:nvSpPr>
        <p:spPr>
          <a:xfrm>
            <a:off x="13116310" y="9281572"/>
            <a:ext cx="663099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CHECKED: </a:t>
            </a:r>
            <a:r>
              <a:rPr>
                <a:solidFill>
                  <a:srgbClr val="000000"/>
                </a:solidFill>
              </a:rPr>
              <a:t>&lt;C&gt;</a:t>
            </a:r>
          </a:p>
        </p:txBody>
      </p:sp>
      <p:sp>
        <p:nvSpPr>
          <p:cNvPr id="202" name="APPROVED: &lt;A&gt;"/>
          <p:cNvSpPr txBox="1"/>
          <p:nvPr/>
        </p:nvSpPr>
        <p:spPr>
          <a:xfrm>
            <a:off x="14079282" y="9282355"/>
            <a:ext cx="709756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APPROVED: </a:t>
            </a:r>
            <a:r>
              <a:rPr>
                <a:solidFill>
                  <a:srgbClr val="000000"/>
                </a:solidFill>
              </a:rPr>
              <a:t>&lt;A&gt;</a:t>
            </a:r>
          </a:p>
        </p:txBody>
      </p:sp>
      <p:sp>
        <p:nvSpPr>
          <p:cNvPr id="203" name="&lt;NUM&gt;"/>
          <p:cNvSpPr txBox="1"/>
          <p:nvPr/>
        </p:nvSpPr>
        <p:spPr>
          <a:xfrm>
            <a:off x="14324158" y="9141614"/>
            <a:ext cx="366670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600"/>
            </a:lvl1pPr>
          </a:lstStyle>
          <a:p>
            <a:pPr/>
            <a:r>
              <a:t>&lt;NUM&gt;</a:t>
            </a:r>
          </a:p>
        </p:txBody>
      </p:sp>
      <p:sp>
        <p:nvSpPr>
          <p:cNvPr id="204" name="&lt;P01&gt;"/>
          <p:cNvSpPr txBox="1"/>
          <p:nvPr/>
        </p:nvSpPr>
        <p:spPr>
          <a:xfrm>
            <a:off x="12618695" y="9717430"/>
            <a:ext cx="328719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&lt;P01&gt;</a:t>
            </a:r>
          </a:p>
        </p:txBody>
      </p:sp>
      <p:sp>
        <p:nvSpPr>
          <p:cNvPr id="205" name="&lt;P02&gt;"/>
          <p:cNvSpPr txBox="1"/>
          <p:nvPr/>
        </p:nvSpPr>
        <p:spPr>
          <a:xfrm>
            <a:off x="12607962" y="9862504"/>
            <a:ext cx="328718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&lt;P02&gt;</a:t>
            </a:r>
          </a:p>
        </p:txBody>
      </p:sp>
      <p:sp>
        <p:nvSpPr>
          <p:cNvPr id="206" name="&lt;&lt;logo&gt;&gt;"/>
          <p:cNvSpPr txBox="1"/>
          <p:nvPr/>
        </p:nvSpPr>
        <p:spPr>
          <a:xfrm>
            <a:off x="13316342" y="875552"/>
            <a:ext cx="1054156" cy="3401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0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&lt;&lt;logo&gt;&gt;</a:t>
            </a:r>
          </a:p>
        </p:txBody>
      </p:sp>
      <p:sp>
        <p:nvSpPr>
          <p:cNvPr id="20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UMTS RSC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TextBox 66"/>
          <p:cNvSpPr txBox="1"/>
          <p:nvPr/>
        </p:nvSpPr>
        <p:spPr>
          <a:xfrm>
            <a:off x="13525788" y="9201184"/>
            <a:ext cx="130066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SHEET:</a:t>
            </a:r>
          </a:p>
        </p:txBody>
      </p:sp>
      <p:sp>
        <p:nvSpPr>
          <p:cNvPr id="215" name="Freeform 10"/>
          <p:cNvSpPr/>
          <p:nvPr/>
        </p:nvSpPr>
        <p:spPr>
          <a:xfrm flipH="1">
            <a:off x="12234861" y="209548"/>
            <a:ext cx="1" cy="10224004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6" name="Freeform 11"/>
          <p:cNvSpPr/>
          <p:nvPr/>
        </p:nvSpPr>
        <p:spPr>
          <a:xfrm>
            <a:off x="12230100" y="702182"/>
            <a:ext cx="2646003" cy="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7" name="TextBox 15"/>
          <p:cNvSpPr txBox="1"/>
          <p:nvPr/>
        </p:nvSpPr>
        <p:spPr>
          <a:xfrm>
            <a:off x="12339755" y="6726997"/>
            <a:ext cx="2522705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400">
                <a:solidFill>
                  <a:srgbClr val="A6A6A6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RF PREDICTIONS</a:t>
            </a:r>
          </a:p>
        </p:txBody>
      </p:sp>
      <p:sp>
        <p:nvSpPr>
          <p:cNvPr id="218" name="TextBox 17"/>
          <p:cNvSpPr txBox="1"/>
          <p:nvPr/>
        </p:nvSpPr>
        <p:spPr>
          <a:xfrm>
            <a:off x="12253914" y="7872499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STATION</a:t>
            </a:r>
          </a:p>
        </p:txBody>
      </p:sp>
      <p:sp>
        <p:nvSpPr>
          <p:cNvPr id="219" name="Freeform 45"/>
          <p:cNvSpPr/>
          <p:nvPr/>
        </p:nvSpPr>
        <p:spPr>
          <a:xfrm>
            <a:off x="12230100" y="8848334"/>
            <a:ext cx="2646003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0" name="Freeform 67"/>
          <p:cNvSpPr/>
          <p:nvPr/>
        </p:nvSpPr>
        <p:spPr>
          <a:xfrm>
            <a:off x="13545545" y="6970361"/>
            <a:ext cx="3" cy="890405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1" name="TextBox 75"/>
          <p:cNvSpPr txBox="1"/>
          <p:nvPr/>
        </p:nvSpPr>
        <p:spPr>
          <a:xfrm>
            <a:off x="12234160" y="9470638"/>
            <a:ext cx="259229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DRAWING HISTORY</a:t>
            </a:r>
          </a:p>
        </p:txBody>
      </p:sp>
      <p:sp>
        <p:nvSpPr>
          <p:cNvPr id="222" name="Freeform 76"/>
          <p:cNvSpPr/>
          <p:nvPr/>
        </p:nvSpPr>
        <p:spPr>
          <a:xfrm>
            <a:off x="12233492" y="9612058"/>
            <a:ext cx="2636007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3" name="TextBox 77"/>
          <p:cNvSpPr txBox="1"/>
          <p:nvPr/>
        </p:nvSpPr>
        <p:spPr>
          <a:xfrm>
            <a:off x="12507654" y="9632305"/>
            <a:ext cx="51028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DATE</a:t>
            </a:r>
          </a:p>
        </p:txBody>
      </p:sp>
      <p:sp>
        <p:nvSpPr>
          <p:cNvPr id="224" name="Freeform 79"/>
          <p:cNvSpPr/>
          <p:nvPr/>
        </p:nvSpPr>
        <p:spPr>
          <a:xfrm>
            <a:off x="12513692" y="9612117"/>
            <a:ext cx="4" cy="821437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5" name="TextBox 80"/>
          <p:cNvSpPr txBox="1"/>
          <p:nvPr/>
        </p:nvSpPr>
        <p:spPr>
          <a:xfrm>
            <a:off x="12233491" y="9634148"/>
            <a:ext cx="26032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ISSUE</a:t>
            </a:r>
          </a:p>
        </p:txBody>
      </p:sp>
      <p:sp>
        <p:nvSpPr>
          <p:cNvPr id="226" name="Freeform 82"/>
          <p:cNvSpPr/>
          <p:nvPr/>
        </p:nvSpPr>
        <p:spPr>
          <a:xfrm>
            <a:off x="12236067" y="9736835"/>
            <a:ext cx="2636007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7" name="Freeform 83"/>
          <p:cNvSpPr/>
          <p:nvPr/>
        </p:nvSpPr>
        <p:spPr>
          <a:xfrm>
            <a:off x="13052420" y="9614212"/>
            <a:ext cx="4" cy="824700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8" name="TextBox 84"/>
          <p:cNvSpPr txBox="1"/>
          <p:nvPr/>
        </p:nvSpPr>
        <p:spPr>
          <a:xfrm>
            <a:off x="13058443" y="9631360"/>
            <a:ext cx="178161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DESCRIPTION</a:t>
            </a:r>
          </a:p>
        </p:txBody>
      </p:sp>
      <p:sp>
        <p:nvSpPr>
          <p:cNvPr id="229" name="Freeform 86"/>
          <p:cNvSpPr/>
          <p:nvPr/>
        </p:nvSpPr>
        <p:spPr>
          <a:xfrm>
            <a:off x="12237973" y="9877804"/>
            <a:ext cx="2636008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30" name="Freeform 87"/>
          <p:cNvSpPr/>
          <p:nvPr/>
        </p:nvSpPr>
        <p:spPr>
          <a:xfrm>
            <a:off x="12236067" y="9878180"/>
            <a:ext cx="2636007" cy="3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31" name="Freeform 88"/>
          <p:cNvSpPr/>
          <p:nvPr/>
        </p:nvSpPr>
        <p:spPr>
          <a:xfrm>
            <a:off x="12237973" y="10019151"/>
            <a:ext cx="2636008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32" name="Freeform 90"/>
          <p:cNvSpPr/>
          <p:nvPr/>
        </p:nvSpPr>
        <p:spPr>
          <a:xfrm>
            <a:off x="12237973" y="10159355"/>
            <a:ext cx="2636008" cy="5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33" name="Straight Connector 2"/>
          <p:cNvSpPr/>
          <p:nvPr/>
        </p:nvSpPr>
        <p:spPr>
          <a:xfrm>
            <a:off x="12237973" y="6966880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34" name="Straight Connector 71"/>
          <p:cNvSpPr/>
          <p:nvPr/>
        </p:nvSpPr>
        <p:spPr>
          <a:xfrm>
            <a:off x="12237973" y="6678848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35" name="Freeform 90"/>
          <p:cNvSpPr/>
          <p:nvPr/>
        </p:nvSpPr>
        <p:spPr>
          <a:xfrm>
            <a:off x="12237973" y="10298666"/>
            <a:ext cx="2636008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36" name="TextBox 98"/>
          <p:cNvSpPr txBox="1"/>
          <p:nvPr/>
        </p:nvSpPr>
        <p:spPr>
          <a:xfrm>
            <a:off x="13070458" y="9889172"/>
            <a:ext cx="176304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 </a:t>
            </a:r>
          </a:p>
        </p:txBody>
      </p:sp>
      <p:sp>
        <p:nvSpPr>
          <p:cNvPr id="237" name="TextBox 74"/>
          <p:cNvSpPr txBox="1"/>
          <p:nvPr/>
        </p:nvSpPr>
        <p:spPr>
          <a:xfrm>
            <a:off x="12243182" y="9193193"/>
            <a:ext cx="126636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SCALE: </a:t>
            </a:r>
            <a:r>
              <a:rPr>
                <a:solidFill>
                  <a:srgbClr val="000000"/>
                </a:solidFill>
              </a:rPr>
              <a:t>NOT TO SCALE</a:t>
            </a:r>
          </a:p>
        </p:txBody>
      </p:sp>
      <p:sp>
        <p:nvSpPr>
          <p:cNvPr id="238" name="Freeform 47"/>
          <p:cNvSpPr/>
          <p:nvPr/>
        </p:nvSpPr>
        <p:spPr>
          <a:xfrm>
            <a:off x="12226542" y="9184596"/>
            <a:ext cx="2646004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39" name="TextBox 109"/>
          <p:cNvSpPr txBox="1"/>
          <p:nvPr/>
        </p:nvSpPr>
        <p:spPr>
          <a:xfrm>
            <a:off x="12253914" y="8867116"/>
            <a:ext cx="95997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DOCUMENT REFERENCE</a:t>
            </a:r>
          </a:p>
        </p:txBody>
      </p:sp>
      <p:sp>
        <p:nvSpPr>
          <p:cNvPr id="240" name="TextBox 110"/>
          <p:cNvSpPr txBox="1"/>
          <p:nvPr/>
        </p:nvSpPr>
        <p:spPr>
          <a:xfrm>
            <a:off x="12223991" y="8967075"/>
            <a:ext cx="259089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APPENDIX B – RF PREDICTIONS </a:t>
            </a:r>
          </a:p>
        </p:txBody>
      </p:sp>
      <p:sp>
        <p:nvSpPr>
          <p:cNvPr id="241" name="Straight Connector 115"/>
          <p:cNvSpPr/>
          <p:nvPr/>
        </p:nvSpPr>
        <p:spPr>
          <a:xfrm>
            <a:off x="12237973" y="7857455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42" name="Rectangle 118"/>
          <p:cNvSpPr txBox="1"/>
          <p:nvPr/>
        </p:nvSpPr>
        <p:spPr>
          <a:xfrm>
            <a:off x="12292583" y="374373"/>
            <a:ext cx="2524151" cy="243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0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COMMERCIAL MOBILE SERVICES</a:t>
            </a:r>
          </a:p>
        </p:txBody>
      </p:sp>
      <p:sp>
        <p:nvSpPr>
          <p:cNvPr id="243" name="Rectangle 3"/>
          <p:cNvSpPr/>
          <p:nvPr/>
        </p:nvSpPr>
        <p:spPr>
          <a:xfrm>
            <a:off x="0" y="1"/>
            <a:ext cx="15122525" cy="236989"/>
          </a:xfrm>
          <a:prstGeom prst="rect">
            <a:avLst/>
          </a:prstGeom>
          <a:solidFill>
            <a:srgbClr val="D91D49"/>
          </a:solidFill>
          <a:ln w="25400">
            <a:solidFill>
              <a:srgbClr val="D91D49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44" name="Freeform 47"/>
          <p:cNvSpPr/>
          <p:nvPr/>
        </p:nvSpPr>
        <p:spPr>
          <a:xfrm flipV="1">
            <a:off x="13531176" y="9183037"/>
            <a:ext cx="4" cy="124739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45" name="Rectangle 5"/>
          <p:cNvSpPr/>
          <p:nvPr/>
        </p:nvSpPr>
        <p:spPr>
          <a:xfrm>
            <a:off x="223628" y="261258"/>
            <a:ext cx="14646449" cy="10175448"/>
          </a:xfrm>
          <a:prstGeom prst="rect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46" name="TextBox 49"/>
          <p:cNvSpPr txBox="1"/>
          <p:nvPr/>
        </p:nvSpPr>
        <p:spPr>
          <a:xfrm>
            <a:off x="12253914" y="8285091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ADDRESS</a:t>
            </a:r>
          </a:p>
        </p:txBody>
      </p:sp>
      <p:sp>
        <p:nvSpPr>
          <p:cNvPr id="247" name="Freeform 45"/>
          <p:cNvSpPr/>
          <p:nvPr/>
        </p:nvSpPr>
        <p:spPr>
          <a:xfrm>
            <a:off x="12230100" y="8849604"/>
            <a:ext cx="2646003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48" name="Straight Connector 52"/>
          <p:cNvSpPr/>
          <p:nvPr/>
        </p:nvSpPr>
        <p:spPr>
          <a:xfrm>
            <a:off x="12237973" y="8270047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49" name="Freeform 47"/>
          <p:cNvSpPr/>
          <p:nvPr/>
        </p:nvSpPr>
        <p:spPr>
          <a:xfrm>
            <a:off x="12236067" y="9317742"/>
            <a:ext cx="2631525" cy="5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50" name="Freeform 48"/>
          <p:cNvSpPr/>
          <p:nvPr/>
        </p:nvSpPr>
        <p:spPr>
          <a:xfrm>
            <a:off x="12227249" y="9427722"/>
            <a:ext cx="2646003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51" name="Freeform 21"/>
          <p:cNvSpPr/>
          <p:nvPr/>
        </p:nvSpPr>
        <p:spPr>
          <a:xfrm>
            <a:off x="12959990" y="9317742"/>
            <a:ext cx="4" cy="10800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52" name="Freeform 67"/>
          <p:cNvSpPr/>
          <p:nvPr/>
        </p:nvSpPr>
        <p:spPr>
          <a:xfrm>
            <a:off x="13975212" y="9321118"/>
            <a:ext cx="4" cy="10813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53" name="TextBox 1"/>
          <p:cNvSpPr txBox="1"/>
          <p:nvPr/>
        </p:nvSpPr>
        <p:spPr>
          <a:xfrm>
            <a:off x="63497" y="10507980"/>
            <a:ext cx="77312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000000">
                    <a:alpha val="50000"/>
                  </a:srgbClr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[SEC=PROTECTED]</a:t>
            </a:r>
          </a:p>
        </p:txBody>
      </p:sp>
      <p:sp>
        <p:nvSpPr>
          <p:cNvPr id="254" name="Picture Placeholder 2"/>
          <p:cNvSpPr/>
          <p:nvPr/>
        </p:nvSpPr>
        <p:spPr>
          <a:xfrm>
            <a:off x="599800" y="508423"/>
            <a:ext cx="11233730" cy="936439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 defTabSz="1407968">
              <a:spcBef>
                <a:spcPts val="1200"/>
              </a:spcBef>
              <a:defRPr sz="5000"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55" name="TextBox 6"/>
          <p:cNvSpPr txBox="1"/>
          <p:nvPr/>
        </p:nvSpPr>
        <p:spPr>
          <a:xfrm>
            <a:off x="13549306" y="7032755"/>
            <a:ext cx="1284189" cy="63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BOLDYN NETWORKS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</a:t>
            </a:r>
            <a:r>
              <a:rPr baseline="30000"/>
              <a:t>nd</a:t>
            </a:r>
            <a:r>
              <a:t> FLOOR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 KINGDOM STREET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LONDON 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W2 6BD</a:t>
            </a:r>
          </a:p>
        </p:txBody>
      </p:sp>
      <p:sp>
        <p:nvSpPr>
          <p:cNvPr id="256" name="Freeform: Shape 7"/>
          <p:cNvSpPr/>
          <p:nvPr/>
        </p:nvSpPr>
        <p:spPr>
          <a:xfrm>
            <a:off x="12537433" y="7031193"/>
            <a:ext cx="705489" cy="6648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0873"/>
                </a:moveTo>
                <a:lnTo>
                  <a:pt x="21231" y="9061"/>
                </a:lnTo>
                <a:lnTo>
                  <a:pt x="20308" y="7567"/>
                </a:lnTo>
                <a:lnTo>
                  <a:pt x="18900" y="6563"/>
                </a:lnTo>
                <a:lnTo>
                  <a:pt x="17192" y="6196"/>
                </a:lnTo>
                <a:lnTo>
                  <a:pt x="6808" y="6196"/>
                </a:lnTo>
                <a:lnTo>
                  <a:pt x="6808" y="0"/>
                </a:lnTo>
                <a:lnTo>
                  <a:pt x="4131" y="0"/>
                </a:lnTo>
                <a:lnTo>
                  <a:pt x="4131" y="6196"/>
                </a:lnTo>
                <a:lnTo>
                  <a:pt x="0" y="6196"/>
                </a:lnTo>
                <a:lnTo>
                  <a:pt x="0" y="9037"/>
                </a:lnTo>
                <a:lnTo>
                  <a:pt x="4131" y="9037"/>
                </a:lnTo>
                <a:lnTo>
                  <a:pt x="4131" y="6196"/>
                </a:lnTo>
                <a:lnTo>
                  <a:pt x="6808" y="6196"/>
                </a:lnTo>
                <a:lnTo>
                  <a:pt x="6808" y="9037"/>
                </a:lnTo>
                <a:lnTo>
                  <a:pt x="18923" y="9037"/>
                </a:lnTo>
                <a:lnTo>
                  <a:pt x="18923" y="18759"/>
                </a:lnTo>
                <a:lnTo>
                  <a:pt x="6808" y="18759"/>
                </a:lnTo>
                <a:lnTo>
                  <a:pt x="6808" y="9037"/>
                </a:lnTo>
                <a:lnTo>
                  <a:pt x="4131" y="9037"/>
                </a:lnTo>
                <a:lnTo>
                  <a:pt x="4131" y="16922"/>
                </a:lnTo>
                <a:lnTo>
                  <a:pt x="4477" y="18735"/>
                </a:lnTo>
                <a:lnTo>
                  <a:pt x="5423" y="20229"/>
                </a:lnTo>
                <a:lnTo>
                  <a:pt x="6831" y="21233"/>
                </a:lnTo>
                <a:lnTo>
                  <a:pt x="8538" y="21600"/>
                </a:lnTo>
                <a:lnTo>
                  <a:pt x="17192" y="21600"/>
                </a:lnTo>
                <a:lnTo>
                  <a:pt x="18900" y="21233"/>
                </a:lnTo>
                <a:lnTo>
                  <a:pt x="20308" y="20229"/>
                </a:lnTo>
                <a:lnTo>
                  <a:pt x="21231" y="18759"/>
                </a:lnTo>
                <a:lnTo>
                  <a:pt x="21600" y="16922"/>
                </a:lnTo>
                <a:lnTo>
                  <a:pt x="21600" y="10873"/>
                </a:lnTo>
                <a:close/>
              </a:path>
            </a:pathLst>
          </a:custGeom>
          <a:solidFill>
            <a:srgbClr val="F5054F">
              <a:alpha val="29802"/>
            </a:srgb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57" name="TextBox 27"/>
          <p:cNvSpPr txBox="1"/>
          <p:nvPr/>
        </p:nvSpPr>
        <p:spPr>
          <a:xfrm>
            <a:off x="13056406" y="9758240"/>
            <a:ext cx="177709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Original Submission</a:t>
            </a:r>
          </a:p>
        </p:txBody>
      </p:sp>
      <p:sp>
        <p:nvSpPr>
          <p:cNvPr id="258" name="TextBox 28"/>
          <p:cNvSpPr txBox="1"/>
          <p:nvPr/>
        </p:nvSpPr>
        <p:spPr>
          <a:xfrm>
            <a:off x="12247271" y="9758240"/>
            <a:ext cx="22438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P01</a:t>
            </a:r>
          </a:p>
        </p:txBody>
      </p:sp>
      <p:sp>
        <p:nvSpPr>
          <p:cNvPr id="259" name="TextBox 30"/>
          <p:cNvSpPr txBox="1"/>
          <p:nvPr/>
        </p:nvSpPr>
        <p:spPr>
          <a:xfrm>
            <a:off x="12233457" y="8514819"/>
            <a:ext cx="260097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&lt;&lt;ADDRESS&gt;&gt;</a:t>
            </a:r>
          </a:p>
        </p:txBody>
      </p:sp>
      <p:sp>
        <p:nvSpPr>
          <p:cNvPr id="260" name="TextBox 31"/>
          <p:cNvSpPr txBox="1"/>
          <p:nvPr/>
        </p:nvSpPr>
        <p:spPr>
          <a:xfrm>
            <a:off x="12239090" y="7990071"/>
            <a:ext cx="260097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&lt;&lt;STATION_NAME&gt;&gt;</a:t>
            </a:r>
          </a:p>
        </p:txBody>
      </p:sp>
      <p:sp>
        <p:nvSpPr>
          <p:cNvPr id="261" name="TextBox 32"/>
          <p:cNvSpPr txBox="1"/>
          <p:nvPr/>
        </p:nvSpPr>
        <p:spPr>
          <a:xfrm>
            <a:off x="13056406" y="9904169"/>
            <a:ext cx="177709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Updated design</a:t>
            </a:r>
          </a:p>
        </p:txBody>
      </p:sp>
      <p:sp>
        <p:nvSpPr>
          <p:cNvPr id="262" name="TextBox 33"/>
          <p:cNvSpPr txBox="1"/>
          <p:nvPr/>
        </p:nvSpPr>
        <p:spPr>
          <a:xfrm>
            <a:off x="12247271" y="9904169"/>
            <a:ext cx="22438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P02</a:t>
            </a:r>
          </a:p>
        </p:txBody>
      </p:sp>
      <p:pic>
        <p:nvPicPr>
          <p:cNvPr id="263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2233457" y="722526"/>
            <a:ext cx="2633704" cy="646233"/>
          </a:xfrm>
          <a:prstGeom prst="rect">
            <a:avLst/>
          </a:prstGeom>
          <a:ln w="12700">
            <a:miter lim="400000"/>
          </a:ln>
        </p:spPr>
      </p:pic>
      <p:sp>
        <p:nvSpPr>
          <p:cNvPr id="264" name="Rectangle 28"/>
          <p:cNvSpPr txBox="1"/>
          <p:nvPr/>
        </p:nvSpPr>
        <p:spPr>
          <a:xfrm>
            <a:off x="1031881" y="10077207"/>
            <a:ext cx="1398603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UMTS</a:t>
            </a:r>
          </a:p>
        </p:txBody>
      </p:sp>
      <p:sp>
        <p:nvSpPr>
          <p:cNvPr id="265" name="Freeform 55"/>
          <p:cNvSpPr/>
          <p:nvPr/>
        </p:nvSpPr>
        <p:spPr>
          <a:xfrm>
            <a:off x="9227818" y="10104121"/>
            <a:ext cx="3" cy="335284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66" name="Freeform 56"/>
          <p:cNvSpPr/>
          <p:nvPr/>
        </p:nvSpPr>
        <p:spPr>
          <a:xfrm>
            <a:off x="6228517" y="10104121"/>
            <a:ext cx="4" cy="335284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67" name="Freeform 57"/>
          <p:cNvSpPr/>
          <p:nvPr/>
        </p:nvSpPr>
        <p:spPr>
          <a:xfrm>
            <a:off x="3204778" y="10104121"/>
            <a:ext cx="4" cy="335284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68" name="Rectangle 5"/>
          <p:cNvSpPr txBox="1"/>
          <p:nvPr/>
        </p:nvSpPr>
        <p:spPr>
          <a:xfrm>
            <a:off x="271007" y="10249420"/>
            <a:ext cx="2888053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Technology </a:t>
            </a:r>
          </a:p>
        </p:txBody>
      </p:sp>
      <p:sp>
        <p:nvSpPr>
          <p:cNvPr id="269" name="Rectangle 6"/>
          <p:cNvSpPr txBox="1"/>
          <p:nvPr/>
        </p:nvSpPr>
        <p:spPr>
          <a:xfrm>
            <a:off x="3250501" y="10249612"/>
            <a:ext cx="2924494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Frequency Band</a:t>
            </a:r>
          </a:p>
        </p:txBody>
      </p:sp>
      <p:sp>
        <p:nvSpPr>
          <p:cNvPr id="270" name="Rectangle 7"/>
          <p:cNvSpPr txBox="1"/>
          <p:nvPr/>
        </p:nvSpPr>
        <p:spPr>
          <a:xfrm>
            <a:off x="6272324" y="10254543"/>
            <a:ext cx="2901971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Plot</a:t>
            </a:r>
          </a:p>
        </p:txBody>
      </p:sp>
      <p:sp>
        <p:nvSpPr>
          <p:cNvPr id="271" name="Rectangle 8"/>
          <p:cNvSpPr txBox="1"/>
          <p:nvPr/>
        </p:nvSpPr>
        <p:spPr>
          <a:xfrm>
            <a:off x="9273537" y="10246400"/>
            <a:ext cx="2912501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Floor Level</a:t>
            </a:r>
          </a:p>
        </p:txBody>
      </p:sp>
      <p:sp>
        <p:nvSpPr>
          <p:cNvPr id="272" name="Rectangle 9"/>
          <p:cNvSpPr/>
          <p:nvPr/>
        </p:nvSpPr>
        <p:spPr>
          <a:xfrm>
            <a:off x="225282" y="10279246"/>
            <a:ext cx="12004820" cy="157181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73" name="Rectangle 10"/>
          <p:cNvSpPr/>
          <p:nvPr/>
        </p:nvSpPr>
        <p:spPr>
          <a:xfrm>
            <a:off x="225282" y="10103973"/>
            <a:ext cx="12004820" cy="174458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74" name="Rectangle 59"/>
          <p:cNvSpPr txBox="1"/>
          <p:nvPr/>
        </p:nvSpPr>
        <p:spPr>
          <a:xfrm>
            <a:off x="3254726" y="10094413"/>
            <a:ext cx="2924497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2100MHz</a:t>
            </a:r>
          </a:p>
        </p:txBody>
      </p:sp>
      <p:sp>
        <p:nvSpPr>
          <p:cNvPr id="275" name="Rectangle 60"/>
          <p:cNvSpPr txBox="1"/>
          <p:nvPr/>
        </p:nvSpPr>
        <p:spPr>
          <a:xfrm>
            <a:off x="6274834" y="10090177"/>
            <a:ext cx="2924497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RSCP (dBm)</a:t>
            </a:r>
          </a:p>
        </p:txBody>
      </p:sp>
      <p:grpSp>
        <p:nvGrpSpPr>
          <p:cNvPr id="278" name="Rectangle 41"/>
          <p:cNvGrpSpPr/>
          <p:nvPr/>
        </p:nvGrpSpPr>
        <p:grpSpPr>
          <a:xfrm>
            <a:off x="12242777" y="6286958"/>
            <a:ext cx="2627302" cy="459737"/>
            <a:chOff x="-1" y="0"/>
            <a:chExt cx="2627301" cy="459735"/>
          </a:xfrm>
        </p:grpSpPr>
        <p:sp>
          <p:nvSpPr>
            <p:cNvPr id="276" name="Rectangle"/>
            <p:cNvSpPr/>
            <p:nvPr/>
          </p:nvSpPr>
          <p:spPr>
            <a:xfrm>
              <a:off x="-2" y="67851"/>
              <a:ext cx="2627302" cy="324042"/>
            </a:xfrm>
            <a:prstGeom prst="rect">
              <a:avLst/>
            </a:prstGeom>
            <a:solidFill>
              <a:srgbClr val="D91D49"/>
            </a:solidFill>
            <a:ln w="19050" cap="rnd">
              <a:solidFill>
                <a:srgbClr val="D91D49"/>
              </a:solidFill>
              <a:prstDash val="solid"/>
              <a:bevel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277" name="UMTS 2100MHz"/>
            <p:cNvSpPr txBox="1"/>
            <p:nvPr/>
          </p:nvSpPr>
          <p:spPr>
            <a:xfrm>
              <a:off x="55243" y="0"/>
              <a:ext cx="2516811" cy="4597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b="1" sz="2400">
                  <a:solidFill>
                    <a:srgbClr val="FFFFFF"/>
                  </a:solidFill>
                  <a:latin typeface="Calibri (Body)"/>
                  <a:ea typeface="Calibri (Body)"/>
                  <a:cs typeface="Calibri (Body)"/>
                  <a:sym typeface="Calibri (Body)"/>
                </a:defRPr>
              </a:lvl1pPr>
            </a:lstStyle>
            <a:p>
              <a:pPr/>
              <a:r>
                <a:t>UMTS 2100MHz</a:t>
              </a:r>
            </a:p>
          </p:txBody>
        </p:sp>
      </p:grpSp>
      <p:sp>
        <p:nvSpPr>
          <p:cNvPr id="279" name="Rectangle 43"/>
          <p:cNvSpPr txBox="1"/>
          <p:nvPr/>
        </p:nvSpPr>
        <p:spPr>
          <a:xfrm>
            <a:off x="12352687" y="1531651"/>
            <a:ext cx="535696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LEGEND</a:t>
            </a:r>
          </a:p>
        </p:txBody>
      </p:sp>
      <p:grpSp>
        <p:nvGrpSpPr>
          <p:cNvPr id="302" name="Group 92"/>
          <p:cNvGrpSpPr/>
          <p:nvPr/>
        </p:nvGrpSpPr>
        <p:grpSpPr>
          <a:xfrm>
            <a:off x="12338242" y="1794034"/>
            <a:ext cx="1247308" cy="2247726"/>
            <a:chOff x="0" y="-1"/>
            <a:chExt cx="1247306" cy="2247724"/>
          </a:xfrm>
        </p:grpSpPr>
        <p:sp>
          <p:nvSpPr>
            <p:cNvPr id="280" name="Straight Connector 93"/>
            <p:cNvSpPr/>
            <p:nvPr/>
          </p:nvSpPr>
          <p:spPr>
            <a:xfrm>
              <a:off x="593500" y="1946116"/>
              <a:ext cx="180003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281" name="Straight Connector 94"/>
            <p:cNvSpPr/>
            <p:nvPr/>
          </p:nvSpPr>
          <p:spPr>
            <a:xfrm>
              <a:off x="593500" y="1578451"/>
              <a:ext cx="180003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282" name="Straight Connector 95"/>
            <p:cNvSpPr/>
            <p:nvPr/>
          </p:nvSpPr>
          <p:spPr>
            <a:xfrm>
              <a:off x="593500" y="1397476"/>
              <a:ext cx="180003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283" name="Straight Connector 96"/>
            <p:cNvSpPr/>
            <p:nvPr/>
          </p:nvSpPr>
          <p:spPr>
            <a:xfrm>
              <a:off x="593500" y="1214596"/>
              <a:ext cx="180003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284" name="Straight Connector 97"/>
            <p:cNvSpPr/>
            <p:nvPr/>
          </p:nvSpPr>
          <p:spPr>
            <a:xfrm>
              <a:off x="593500" y="1029807"/>
              <a:ext cx="180003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285" name="Straight Connector 98"/>
            <p:cNvSpPr/>
            <p:nvPr/>
          </p:nvSpPr>
          <p:spPr>
            <a:xfrm>
              <a:off x="593500" y="846927"/>
              <a:ext cx="180003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286" name="Straight Connector 99"/>
            <p:cNvSpPr/>
            <p:nvPr/>
          </p:nvSpPr>
          <p:spPr>
            <a:xfrm>
              <a:off x="593500" y="662142"/>
              <a:ext cx="180003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287" name="Straight Connector 100"/>
            <p:cNvSpPr/>
            <p:nvPr/>
          </p:nvSpPr>
          <p:spPr>
            <a:xfrm>
              <a:off x="593500" y="483072"/>
              <a:ext cx="180003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288" name="Straight Connector 101"/>
            <p:cNvSpPr/>
            <p:nvPr/>
          </p:nvSpPr>
          <p:spPr>
            <a:xfrm>
              <a:off x="593500" y="1761331"/>
              <a:ext cx="180003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pic>
          <p:nvPicPr>
            <p:cNvPr id="289" name="Picture 102" descr="Picture 102"/>
            <p:cNvPicPr>
              <a:picLocks noChangeAspect="1"/>
            </p:cNvPicPr>
            <p:nvPr/>
          </p:nvPicPr>
          <p:blipFill>
            <a:blip r:embed="rId3">
              <a:extLst/>
            </a:blip>
            <a:stretch>
              <a:fillRect/>
            </a:stretch>
          </p:blipFill>
          <p:spPr>
            <a:xfrm>
              <a:off x="58660" y="292572"/>
              <a:ext cx="624845" cy="184404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290" name="TextBox 103"/>
            <p:cNvSpPr txBox="1"/>
            <p:nvPr/>
          </p:nvSpPr>
          <p:spPr>
            <a:xfrm>
              <a:off x="675495" y="2019216"/>
              <a:ext cx="326697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MIN</a:t>
              </a:r>
            </a:p>
          </p:txBody>
        </p:sp>
        <p:sp>
          <p:nvSpPr>
            <p:cNvPr id="291" name="TextBox 104"/>
            <p:cNvSpPr txBox="1"/>
            <p:nvPr/>
          </p:nvSpPr>
          <p:spPr>
            <a:xfrm>
              <a:off x="819221" y="356154"/>
              <a:ext cx="363718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-55</a:t>
              </a:r>
            </a:p>
          </p:txBody>
        </p:sp>
        <p:sp>
          <p:nvSpPr>
            <p:cNvPr id="292" name="TextBox 105"/>
            <p:cNvSpPr txBox="1"/>
            <p:nvPr/>
          </p:nvSpPr>
          <p:spPr>
            <a:xfrm>
              <a:off x="819221" y="540935"/>
              <a:ext cx="363718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-65</a:t>
              </a:r>
            </a:p>
          </p:txBody>
        </p:sp>
        <p:sp>
          <p:nvSpPr>
            <p:cNvPr id="293" name="TextBox 106"/>
            <p:cNvSpPr txBox="1"/>
            <p:nvPr/>
          </p:nvSpPr>
          <p:spPr>
            <a:xfrm>
              <a:off x="819221" y="723818"/>
              <a:ext cx="363718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-77</a:t>
              </a:r>
            </a:p>
          </p:txBody>
        </p:sp>
        <p:sp>
          <p:nvSpPr>
            <p:cNvPr id="294" name="TextBox 107"/>
            <p:cNvSpPr txBox="1"/>
            <p:nvPr/>
          </p:nvSpPr>
          <p:spPr>
            <a:xfrm>
              <a:off x="819221" y="908602"/>
              <a:ext cx="363718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-87</a:t>
              </a:r>
            </a:p>
          </p:txBody>
        </p:sp>
        <p:sp>
          <p:nvSpPr>
            <p:cNvPr id="295" name="TextBox 108"/>
            <p:cNvSpPr txBox="1"/>
            <p:nvPr/>
          </p:nvSpPr>
          <p:spPr>
            <a:xfrm>
              <a:off x="819221" y="1089578"/>
              <a:ext cx="363718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-97</a:t>
              </a:r>
            </a:p>
          </p:txBody>
        </p:sp>
        <p:sp>
          <p:nvSpPr>
            <p:cNvPr id="296" name="TextBox 109"/>
            <p:cNvSpPr txBox="1"/>
            <p:nvPr/>
          </p:nvSpPr>
          <p:spPr>
            <a:xfrm>
              <a:off x="819221" y="1274364"/>
              <a:ext cx="428086" cy="2285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-100</a:t>
              </a:r>
            </a:p>
          </p:txBody>
        </p:sp>
        <p:sp>
          <p:nvSpPr>
            <p:cNvPr id="297" name="TextBox 110"/>
            <p:cNvSpPr txBox="1"/>
            <p:nvPr/>
          </p:nvSpPr>
          <p:spPr>
            <a:xfrm>
              <a:off x="817817" y="1453438"/>
              <a:ext cx="428086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-106</a:t>
              </a:r>
            </a:p>
          </p:txBody>
        </p:sp>
        <p:sp>
          <p:nvSpPr>
            <p:cNvPr id="298" name="TextBox 111"/>
            <p:cNvSpPr txBox="1"/>
            <p:nvPr/>
          </p:nvSpPr>
          <p:spPr>
            <a:xfrm>
              <a:off x="817817" y="1638222"/>
              <a:ext cx="428086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-109</a:t>
              </a:r>
            </a:p>
          </p:txBody>
        </p:sp>
        <p:sp>
          <p:nvSpPr>
            <p:cNvPr id="299" name="TextBox 112"/>
            <p:cNvSpPr txBox="1"/>
            <p:nvPr/>
          </p:nvSpPr>
          <p:spPr>
            <a:xfrm>
              <a:off x="817817" y="1817296"/>
              <a:ext cx="428086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-112</a:t>
              </a:r>
            </a:p>
          </p:txBody>
        </p:sp>
        <p:sp>
          <p:nvSpPr>
            <p:cNvPr id="300" name="TextBox 113"/>
            <p:cNvSpPr txBox="1"/>
            <p:nvPr/>
          </p:nvSpPr>
          <p:spPr>
            <a:xfrm>
              <a:off x="675494" y="169461"/>
              <a:ext cx="352122" cy="2285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MAX</a:t>
              </a:r>
            </a:p>
          </p:txBody>
        </p:sp>
        <p:sp>
          <p:nvSpPr>
            <p:cNvPr id="301" name="TextBox 114"/>
            <p:cNvSpPr txBox="1"/>
            <p:nvPr/>
          </p:nvSpPr>
          <p:spPr>
            <a:xfrm>
              <a:off x="-1" y="-2"/>
              <a:ext cx="1076281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algn="ctr">
                <a:defRPr b="1" sz="1000" u="sng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UMTS RSCP (dBm)</a:t>
              </a:r>
            </a:p>
          </p:txBody>
        </p:sp>
      </p:grpSp>
      <p:sp>
        <p:nvSpPr>
          <p:cNvPr id="303" name="DRAWN:  &lt;D&gt;"/>
          <p:cNvSpPr txBox="1"/>
          <p:nvPr/>
        </p:nvSpPr>
        <p:spPr>
          <a:xfrm>
            <a:off x="12336953" y="9281572"/>
            <a:ext cx="596721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</a:defRPr>
            </a:pPr>
            <a:r>
              <a:t>DRAWN:  </a:t>
            </a:r>
            <a:r>
              <a:rPr>
                <a:solidFill>
                  <a:srgbClr val="000000"/>
                </a:solidFill>
              </a:rPr>
              <a:t>&lt;D&gt;</a:t>
            </a:r>
          </a:p>
        </p:txBody>
      </p:sp>
      <p:sp>
        <p:nvSpPr>
          <p:cNvPr id="304" name="CHECKED: &lt;C&gt;"/>
          <p:cNvSpPr txBox="1"/>
          <p:nvPr/>
        </p:nvSpPr>
        <p:spPr>
          <a:xfrm>
            <a:off x="13120512" y="9284992"/>
            <a:ext cx="663098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CHECKED: </a:t>
            </a:r>
            <a:r>
              <a:rPr>
                <a:solidFill>
                  <a:srgbClr val="000000"/>
                </a:solidFill>
              </a:rPr>
              <a:t>&lt;C&gt;</a:t>
            </a:r>
          </a:p>
        </p:txBody>
      </p:sp>
      <p:sp>
        <p:nvSpPr>
          <p:cNvPr id="305" name="APPROVED: &lt;A&gt;"/>
          <p:cNvSpPr txBox="1"/>
          <p:nvPr/>
        </p:nvSpPr>
        <p:spPr>
          <a:xfrm>
            <a:off x="14085503" y="9281572"/>
            <a:ext cx="709755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APPROVED: </a:t>
            </a:r>
            <a:r>
              <a:rPr>
                <a:solidFill>
                  <a:srgbClr val="000000"/>
                </a:solidFill>
              </a:rPr>
              <a:t>&lt;A&gt;</a:t>
            </a:r>
          </a:p>
        </p:txBody>
      </p:sp>
      <p:sp>
        <p:nvSpPr>
          <p:cNvPr id="306" name="&lt;NUM&gt;"/>
          <p:cNvSpPr txBox="1"/>
          <p:nvPr/>
        </p:nvSpPr>
        <p:spPr>
          <a:xfrm>
            <a:off x="14298897" y="9141614"/>
            <a:ext cx="366670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600"/>
            </a:lvl1pPr>
          </a:lstStyle>
          <a:p>
            <a:pPr/>
            <a:r>
              <a:t>&lt;NUM&gt;</a:t>
            </a:r>
          </a:p>
        </p:txBody>
      </p:sp>
      <p:sp>
        <p:nvSpPr>
          <p:cNvPr id="307" name="&lt;P01&gt;"/>
          <p:cNvSpPr txBox="1"/>
          <p:nvPr/>
        </p:nvSpPr>
        <p:spPr>
          <a:xfrm>
            <a:off x="12607962" y="9704958"/>
            <a:ext cx="328718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&lt;P01&gt;</a:t>
            </a:r>
          </a:p>
        </p:txBody>
      </p:sp>
      <p:sp>
        <p:nvSpPr>
          <p:cNvPr id="308" name="&lt;P02&gt;"/>
          <p:cNvSpPr txBox="1"/>
          <p:nvPr/>
        </p:nvSpPr>
        <p:spPr>
          <a:xfrm>
            <a:off x="12607962" y="9857189"/>
            <a:ext cx="328718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&lt;P02&gt;</a:t>
            </a:r>
          </a:p>
        </p:txBody>
      </p:sp>
      <p:sp>
        <p:nvSpPr>
          <p:cNvPr id="309" name="&lt;&lt;logo&gt;&gt;"/>
          <p:cNvSpPr txBox="1"/>
          <p:nvPr/>
        </p:nvSpPr>
        <p:spPr>
          <a:xfrm>
            <a:off x="13243962" y="875552"/>
            <a:ext cx="1054156" cy="3401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0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&lt;&lt;logo&gt;&gt;</a:t>
            </a:r>
          </a:p>
        </p:txBody>
      </p:sp>
      <p:sp>
        <p:nvSpPr>
          <p:cNvPr id="31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UMTS Ec/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TextBox 66"/>
          <p:cNvSpPr txBox="1"/>
          <p:nvPr/>
        </p:nvSpPr>
        <p:spPr>
          <a:xfrm>
            <a:off x="13525788" y="9201184"/>
            <a:ext cx="130066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SHEET:</a:t>
            </a:r>
          </a:p>
        </p:txBody>
      </p:sp>
      <p:sp>
        <p:nvSpPr>
          <p:cNvPr id="318" name="Freeform 10"/>
          <p:cNvSpPr/>
          <p:nvPr/>
        </p:nvSpPr>
        <p:spPr>
          <a:xfrm flipH="1">
            <a:off x="12234861" y="209548"/>
            <a:ext cx="1" cy="10224004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19" name="Freeform 11"/>
          <p:cNvSpPr/>
          <p:nvPr/>
        </p:nvSpPr>
        <p:spPr>
          <a:xfrm>
            <a:off x="12230100" y="702182"/>
            <a:ext cx="2646003" cy="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20" name="TextBox 15"/>
          <p:cNvSpPr txBox="1"/>
          <p:nvPr/>
        </p:nvSpPr>
        <p:spPr>
          <a:xfrm>
            <a:off x="12339755" y="6726997"/>
            <a:ext cx="2522705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400">
                <a:solidFill>
                  <a:srgbClr val="A6A6A6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RF PREDICTIONS</a:t>
            </a:r>
          </a:p>
        </p:txBody>
      </p:sp>
      <p:sp>
        <p:nvSpPr>
          <p:cNvPr id="321" name="TextBox 17"/>
          <p:cNvSpPr txBox="1"/>
          <p:nvPr/>
        </p:nvSpPr>
        <p:spPr>
          <a:xfrm>
            <a:off x="12253914" y="7872499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STATION</a:t>
            </a:r>
          </a:p>
        </p:txBody>
      </p:sp>
      <p:sp>
        <p:nvSpPr>
          <p:cNvPr id="322" name="Freeform 45"/>
          <p:cNvSpPr/>
          <p:nvPr/>
        </p:nvSpPr>
        <p:spPr>
          <a:xfrm>
            <a:off x="12230100" y="8848334"/>
            <a:ext cx="2646003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23" name="Freeform 67"/>
          <p:cNvSpPr/>
          <p:nvPr/>
        </p:nvSpPr>
        <p:spPr>
          <a:xfrm>
            <a:off x="13545545" y="6970361"/>
            <a:ext cx="3" cy="890405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24" name="TextBox 75"/>
          <p:cNvSpPr txBox="1"/>
          <p:nvPr/>
        </p:nvSpPr>
        <p:spPr>
          <a:xfrm>
            <a:off x="12234160" y="9470638"/>
            <a:ext cx="259229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DRAWING HISTORY</a:t>
            </a:r>
          </a:p>
        </p:txBody>
      </p:sp>
      <p:sp>
        <p:nvSpPr>
          <p:cNvPr id="325" name="Freeform 76"/>
          <p:cNvSpPr/>
          <p:nvPr/>
        </p:nvSpPr>
        <p:spPr>
          <a:xfrm>
            <a:off x="12233492" y="9612058"/>
            <a:ext cx="2636007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26" name="TextBox 77"/>
          <p:cNvSpPr txBox="1"/>
          <p:nvPr/>
        </p:nvSpPr>
        <p:spPr>
          <a:xfrm>
            <a:off x="12507654" y="9632305"/>
            <a:ext cx="51028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DATE</a:t>
            </a:r>
          </a:p>
        </p:txBody>
      </p:sp>
      <p:sp>
        <p:nvSpPr>
          <p:cNvPr id="327" name="Freeform 79"/>
          <p:cNvSpPr/>
          <p:nvPr/>
        </p:nvSpPr>
        <p:spPr>
          <a:xfrm>
            <a:off x="12513692" y="9612117"/>
            <a:ext cx="4" cy="821437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28" name="TextBox 80"/>
          <p:cNvSpPr txBox="1"/>
          <p:nvPr/>
        </p:nvSpPr>
        <p:spPr>
          <a:xfrm>
            <a:off x="12233491" y="9634148"/>
            <a:ext cx="26032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ISSUE</a:t>
            </a:r>
          </a:p>
        </p:txBody>
      </p:sp>
      <p:sp>
        <p:nvSpPr>
          <p:cNvPr id="329" name="Freeform 82"/>
          <p:cNvSpPr/>
          <p:nvPr/>
        </p:nvSpPr>
        <p:spPr>
          <a:xfrm>
            <a:off x="12236067" y="9736835"/>
            <a:ext cx="2636007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30" name="Freeform 83"/>
          <p:cNvSpPr/>
          <p:nvPr/>
        </p:nvSpPr>
        <p:spPr>
          <a:xfrm>
            <a:off x="13052420" y="9614212"/>
            <a:ext cx="4" cy="824700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31" name="TextBox 84"/>
          <p:cNvSpPr txBox="1"/>
          <p:nvPr/>
        </p:nvSpPr>
        <p:spPr>
          <a:xfrm>
            <a:off x="13058443" y="9631360"/>
            <a:ext cx="178161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DESCRIPTION</a:t>
            </a:r>
          </a:p>
        </p:txBody>
      </p:sp>
      <p:sp>
        <p:nvSpPr>
          <p:cNvPr id="332" name="Freeform 86"/>
          <p:cNvSpPr/>
          <p:nvPr/>
        </p:nvSpPr>
        <p:spPr>
          <a:xfrm>
            <a:off x="12237973" y="9877804"/>
            <a:ext cx="2636008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33" name="Freeform 87"/>
          <p:cNvSpPr/>
          <p:nvPr/>
        </p:nvSpPr>
        <p:spPr>
          <a:xfrm>
            <a:off x="12236067" y="9878180"/>
            <a:ext cx="2636007" cy="3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34" name="Freeform 88"/>
          <p:cNvSpPr/>
          <p:nvPr/>
        </p:nvSpPr>
        <p:spPr>
          <a:xfrm>
            <a:off x="12237973" y="10019151"/>
            <a:ext cx="2636008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35" name="Freeform 90"/>
          <p:cNvSpPr/>
          <p:nvPr/>
        </p:nvSpPr>
        <p:spPr>
          <a:xfrm>
            <a:off x="12237973" y="10159355"/>
            <a:ext cx="2636008" cy="5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36" name="Straight Connector 2"/>
          <p:cNvSpPr/>
          <p:nvPr/>
        </p:nvSpPr>
        <p:spPr>
          <a:xfrm>
            <a:off x="12237973" y="6966880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37" name="Straight Connector 71"/>
          <p:cNvSpPr/>
          <p:nvPr/>
        </p:nvSpPr>
        <p:spPr>
          <a:xfrm>
            <a:off x="12237973" y="6678848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38" name="Freeform 90"/>
          <p:cNvSpPr/>
          <p:nvPr/>
        </p:nvSpPr>
        <p:spPr>
          <a:xfrm>
            <a:off x="12237973" y="10298666"/>
            <a:ext cx="2636008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39" name="TextBox 98"/>
          <p:cNvSpPr txBox="1"/>
          <p:nvPr/>
        </p:nvSpPr>
        <p:spPr>
          <a:xfrm>
            <a:off x="13070458" y="9889172"/>
            <a:ext cx="176304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 </a:t>
            </a:r>
          </a:p>
        </p:txBody>
      </p:sp>
      <p:sp>
        <p:nvSpPr>
          <p:cNvPr id="340" name="TextBox 74"/>
          <p:cNvSpPr txBox="1"/>
          <p:nvPr/>
        </p:nvSpPr>
        <p:spPr>
          <a:xfrm>
            <a:off x="12243182" y="9193193"/>
            <a:ext cx="126636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SCALE: </a:t>
            </a:r>
            <a:r>
              <a:rPr>
                <a:solidFill>
                  <a:srgbClr val="000000"/>
                </a:solidFill>
              </a:rPr>
              <a:t>NOT TO SCALE</a:t>
            </a:r>
          </a:p>
        </p:txBody>
      </p:sp>
      <p:sp>
        <p:nvSpPr>
          <p:cNvPr id="341" name="Freeform 47"/>
          <p:cNvSpPr/>
          <p:nvPr/>
        </p:nvSpPr>
        <p:spPr>
          <a:xfrm>
            <a:off x="12226542" y="9184596"/>
            <a:ext cx="2646004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42" name="TextBox 109"/>
          <p:cNvSpPr txBox="1"/>
          <p:nvPr/>
        </p:nvSpPr>
        <p:spPr>
          <a:xfrm>
            <a:off x="12253914" y="8867116"/>
            <a:ext cx="95997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DOCUMENT REFERENCE</a:t>
            </a:r>
          </a:p>
        </p:txBody>
      </p:sp>
      <p:sp>
        <p:nvSpPr>
          <p:cNvPr id="343" name="TextBox 110"/>
          <p:cNvSpPr txBox="1"/>
          <p:nvPr/>
        </p:nvSpPr>
        <p:spPr>
          <a:xfrm>
            <a:off x="12223991" y="8967075"/>
            <a:ext cx="259089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APPENDIX B – RF PREDICTIONS </a:t>
            </a:r>
          </a:p>
        </p:txBody>
      </p:sp>
      <p:sp>
        <p:nvSpPr>
          <p:cNvPr id="344" name="Straight Connector 115"/>
          <p:cNvSpPr/>
          <p:nvPr/>
        </p:nvSpPr>
        <p:spPr>
          <a:xfrm>
            <a:off x="12237973" y="7857455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45" name="Rectangle 118"/>
          <p:cNvSpPr txBox="1"/>
          <p:nvPr/>
        </p:nvSpPr>
        <p:spPr>
          <a:xfrm>
            <a:off x="12292583" y="374373"/>
            <a:ext cx="2524151" cy="243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0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COMMERCIAL MOBILE SERVICES</a:t>
            </a:r>
          </a:p>
        </p:txBody>
      </p:sp>
      <p:sp>
        <p:nvSpPr>
          <p:cNvPr id="346" name="Rectangle 3"/>
          <p:cNvSpPr/>
          <p:nvPr/>
        </p:nvSpPr>
        <p:spPr>
          <a:xfrm>
            <a:off x="0" y="1"/>
            <a:ext cx="15122525" cy="236989"/>
          </a:xfrm>
          <a:prstGeom prst="rect">
            <a:avLst/>
          </a:prstGeom>
          <a:solidFill>
            <a:srgbClr val="D91D49"/>
          </a:solidFill>
          <a:ln w="25400">
            <a:solidFill>
              <a:srgbClr val="D91D49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47" name="Freeform 47"/>
          <p:cNvSpPr/>
          <p:nvPr/>
        </p:nvSpPr>
        <p:spPr>
          <a:xfrm flipV="1">
            <a:off x="13531176" y="9183037"/>
            <a:ext cx="4" cy="124739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48" name="Rectangle 5"/>
          <p:cNvSpPr/>
          <p:nvPr/>
        </p:nvSpPr>
        <p:spPr>
          <a:xfrm>
            <a:off x="223628" y="261258"/>
            <a:ext cx="14646449" cy="10175448"/>
          </a:xfrm>
          <a:prstGeom prst="rect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49" name="TextBox 49"/>
          <p:cNvSpPr txBox="1"/>
          <p:nvPr/>
        </p:nvSpPr>
        <p:spPr>
          <a:xfrm>
            <a:off x="12253914" y="8285091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ADDRESS</a:t>
            </a:r>
          </a:p>
        </p:txBody>
      </p:sp>
      <p:sp>
        <p:nvSpPr>
          <p:cNvPr id="350" name="Freeform 45"/>
          <p:cNvSpPr/>
          <p:nvPr/>
        </p:nvSpPr>
        <p:spPr>
          <a:xfrm>
            <a:off x="12230100" y="8849604"/>
            <a:ext cx="2646003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51" name="Straight Connector 52"/>
          <p:cNvSpPr/>
          <p:nvPr/>
        </p:nvSpPr>
        <p:spPr>
          <a:xfrm>
            <a:off x="12237973" y="8270047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52" name="Freeform 47"/>
          <p:cNvSpPr/>
          <p:nvPr/>
        </p:nvSpPr>
        <p:spPr>
          <a:xfrm>
            <a:off x="12236067" y="9317742"/>
            <a:ext cx="2631525" cy="5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53" name="Freeform 48"/>
          <p:cNvSpPr/>
          <p:nvPr/>
        </p:nvSpPr>
        <p:spPr>
          <a:xfrm>
            <a:off x="12227249" y="9427722"/>
            <a:ext cx="2646003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54" name="Freeform 21"/>
          <p:cNvSpPr/>
          <p:nvPr/>
        </p:nvSpPr>
        <p:spPr>
          <a:xfrm>
            <a:off x="12959990" y="9317742"/>
            <a:ext cx="4" cy="10800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55" name="Freeform 67"/>
          <p:cNvSpPr/>
          <p:nvPr/>
        </p:nvSpPr>
        <p:spPr>
          <a:xfrm>
            <a:off x="13975212" y="9321118"/>
            <a:ext cx="4" cy="10813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56" name="TextBox 1"/>
          <p:cNvSpPr txBox="1"/>
          <p:nvPr/>
        </p:nvSpPr>
        <p:spPr>
          <a:xfrm>
            <a:off x="63497" y="10507980"/>
            <a:ext cx="77312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000000">
                    <a:alpha val="50000"/>
                  </a:srgbClr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[SEC=PROTECTED]</a:t>
            </a:r>
          </a:p>
        </p:txBody>
      </p:sp>
      <p:sp>
        <p:nvSpPr>
          <p:cNvPr id="357" name="Picture Placeholder 2"/>
          <p:cNvSpPr/>
          <p:nvPr/>
        </p:nvSpPr>
        <p:spPr>
          <a:xfrm>
            <a:off x="599800" y="508423"/>
            <a:ext cx="11233730" cy="936439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 defTabSz="1407968">
              <a:spcBef>
                <a:spcPts val="1200"/>
              </a:spcBef>
              <a:defRPr sz="5000"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58" name="TextBox 6"/>
          <p:cNvSpPr txBox="1"/>
          <p:nvPr/>
        </p:nvSpPr>
        <p:spPr>
          <a:xfrm>
            <a:off x="13549306" y="7032755"/>
            <a:ext cx="1284189" cy="63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BOLDYN NETWORKS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</a:t>
            </a:r>
            <a:r>
              <a:rPr baseline="30000"/>
              <a:t>nd</a:t>
            </a:r>
            <a:r>
              <a:t> FLOOR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 KINGDOM STREET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LONDON 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W2 6BD</a:t>
            </a:r>
          </a:p>
        </p:txBody>
      </p:sp>
      <p:sp>
        <p:nvSpPr>
          <p:cNvPr id="359" name="Freeform: Shape 7"/>
          <p:cNvSpPr/>
          <p:nvPr/>
        </p:nvSpPr>
        <p:spPr>
          <a:xfrm>
            <a:off x="12537433" y="7031193"/>
            <a:ext cx="705489" cy="6648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0873"/>
                </a:moveTo>
                <a:lnTo>
                  <a:pt x="21231" y="9061"/>
                </a:lnTo>
                <a:lnTo>
                  <a:pt x="20308" y="7567"/>
                </a:lnTo>
                <a:lnTo>
                  <a:pt x="18900" y="6563"/>
                </a:lnTo>
                <a:lnTo>
                  <a:pt x="17192" y="6196"/>
                </a:lnTo>
                <a:lnTo>
                  <a:pt x="6808" y="6196"/>
                </a:lnTo>
                <a:lnTo>
                  <a:pt x="6808" y="0"/>
                </a:lnTo>
                <a:lnTo>
                  <a:pt x="4131" y="0"/>
                </a:lnTo>
                <a:lnTo>
                  <a:pt x="4131" y="6196"/>
                </a:lnTo>
                <a:lnTo>
                  <a:pt x="0" y="6196"/>
                </a:lnTo>
                <a:lnTo>
                  <a:pt x="0" y="9037"/>
                </a:lnTo>
                <a:lnTo>
                  <a:pt x="4131" y="9037"/>
                </a:lnTo>
                <a:lnTo>
                  <a:pt x="4131" y="6196"/>
                </a:lnTo>
                <a:lnTo>
                  <a:pt x="6808" y="6196"/>
                </a:lnTo>
                <a:lnTo>
                  <a:pt x="6808" y="9037"/>
                </a:lnTo>
                <a:lnTo>
                  <a:pt x="18923" y="9037"/>
                </a:lnTo>
                <a:lnTo>
                  <a:pt x="18923" y="18759"/>
                </a:lnTo>
                <a:lnTo>
                  <a:pt x="6808" y="18759"/>
                </a:lnTo>
                <a:lnTo>
                  <a:pt x="6808" y="9037"/>
                </a:lnTo>
                <a:lnTo>
                  <a:pt x="4131" y="9037"/>
                </a:lnTo>
                <a:lnTo>
                  <a:pt x="4131" y="16922"/>
                </a:lnTo>
                <a:lnTo>
                  <a:pt x="4477" y="18735"/>
                </a:lnTo>
                <a:lnTo>
                  <a:pt x="5423" y="20229"/>
                </a:lnTo>
                <a:lnTo>
                  <a:pt x="6831" y="21233"/>
                </a:lnTo>
                <a:lnTo>
                  <a:pt x="8538" y="21600"/>
                </a:lnTo>
                <a:lnTo>
                  <a:pt x="17192" y="21600"/>
                </a:lnTo>
                <a:lnTo>
                  <a:pt x="18900" y="21233"/>
                </a:lnTo>
                <a:lnTo>
                  <a:pt x="20308" y="20229"/>
                </a:lnTo>
                <a:lnTo>
                  <a:pt x="21231" y="18759"/>
                </a:lnTo>
                <a:lnTo>
                  <a:pt x="21600" y="16922"/>
                </a:lnTo>
                <a:lnTo>
                  <a:pt x="21600" y="10873"/>
                </a:lnTo>
                <a:close/>
              </a:path>
            </a:pathLst>
          </a:custGeom>
          <a:solidFill>
            <a:srgbClr val="F5054F">
              <a:alpha val="29802"/>
            </a:srgb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60" name="TextBox 27"/>
          <p:cNvSpPr txBox="1"/>
          <p:nvPr/>
        </p:nvSpPr>
        <p:spPr>
          <a:xfrm>
            <a:off x="13056406" y="9758240"/>
            <a:ext cx="177709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Original Submission</a:t>
            </a:r>
          </a:p>
        </p:txBody>
      </p:sp>
      <p:sp>
        <p:nvSpPr>
          <p:cNvPr id="361" name="TextBox 28"/>
          <p:cNvSpPr txBox="1"/>
          <p:nvPr/>
        </p:nvSpPr>
        <p:spPr>
          <a:xfrm>
            <a:off x="12247271" y="9758240"/>
            <a:ext cx="22438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P01</a:t>
            </a:r>
          </a:p>
        </p:txBody>
      </p:sp>
      <p:sp>
        <p:nvSpPr>
          <p:cNvPr id="362" name="TextBox 30"/>
          <p:cNvSpPr txBox="1"/>
          <p:nvPr/>
        </p:nvSpPr>
        <p:spPr>
          <a:xfrm>
            <a:off x="12233457" y="8514819"/>
            <a:ext cx="260097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&lt;&lt;ADDRESS&gt;&gt;</a:t>
            </a:r>
          </a:p>
        </p:txBody>
      </p:sp>
      <p:sp>
        <p:nvSpPr>
          <p:cNvPr id="363" name="TextBox 31"/>
          <p:cNvSpPr txBox="1"/>
          <p:nvPr/>
        </p:nvSpPr>
        <p:spPr>
          <a:xfrm>
            <a:off x="12239090" y="7990071"/>
            <a:ext cx="260097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&lt;&lt;STATION_NAME&gt;&gt;</a:t>
            </a:r>
          </a:p>
        </p:txBody>
      </p:sp>
      <p:sp>
        <p:nvSpPr>
          <p:cNvPr id="364" name="TextBox 32"/>
          <p:cNvSpPr txBox="1"/>
          <p:nvPr/>
        </p:nvSpPr>
        <p:spPr>
          <a:xfrm>
            <a:off x="13056406" y="9904169"/>
            <a:ext cx="177709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Updated design</a:t>
            </a:r>
          </a:p>
        </p:txBody>
      </p:sp>
      <p:sp>
        <p:nvSpPr>
          <p:cNvPr id="365" name="TextBox 33"/>
          <p:cNvSpPr txBox="1"/>
          <p:nvPr/>
        </p:nvSpPr>
        <p:spPr>
          <a:xfrm>
            <a:off x="12247271" y="9904169"/>
            <a:ext cx="22438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P02</a:t>
            </a:r>
          </a:p>
        </p:txBody>
      </p:sp>
      <p:pic>
        <p:nvPicPr>
          <p:cNvPr id="366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2233457" y="722526"/>
            <a:ext cx="2633704" cy="646233"/>
          </a:xfrm>
          <a:prstGeom prst="rect">
            <a:avLst/>
          </a:prstGeom>
          <a:ln w="12700">
            <a:miter lim="400000"/>
          </a:ln>
        </p:spPr>
      </p:pic>
      <p:sp>
        <p:nvSpPr>
          <p:cNvPr id="367" name="Rectangle 28"/>
          <p:cNvSpPr txBox="1"/>
          <p:nvPr/>
        </p:nvSpPr>
        <p:spPr>
          <a:xfrm>
            <a:off x="1031881" y="10077207"/>
            <a:ext cx="1398603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UMTS</a:t>
            </a:r>
          </a:p>
        </p:txBody>
      </p:sp>
      <p:sp>
        <p:nvSpPr>
          <p:cNvPr id="368" name="Freeform 55"/>
          <p:cNvSpPr/>
          <p:nvPr/>
        </p:nvSpPr>
        <p:spPr>
          <a:xfrm>
            <a:off x="9227818" y="10104121"/>
            <a:ext cx="3" cy="335284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69" name="Freeform 56"/>
          <p:cNvSpPr/>
          <p:nvPr/>
        </p:nvSpPr>
        <p:spPr>
          <a:xfrm>
            <a:off x="6228517" y="10104121"/>
            <a:ext cx="4" cy="335284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70" name="Freeform 57"/>
          <p:cNvSpPr/>
          <p:nvPr/>
        </p:nvSpPr>
        <p:spPr>
          <a:xfrm>
            <a:off x="3204778" y="10104121"/>
            <a:ext cx="4" cy="335284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71" name="Rectangle 5"/>
          <p:cNvSpPr txBox="1"/>
          <p:nvPr/>
        </p:nvSpPr>
        <p:spPr>
          <a:xfrm>
            <a:off x="271007" y="10249420"/>
            <a:ext cx="2888053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Technology </a:t>
            </a:r>
          </a:p>
        </p:txBody>
      </p:sp>
      <p:sp>
        <p:nvSpPr>
          <p:cNvPr id="372" name="Rectangle 6"/>
          <p:cNvSpPr txBox="1"/>
          <p:nvPr/>
        </p:nvSpPr>
        <p:spPr>
          <a:xfrm>
            <a:off x="3250501" y="10249612"/>
            <a:ext cx="2924494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Frequency Band</a:t>
            </a:r>
          </a:p>
        </p:txBody>
      </p:sp>
      <p:sp>
        <p:nvSpPr>
          <p:cNvPr id="373" name="Rectangle 7"/>
          <p:cNvSpPr txBox="1"/>
          <p:nvPr/>
        </p:nvSpPr>
        <p:spPr>
          <a:xfrm>
            <a:off x="6272324" y="10254543"/>
            <a:ext cx="2901971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Plot</a:t>
            </a:r>
          </a:p>
        </p:txBody>
      </p:sp>
      <p:sp>
        <p:nvSpPr>
          <p:cNvPr id="374" name="Rectangle 8"/>
          <p:cNvSpPr txBox="1"/>
          <p:nvPr/>
        </p:nvSpPr>
        <p:spPr>
          <a:xfrm>
            <a:off x="9273537" y="10246400"/>
            <a:ext cx="2912501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Floor Level</a:t>
            </a:r>
          </a:p>
        </p:txBody>
      </p:sp>
      <p:sp>
        <p:nvSpPr>
          <p:cNvPr id="375" name="Rectangle 9"/>
          <p:cNvSpPr/>
          <p:nvPr/>
        </p:nvSpPr>
        <p:spPr>
          <a:xfrm>
            <a:off x="225282" y="10279246"/>
            <a:ext cx="12004820" cy="157181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76" name="Rectangle 10"/>
          <p:cNvSpPr/>
          <p:nvPr/>
        </p:nvSpPr>
        <p:spPr>
          <a:xfrm>
            <a:off x="225282" y="10103973"/>
            <a:ext cx="12004820" cy="174458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77" name="Rectangle 60"/>
          <p:cNvSpPr txBox="1"/>
          <p:nvPr/>
        </p:nvSpPr>
        <p:spPr>
          <a:xfrm>
            <a:off x="6274834" y="10090177"/>
            <a:ext cx="2924497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Ec/Io (dB)</a:t>
            </a:r>
          </a:p>
        </p:txBody>
      </p:sp>
      <p:sp>
        <p:nvSpPr>
          <p:cNvPr id="378" name="Rectangle 36"/>
          <p:cNvSpPr txBox="1"/>
          <p:nvPr/>
        </p:nvSpPr>
        <p:spPr>
          <a:xfrm>
            <a:off x="12352687" y="1531651"/>
            <a:ext cx="535696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LEGEND</a:t>
            </a:r>
          </a:p>
        </p:txBody>
      </p:sp>
      <p:sp>
        <p:nvSpPr>
          <p:cNvPr id="379" name="Rectangle 97"/>
          <p:cNvSpPr txBox="1"/>
          <p:nvPr/>
        </p:nvSpPr>
        <p:spPr>
          <a:xfrm>
            <a:off x="3250495" y="10088032"/>
            <a:ext cx="2932902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2100MHz</a:t>
            </a:r>
          </a:p>
        </p:txBody>
      </p:sp>
      <p:grpSp>
        <p:nvGrpSpPr>
          <p:cNvPr id="382" name="Rectangle 99"/>
          <p:cNvGrpSpPr/>
          <p:nvPr/>
        </p:nvGrpSpPr>
        <p:grpSpPr>
          <a:xfrm>
            <a:off x="12242777" y="6286958"/>
            <a:ext cx="2627302" cy="459737"/>
            <a:chOff x="-1" y="0"/>
            <a:chExt cx="2627301" cy="459735"/>
          </a:xfrm>
        </p:grpSpPr>
        <p:sp>
          <p:nvSpPr>
            <p:cNvPr id="380" name="Rectangle"/>
            <p:cNvSpPr/>
            <p:nvPr/>
          </p:nvSpPr>
          <p:spPr>
            <a:xfrm>
              <a:off x="-2" y="67851"/>
              <a:ext cx="2627302" cy="324042"/>
            </a:xfrm>
            <a:prstGeom prst="rect">
              <a:avLst/>
            </a:prstGeom>
            <a:solidFill>
              <a:srgbClr val="D91D49"/>
            </a:solidFill>
            <a:ln w="19050" cap="rnd">
              <a:solidFill>
                <a:srgbClr val="D91D49"/>
              </a:solidFill>
              <a:prstDash val="solid"/>
              <a:bevel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381" name="UMTS 2100MHz"/>
            <p:cNvSpPr txBox="1"/>
            <p:nvPr/>
          </p:nvSpPr>
          <p:spPr>
            <a:xfrm>
              <a:off x="55243" y="0"/>
              <a:ext cx="2516811" cy="4597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b="1" sz="2400">
                  <a:solidFill>
                    <a:srgbClr val="FFFFFF"/>
                  </a:solidFill>
                  <a:latin typeface="Calibri (Body)"/>
                  <a:ea typeface="Calibri (Body)"/>
                  <a:cs typeface="Calibri (Body)"/>
                  <a:sym typeface="Calibri (Body)"/>
                </a:defRPr>
              </a:lvl1pPr>
            </a:lstStyle>
            <a:p>
              <a:pPr/>
              <a:r>
                <a:t>UMTS 2100MHz</a:t>
              </a:r>
            </a:p>
          </p:txBody>
        </p:sp>
      </p:grpSp>
      <p:grpSp>
        <p:nvGrpSpPr>
          <p:cNvPr id="400" name="Group 20"/>
          <p:cNvGrpSpPr/>
          <p:nvPr/>
        </p:nvGrpSpPr>
        <p:grpSpPr>
          <a:xfrm>
            <a:off x="12368362" y="1843453"/>
            <a:ext cx="1176905" cy="1391543"/>
            <a:chOff x="-1" y="-1"/>
            <a:chExt cx="1176904" cy="1391541"/>
          </a:xfrm>
        </p:grpSpPr>
        <p:grpSp>
          <p:nvGrpSpPr>
            <p:cNvPr id="388" name="Group 22"/>
            <p:cNvGrpSpPr/>
            <p:nvPr/>
          </p:nvGrpSpPr>
          <p:grpSpPr>
            <a:xfrm>
              <a:off x="143986" y="410683"/>
              <a:ext cx="619351" cy="879879"/>
              <a:chOff x="0" y="-1"/>
              <a:chExt cx="619349" cy="879878"/>
            </a:xfrm>
          </p:grpSpPr>
          <p:sp>
            <p:nvSpPr>
              <p:cNvPr id="383" name="Rectangle 39"/>
              <p:cNvSpPr/>
              <p:nvPr/>
            </p:nvSpPr>
            <p:spPr>
              <a:xfrm>
                <a:off x="-1" y="-2"/>
                <a:ext cx="619002" cy="177168"/>
              </a:xfrm>
              <a:prstGeom prst="rect">
                <a:avLst/>
              </a:prstGeom>
              <a:solidFill>
                <a:srgbClr val="28E3FC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384" name="Rectangle 40"/>
              <p:cNvSpPr/>
              <p:nvPr/>
            </p:nvSpPr>
            <p:spPr>
              <a:xfrm>
                <a:off x="-1" y="177166"/>
                <a:ext cx="619002" cy="177168"/>
              </a:xfrm>
              <a:prstGeom prst="rect">
                <a:avLst/>
              </a:prstGeom>
              <a:solidFill>
                <a:srgbClr val="00FF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385" name="Rectangle 41"/>
              <p:cNvSpPr/>
              <p:nvPr/>
            </p:nvSpPr>
            <p:spPr>
              <a:xfrm>
                <a:off x="347" y="354330"/>
                <a:ext cx="619002" cy="177168"/>
              </a:xfrm>
              <a:prstGeom prst="rect">
                <a:avLst/>
              </a:prstGeom>
              <a:solidFill>
                <a:srgbClr val="FFFF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386" name="Rectangle 42"/>
              <p:cNvSpPr/>
              <p:nvPr/>
            </p:nvSpPr>
            <p:spPr>
              <a:xfrm>
                <a:off x="347" y="531496"/>
                <a:ext cx="619002" cy="177169"/>
              </a:xfrm>
              <a:prstGeom prst="rect">
                <a:avLst/>
              </a:prstGeom>
              <a:solidFill>
                <a:srgbClr val="FFC0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387" name="Rectangle 43"/>
              <p:cNvSpPr/>
              <p:nvPr/>
            </p:nvSpPr>
            <p:spPr>
              <a:xfrm>
                <a:off x="347" y="702710"/>
                <a:ext cx="619002" cy="177168"/>
              </a:xfrm>
              <a:prstGeom prst="rect">
                <a:avLst/>
              </a:prstGeom>
              <a:solidFill>
                <a:srgbClr val="FF00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</p:grpSp>
        <p:sp>
          <p:nvSpPr>
            <p:cNvPr id="389" name="Straight Connector 23"/>
            <p:cNvSpPr/>
            <p:nvPr/>
          </p:nvSpPr>
          <p:spPr>
            <a:xfrm>
              <a:off x="677561" y="942180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390" name="Straight Connector 24"/>
            <p:cNvSpPr/>
            <p:nvPr/>
          </p:nvSpPr>
          <p:spPr>
            <a:xfrm>
              <a:off x="677561" y="765491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391" name="Straight Connector 25"/>
            <p:cNvSpPr/>
            <p:nvPr/>
          </p:nvSpPr>
          <p:spPr>
            <a:xfrm>
              <a:off x="677561" y="587850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392" name="Straight Connector 26"/>
            <p:cNvSpPr/>
            <p:nvPr/>
          </p:nvSpPr>
          <p:spPr>
            <a:xfrm>
              <a:off x="677561" y="1115535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393" name="TextBox 27"/>
            <p:cNvSpPr txBox="1"/>
            <p:nvPr/>
          </p:nvSpPr>
          <p:spPr>
            <a:xfrm>
              <a:off x="-2" y="-2"/>
              <a:ext cx="1013468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algn="ctr" defTabSz="914371">
                <a:defRPr b="1" sz="1000" u="sng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UMTS Ec/No (dB)</a:t>
              </a:r>
            </a:p>
          </p:txBody>
        </p:sp>
        <p:sp>
          <p:nvSpPr>
            <p:cNvPr id="394" name="TextBox 32"/>
            <p:cNvSpPr txBox="1"/>
            <p:nvPr/>
          </p:nvSpPr>
          <p:spPr>
            <a:xfrm>
              <a:off x="782344" y="286349"/>
              <a:ext cx="327379" cy="2285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Max</a:t>
              </a:r>
            </a:p>
          </p:txBody>
        </p:sp>
        <p:sp>
          <p:nvSpPr>
            <p:cNvPr id="395" name="TextBox 33"/>
            <p:cNvSpPr txBox="1"/>
            <p:nvPr/>
          </p:nvSpPr>
          <p:spPr>
            <a:xfrm>
              <a:off x="845707" y="458250"/>
              <a:ext cx="270639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&gt;-4</a:t>
              </a:r>
            </a:p>
          </p:txBody>
        </p:sp>
        <p:sp>
          <p:nvSpPr>
            <p:cNvPr id="396" name="TextBox 34"/>
            <p:cNvSpPr txBox="1"/>
            <p:nvPr/>
          </p:nvSpPr>
          <p:spPr>
            <a:xfrm>
              <a:off x="844122" y="624819"/>
              <a:ext cx="270639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&gt;-8</a:t>
              </a:r>
            </a:p>
          </p:txBody>
        </p:sp>
        <p:sp>
          <p:nvSpPr>
            <p:cNvPr id="397" name="TextBox 35"/>
            <p:cNvSpPr txBox="1"/>
            <p:nvPr/>
          </p:nvSpPr>
          <p:spPr>
            <a:xfrm>
              <a:off x="841897" y="812581"/>
              <a:ext cx="335007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&gt;-10</a:t>
              </a:r>
            </a:p>
          </p:txBody>
        </p:sp>
        <p:sp>
          <p:nvSpPr>
            <p:cNvPr id="398" name="TextBox 37"/>
            <p:cNvSpPr txBox="1"/>
            <p:nvPr/>
          </p:nvSpPr>
          <p:spPr>
            <a:xfrm>
              <a:off x="841576" y="998317"/>
              <a:ext cx="335007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&gt;-13</a:t>
              </a:r>
            </a:p>
          </p:txBody>
        </p:sp>
        <p:sp>
          <p:nvSpPr>
            <p:cNvPr id="399" name="TextBox 38"/>
            <p:cNvSpPr txBox="1"/>
            <p:nvPr/>
          </p:nvSpPr>
          <p:spPr>
            <a:xfrm>
              <a:off x="799352" y="1163033"/>
              <a:ext cx="308590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Min</a:t>
              </a:r>
            </a:p>
          </p:txBody>
        </p:sp>
      </p:grpSp>
      <p:sp>
        <p:nvSpPr>
          <p:cNvPr id="401" name="DRAWN:  &lt;D&gt;"/>
          <p:cNvSpPr txBox="1"/>
          <p:nvPr/>
        </p:nvSpPr>
        <p:spPr>
          <a:xfrm>
            <a:off x="12322172" y="9282355"/>
            <a:ext cx="596721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</a:defRPr>
            </a:pPr>
            <a:r>
              <a:t>DRAWN:  </a:t>
            </a:r>
            <a:r>
              <a:rPr>
                <a:solidFill>
                  <a:srgbClr val="000000"/>
                </a:solidFill>
              </a:rPr>
              <a:t>&lt;D&gt;</a:t>
            </a:r>
          </a:p>
        </p:txBody>
      </p:sp>
      <p:sp>
        <p:nvSpPr>
          <p:cNvPr id="402" name="CHECKED: &lt;C&gt;"/>
          <p:cNvSpPr txBox="1"/>
          <p:nvPr/>
        </p:nvSpPr>
        <p:spPr>
          <a:xfrm>
            <a:off x="13113121" y="9282355"/>
            <a:ext cx="663099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CHECKED: </a:t>
            </a:r>
            <a:r>
              <a:rPr>
                <a:solidFill>
                  <a:srgbClr val="000000"/>
                </a:solidFill>
              </a:rPr>
              <a:t>&lt;C&gt;</a:t>
            </a:r>
          </a:p>
        </p:txBody>
      </p:sp>
      <p:sp>
        <p:nvSpPr>
          <p:cNvPr id="403" name="APPROVED: &lt;A&gt;"/>
          <p:cNvSpPr txBox="1"/>
          <p:nvPr/>
        </p:nvSpPr>
        <p:spPr>
          <a:xfrm>
            <a:off x="14081688" y="9282355"/>
            <a:ext cx="709756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APPROVED: </a:t>
            </a:r>
            <a:r>
              <a:rPr>
                <a:solidFill>
                  <a:srgbClr val="000000"/>
                </a:solidFill>
              </a:rPr>
              <a:t>&lt;A&gt;</a:t>
            </a:r>
          </a:p>
        </p:txBody>
      </p:sp>
      <p:sp>
        <p:nvSpPr>
          <p:cNvPr id="404" name="&lt;NUM&gt;"/>
          <p:cNvSpPr txBox="1"/>
          <p:nvPr/>
        </p:nvSpPr>
        <p:spPr>
          <a:xfrm>
            <a:off x="14324158" y="9141614"/>
            <a:ext cx="366670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600"/>
            </a:lvl1pPr>
          </a:lstStyle>
          <a:p>
            <a:pPr/>
            <a:r>
              <a:t>&lt;NUM&gt;</a:t>
            </a:r>
          </a:p>
        </p:txBody>
      </p:sp>
      <p:sp>
        <p:nvSpPr>
          <p:cNvPr id="405" name="&lt;P01&gt;"/>
          <p:cNvSpPr txBox="1"/>
          <p:nvPr/>
        </p:nvSpPr>
        <p:spPr>
          <a:xfrm>
            <a:off x="12598435" y="9708097"/>
            <a:ext cx="328719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&lt;P01&gt;</a:t>
            </a:r>
          </a:p>
        </p:txBody>
      </p:sp>
      <p:sp>
        <p:nvSpPr>
          <p:cNvPr id="406" name="&lt;P02&gt;"/>
          <p:cNvSpPr txBox="1"/>
          <p:nvPr/>
        </p:nvSpPr>
        <p:spPr>
          <a:xfrm>
            <a:off x="12607962" y="9842496"/>
            <a:ext cx="328718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&lt;P02&gt;</a:t>
            </a:r>
          </a:p>
        </p:txBody>
      </p:sp>
      <p:sp>
        <p:nvSpPr>
          <p:cNvPr id="407" name="&lt;&lt;logo&gt;&gt;"/>
          <p:cNvSpPr txBox="1"/>
          <p:nvPr/>
        </p:nvSpPr>
        <p:spPr>
          <a:xfrm>
            <a:off x="13312722" y="875552"/>
            <a:ext cx="1054156" cy="3401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0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&lt;&lt;logo&gt;&gt;</a:t>
            </a:r>
          </a:p>
        </p:txBody>
      </p:sp>
      <p:sp>
        <p:nvSpPr>
          <p:cNvPr id="40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18_LTE RSR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TextBox 66"/>
          <p:cNvSpPr txBox="1"/>
          <p:nvPr/>
        </p:nvSpPr>
        <p:spPr>
          <a:xfrm>
            <a:off x="13525788" y="9201184"/>
            <a:ext cx="130066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SHEET:</a:t>
            </a:r>
          </a:p>
        </p:txBody>
      </p:sp>
      <p:sp>
        <p:nvSpPr>
          <p:cNvPr id="416" name="Freeform 10"/>
          <p:cNvSpPr/>
          <p:nvPr/>
        </p:nvSpPr>
        <p:spPr>
          <a:xfrm flipH="1">
            <a:off x="12234861" y="209548"/>
            <a:ext cx="1" cy="10224004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17" name="Freeform 11"/>
          <p:cNvSpPr/>
          <p:nvPr/>
        </p:nvSpPr>
        <p:spPr>
          <a:xfrm>
            <a:off x="12230100" y="702182"/>
            <a:ext cx="2646003" cy="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18" name="TextBox 15"/>
          <p:cNvSpPr txBox="1"/>
          <p:nvPr/>
        </p:nvSpPr>
        <p:spPr>
          <a:xfrm>
            <a:off x="12339755" y="6726997"/>
            <a:ext cx="2522705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400">
                <a:solidFill>
                  <a:srgbClr val="A6A6A6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RF PREDICTIONS</a:t>
            </a:r>
          </a:p>
        </p:txBody>
      </p:sp>
      <p:sp>
        <p:nvSpPr>
          <p:cNvPr id="419" name="TextBox 17"/>
          <p:cNvSpPr txBox="1"/>
          <p:nvPr/>
        </p:nvSpPr>
        <p:spPr>
          <a:xfrm>
            <a:off x="12253914" y="7872499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STATION</a:t>
            </a:r>
          </a:p>
        </p:txBody>
      </p:sp>
      <p:sp>
        <p:nvSpPr>
          <p:cNvPr id="420" name="Freeform 45"/>
          <p:cNvSpPr/>
          <p:nvPr/>
        </p:nvSpPr>
        <p:spPr>
          <a:xfrm>
            <a:off x="12230100" y="8848334"/>
            <a:ext cx="2646003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21" name="Freeform 67"/>
          <p:cNvSpPr/>
          <p:nvPr/>
        </p:nvSpPr>
        <p:spPr>
          <a:xfrm>
            <a:off x="13545545" y="6970361"/>
            <a:ext cx="3" cy="890405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22" name="TextBox 75"/>
          <p:cNvSpPr txBox="1"/>
          <p:nvPr/>
        </p:nvSpPr>
        <p:spPr>
          <a:xfrm>
            <a:off x="12234160" y="9470638"/>
            <a:ext cx="259229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DRAWING HISTORY</a:t>
            </a:r>
          </a:p>
        </p:txBody>
      </p:sp>
      <p:sp>
        <p:nvSpPr>
          <p:cNvPr id="423" name="Freeform 76"/>
          <p:cNvSpPr/>
          <p:nvPr/>
        </p:nvSpPr>
        <p:spPr>
          <a:xfrm>
            <a:off x="12233492" y="9612058"/>
            <a:ext cx="2636007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24" name="TextBox 77"/>
          <p:cNvSpPr txBox="1"/>
          <p:nvPr/>
        </p:nvSpPr>
        <p:spPr>
          <a:xfrm>
            <a:off x="12507654" y="9632305"/>
            <a:ext cx="51028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DATE</a:t>
            </a:r>
          </a:p>
        </p:txBody>
      </p:sp>
      <p:sp>
        <p:nvSpPr>
          <p:cNvPr id="425" name="Freeform 79"/>
          <p:cNvSpPr/>
          <p:nvPr/>
        </p:nvSpPr>
        <p:spPr>
          <a:xfrm>
            <a:off x="12513692" y="9612117"/>
            <a:ext cx="4" cy="821437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26" name="TextBox 80"/>
          <p:cNvSpPr txBox="1"/>
          <p:nvPr/>
        </p:nvSpPr>
        <p:spPr>
          <a:xfrm>
            <a:off x="12233491" y="9634148"/>
            <a:ext cx="26032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ISSUE</a:t>
            </a:r>
          </a:p>
        </p:txBody>
      </p:sp>
      <p:sp>
        <p:nvSpPr>
          <p:cNvPr id="427" name="Freeform 82"/>
          <p:cNvSpPr/>
          <p:nvPr/>
        </p:nvSpPr>
        <p:spPr>
          <a:xfrm>
            <a:off x="12236067" y="9736835"/>
            <a:ext cx="2636007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28" name="Freeform 83"/>
          <p:cNvSpPr/>
          <p:nvPr/>
        </p:nvSpPr>
        <p:spPr>
          <a:xfrm>
            <a:off x="13052420" y="9614212"/>
            <a:ext cx="4" cy="824700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29" name="TextBox 84"/>
          <p:cNvSpPr txBox="1"/>
          <p:nvPr/>
        </p:nvSpPr>
        <p:spPr>
          <a:xfrm>
            <a:off x="13058443" y="9631360"/>
            <a:ext cx="178161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DESCRIPTION</a:t>
            </a:r>
          </a:p>
        </p:txBody>
      </p:sp>
      <p:sp>
        <p:nvSpPr>
          <p:cNvPr id="430" name="Freeform 86"/>
          <p:cNvSpPr/>
          <p:nvPr/>
        </p:nvSpPr>
        <p:spPr>
          <a:xfrm>
            <a:off x="12237973" y="9877804"/>
            <a:ext cx="2636008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31" name="Freeform 87"/>
          <p:cNvSpPr/>
          <p:nvPr/>
        </p:nvSpPr>
        <p:spPr>
          <a:xfrm>
            <a:off x="12236067" y="9878180"/>
            <a:ext cx="2636007" cy="3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32" name="Freeform 88"/>
          <p:cNvSpPr/>
          <p:nvPr/>
        </p:nvSpPr>
        <p:spPr>
          <a:xfrm>
            <a:off x="12237973" y="10019151"/>
            <a:ext cx="2636008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33" name="Freeform 90"/>
          <p:cNvSpPr/>
          <p:nvPr/>
        </p:nvSpPr>
        <p:spPr>
          <a:xfrm>
            <a:off x="12237973" y="10159355"/>
            <a:ext cx="2636008" cy="5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34" name="Straight Connector 2"/>
          <p:cNvSpPr/>
          <p:nvPr/>
        </p:nvSpPr>
        <p:spPr>
          <a:xfrm>
            <a:off x="12237973" y="6966880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35" name="Straight Connector 71"/>
          <p:cNvSpPr/>
          <p:nvPr/>
        </p:nvSpPr>
        <p:spPr>
          <a:xfrm>
            <a:off x="12237973" y="6678848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36" name="Freeform 90"/>
          <p:cNvSpPr/>
          <p:nvPr/>
        </p:nvSpPr>
        <p:spPr>
          <a:xfrm>
            <a:off x="12237973" y="10298666"/>
            <a:ext cx="2636008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37" name="TextBox 98"/>
          <p:cNvSpPr txBox="1"/>
          <p:nvPr/>
        </p:nvSpPr>
        <p:spPr>
          <a:xfrm>
            <a:off x="13070458" y="9889172"/>
            <a:ext cx="176304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 </a:t>
            </a:r>
          </a:p>
        </p:txBody>
      </p:sp>
      <p:sp>
        <p:nvSpPr>
          <p:cNvPr id="438" name="TextBox 74"/>
          <p:cNvSpPr txBox="1"/>
          <p:nvPr/>
        </p:nvSpPr>
        <p:spPr>
          <a:xfrm>
            <a:off x="12243182" y="9193193"/>
            <a:ext cx="126636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SCALE: </a:t>
            </a:r>
            <a:r>
              <a:rPr>
                <a:solidFill>
                  <a:srgbClr val="000000"/>
                </a:solidFill>
              </a:rPr>
              <a:t>NOT TO SCALE</a:t>
            </a:r>
          </a:p>
        </p:txBody>
      </p:sp>
      <p:sp>
        <p:nvSpPr>
          <p:cNvPr id="439" name="Freeform 47"/>
          <p:cNvSpPr/>
          <p:nvPr/>
        </p:nvSpPr>
        <p:spPr>
          <a:xfrm>
            <a:off x="12226542" y="9184596"/>
            <a:ext cx="2646004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40" name="TextBox 109"/>
          <p:cNvSpPr txBox="1"/>
          <p:nvPr/>
        </p:nvSpPr>
        <p:spPr>
          <a:xfrm>
            <a:off x="12253914" y="8867116"/>
            <a:ext cx="95997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DOCUMENT REFERENCE</a:t>
            </a:r>
          </a:p>
        </p:txBody>
      </p:sp>
      <p:sp>
        <p:nvSpPr>
          <p:cNvPr id="441" name="TextBox 110"/>
          <p:cNvSpPr txBox="1"/>
          <p:nvPr/>
        </p:nvSpPr>
        <p:spPr>
          <a:xfrm>
            <a:off x="12223991" y="8967075"/>
            <a:ext cx="259089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APPENDIX B – RF PREDICTIONS </a:t>
            </a:r>
          </a:p>
        </p:txBody>
      </p:sp>
      <p:sp>
        <p:nvSpPr>
          <p:cNvPr id="442" name="Straight Connector 115"/>
          <p:cNvSpPr/>
          <p:nvPr/>
        </p:nvSpPr>
        <p:spPr>
          <a:xfrm>
            <a:off x="12237973" y="7857455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43" name="Rectangle 118"/>
          <p:cNvSpPr txBox="1"/>
          <p:nvPr/>
        </p:nvSpPr>
        <p:spPr>
          <a:xfrm>
            <a:off x="12292583" y="374373"/>
            <a:ext cx="2524151" cy="243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0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COMMERCIAL MOBILE SERVICES</a:t>
            </a:r>
          </a:p>
        </p:txBody>
      </p:sp>
      <p:sp>
        <p:nvSpPr>
          <p:cNvPr id="444" name="Rectangle 3"/>
          <p:cNvSpPr/>
          <p:nvPr/>
        </p:nvSpPr>
        <p:spPr>
          <a:xfrm>
            <a:off x="0" y="1"/>
            <a:ext cx="15122525" cy="236989"/>
          </a:xfrm>
          <a:prstGeom prst="rect">
            <a:avLst/>
          </a:prstGeom>
          <a:solidFill>
            <a:srgbClr val="D91D49"/>
          </a:solidFill>
          <a:ln w="25400">
            <a:solidFill>
              <a:srgbClr val="D91D49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45" name="Freeform 47"/>
          <p:cNvSpPr/>
          <p:nvPr/>
        </p:nvSpPr>
        <p:spPr>
          <a:xfrm flipV="1">
            <a:off x="13531176" y="9183037"/>
            <a:ext cx="4" cy="124739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46" name="Rectangle 5"/>
          <p:cNvSpPr/>
          <p:nvPr/>
        </p:nvSpPr>
        <p:spPr>
          <a:xfrm>
            <a:off x="223628" y="261258"/>
            <a:ext cx="14646449" cy="10175448"/>
          </a:xfrm>
          <a:prstGeom prst="rect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47" name="TextBox 49"/>
          <p:cNvSpPr txBox="1"/>
          <p:nvPr/>
        </p:nvSpPr>
        <p:spPr>
          <a:xfrm>
            <a:off x="12253914" y="8285091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ADDRESS</a:t>
            </a:r>
          </a:p>
        </p:txBody>
      </p:sp>
      <p:sp>
        <p:nvSpPr>
          <p:cNvPr id="448" name="Freeform 45"/>
          <p:cNvSpPr/>
          <p:nvPr/>
        </p:nvSpPr>
        <p:spPr>
          <a:xfrm>
            <a:off x="12230100" y="8849604"/>
            <a:ext cx="2646003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49" name="Straight Connector 52"/>
          <p:cNvSpPr/>
          <p:nvPr/>
        </p:nvSpPr>
        <p:spPr>
          <a:xfrm>
            <a:off x="12237973" y="8270047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50" name="Freeform 47"/>
          <p:cNvSpPr/>
          <p:nvPr/>
        </p:nvSpPr>
        <p:spPr>
          <a:xfrm>
            <a:off x="12236067" y="9317742"/>
            <a:ext cx="2631525" cy="5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51" name="Freeform 48"/>
          <p:cNvSpPr/>
          <p:nvPr/>
        </p:nvSpPr>
        <p:spPr>
          <a:xfrm>
            <a:off x="12227249" y="9427722"/>
            <a:ext cx="2646003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52" name="Freeform 21"/>
          <p:cNvSpPr/>
          <p:nvPr/>
        </p:nvSpPr>
        <p:spPr>
          <a:xfrm>
            <a:off x="12959990" y="9317742"/>
            <a:ext cx="4" cy="10800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53" name="Freeform 67"/>
          <p:cNvSpPr/>
          <p:nvPr/>
        </p:nvSpPr>
        <p:spPr>
          <a:xfrm>
            <a:off x="13975212" y="9321118"/>
            <a:ext cx="4" cy="10813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54" name="TextBox 1"/>
          <p:cNvSpPr txBox="1"/>
          <p:nvPr/>
        </p:nvSpPr>
        <p:spPr>
          <a:xfrm>
            <a:off x="63497" y="10507980"/>
            <a:ext cx="77312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000000">
                    <a:alpha val="50000"/>
                  </a:srgbClr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[SEC=PROTECTED]</a:t>
            </a:r>
          </a:p>
        </p:txBody>
      </p:sp>
      <p:sp>
        <p:nvSpPr>
          <p:cNvPr id="455" name="Picture Placeholder 2"/>
          <p:cNvSpPr/>
          <p:nvPr/>
        </p:nvSpPr>
        <p:spPr>
          <a:xfrm>
            <a:off x="599800" y="508423"/>
            <a:ext cx="11233730" cy="936439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 defTabSz="1407968">
              <a:spcBef>
                <a:spcPts val="1200"/>
              </a:spcBef>
              <a:defRPr sz="5000"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56" name="TextBox 6"/>
          <p:cNvSpPr txBox="1"/>
          <p:nvPr/>
        </p:nvSpPr>
        <p:spPr>
          <a:xfrm>
            <a:off x="13549306" y="7032755"/>
            <a:ext cx="1284189" cy="63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BOLDYN NETWORKS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</a:t>
            </a:r>
            <a:r>
              <a:rPr baseline="30000"/>
              <a:t>nd</a:t>
            </a:r>
            <a:r>
              <a:t> FLOOR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 KINGDOM STREET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LONDON 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W2 6BD</a:t>
            </a:r>
          </a:p>
        </p:txBody>
      </p:sp>
      <p:sp>
        <p:nvSpPr>
          <p:cNvPr id="457" name="Freeform: Shape 7"/>
          <p:cNvSpPr/>
          <p:nvPr/>
        </p:nvSpPr>
        <p:spPr>
          <a:xfrm>
            <a:off x="12537433" y="7031193"/>
            <a:ext cx="705489" cy="6648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0873"/>
                </a:moveTo>
                <a:lnTo>
                  <a:pt x="21231" y="9061"/>
                </a:lnTo>
                <a:lnTo>
                  <a:pt x="20308" y="7567"/>
                </a:lnTo>
                <a:lnTo>
                  <a:pt x="18900" y="6563"/>
                </a:lnTo>
                <a:lnTo>
                  <a:pt x="17192" y="6196"/>
                </a:lnTo>
                <a:lnTo>
                  <a:pt x="6808" y="6196"/>
                </a:lnTo>
                <a:lnTo>
                  <a:pt x="6808" y="0"/>
                </a:lnTo>
                <a:lnTo>
                  <a:pt x="4131" y="0"/>
                </a:lnTo>
                <a:lnTo>
                  <a:pt x="4131" y="6196"/>
                </a:lnTo>
                <a:lnTo>
                  <a:pt x="0" y="6196"/>
                </a:lnTo>
                <a:lnTo>
                  <a:pt x="0" y="9037"/>
                </a:lnTo>
                <a:lnTo>
                  <a:pt x="4131" y="9037"/>
                </a:lnTo>
                <a:lnTo>
                  <a:pt x="4131" y="6196"/>
                </a:lnTo>
                <a:lnTo>
                  <a:pt x="6808" y="6196"/>
                </a:lnTo>
                <a:lnTo>
                  <a:pt x="6808" y="9037"/>
                </a:lnTo>
                <a:lnTo>
                  <a:pt x="18923" y="9037"/>
                </a:lnTo>
                <a:lnTo>
                  <a:pt x="18923" y="18759"/>
                </a:lnTo>
                <a:lnTo>
                  <a:pt x="6808" y="18759"/>
                </a:lnTo>
                <a:lnTo>
                  <a:pt x="6808" y="9037"/>
                </a:lnTo>
                <a:lnTo>
                  <a:pt x="4131" y="9037"/>
                </a:lnTo>
                <a:lnTo>
                  <a:pt x="4131" y="16922"/>
                </a:lnTo>
                <a:lnTo>
                  <a:pt x="4477" y="18735"/>
                </a:lnTo>
                <a:lnTo>
                  <a:pt x="5423" y="20229"/>
                </a:lnTo>
                <a:lnTo>
                  <a:pt x="6831" y="21233"/>
                </a:lnTo>
                <a:lnTo>
                  <a:pt x="8538" y="21600"/>
                </a:lnTo>
                <a:lnTo>
                  <a:pt x="17192" y="21600"/>
                </a:lnTo>
                <a:lnTo>
                  <a:pt x="18900" y="21233"/>
                </a:lnTo>
                <a:lnTo>
                  <a:pt x="20308" y="20229"/>
                </a:lnTo>
                <a:lnTo>
                  <a:pt x="21231" y="18759"/>
                </a:lnTo>
                <a:lnTo>
                  <a:pt x="21600" y="16922"/>
                </a:lnTo>
                <a:lnTo>
                  <a:pt x="21600" y="10873"/>
                </a:lnTo>
                <a:close/>
              </a:path>
            </a:pathLst>
          </a:custGeom>
          <a:solidFill>
            <a:srgbClr val="F5054F">
              <a:alpha val="29802"/>
            </a:srgb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58" name="TextBox 27"/>
          <p:cNvSpPr txBox="1"/>
          <p:nvPr/>
        </p:nvSpPr>
        <p:spPr>
          <a:xfrm>
            <a:off x="13056406" y="9758240"/>
            <a:ext cx="177709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Original Submission</a:t>
            </a:r>
          </a:p>
        </p:txBody>
      </p:sp>
      <p:sp>
        <p:nvSpPr>
          <p:cNvPr id="459" name="TextBox 28"/>
          <p:cNvSpPr txBox="1"/>
          <p:nvPr/>
        </p:nvSpPr>
        <p:spPr>
          <a:xfrm>
            <a:off x="12247271" y="9758240"/>
            <a:ext cx="22438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P01</a:t>
            </a:r>
          </a:p>
        </p:txBody>
      </p:sp>
      <p:sp>
        <p:nvSpPr>
          <p:cNvPr id="460" name="TextBox 30"/>
          <p:cNvSpPr txBox="1"/>
          <p:nvPr/>
        </p:nvSpPr>
        <p:spPr>
          <a:xfrm>
            <a:off x="12233457" y="8514819"/>
            <a:ext cx="260097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&lt;&lt;ADDRESS&gt;&gt;</a:t>
            </a:r>
          </a:p>
        </p:txBody>
      </p:sp>
      <p:sp>
        <p:nvSpPr>
          <p:cNvPr id="461" name="TextBox 31"/>
          <p:cNvSpPr txBox="1"/>
          <p:nvPr/>
        </p:nvSpPr>
        <p:spPr>
          <a:xfrm>
            <a:off x="12239090" y="7990071"/>
            <a:ext cx="260097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&lt;&lt;STATION_NAME&gt;&gt;</a:t>
            </a:r>
          </a:p>
        </p:txBody>
      </p:sp>
      <p:sp>
        <p:nvSpPr>
          <p:cNvPr id="462" name="TextBox 32"/>
          <p:cNvSpPr txBox="1"/>
          <p:nvPr/>
        </p:nvSpPr>
        <p:spPr>
          <a:xfrm>
            <a:off x="13056406" y="9904169"/>
            <a:ext cx="177709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Updated design</a:t>
            </a:r>
          </a:p>
        </p:txBody>
      </p:sp>
      <p:sp>
        <p:nvSpPr>
          <p:cNvPr id="463" name="TextBox 33"/>
          <p:cNvSpPr txBox="1"/>
          <p:nvPr/>
        </p:nvSpPr>
        <p:spPr>
          <a:xfrm>
            <a:off x="12247271" y="9904169"/>
            <a:ext cx="22438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P02</a:t>
            </a:r>
          </a:p>
        </p:txBody>
      </p:sp>
      <p:pic>
        <p:nvPicPr>
          <p:cNvPr id="464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2233457" y="722526"/>
            <a:ext cx="2633704" cy="646233"/>
          </a:xfrm>
          <a:prstGeom prst="rect">
            <a:avLst/>
          </a:prstGeom>
          <a:ln w="12700">
            <a:miter lim="400000"/>
          </a:ln>
        </p:spPr>
      </p:pic>
      <p:sp>
        <p:nvSpPr>
          <p:cNvPr id="465" name="Rectangle 62"/>
          <p:cNvSpPr txBox="1"/>
          <p:nvPr/>
        </p:nvSpPr>
        <p:spPr>
          <a:xfrm>
            <a:off x="1031881" y="10077207"/>
            <a:ext cx="1398603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LTE</a:t>
            </a:r>
          </a:p>
        </p:txBody>
      </p:sp>
      <p:grpSp>
        <p:nvGrpSpPr>
          <p:cNvPr id="468" name="Rectangle 77"/>
          <p:cNvGrpSpPr/>
          <p:nvPr/>
        </p:nvGrpSpPr>
        <p:grpSpPr>
          <a:xfrm>
            <a:off x="12242777" y="6320589"/>
            <a:ext cx="2627302" cy="392467"/>
            <a:chOff x="-1" y="0"/>
            <a:chExt cx="2627301" cy="392465"/>
          </a:xfrm>
        </p:grpSpPr>
        <p:sp>
          <p:nvSpPr>
            <p:cNvPr id="466" name="Rectangle"/>
            <p:cNvSpPr/>
            <p:nvPr/>
          </p:nvSpPr>
          <p:spPr>
            <a:xfrm>
              <a:off x="-2" y="34217"/>
              <a:ext cx="2627302" cy="324043"/>
            </a:xfrm>
            <a:prstGeom prst="rect">
              <a:avLst/>
            </a:prstGeom>
            <a:solidFill>
              <a:srgbClr val="D91D49"/>
            </a:solidFill>
            <a:ln w="19050" cap="rnd">
              <a:solidFill>
                <a:srgbClr val="D91D49"/>
              </a:solidFill>
              <a:prstDash val="solid"/>
              <a:bevel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467" name="LTE 1800MHz"/>
            <p:cNvSpPr txBox="1"/>
            <p:nvPr/>
          </p:nvSpPr>
          <p:spPr>
            <a:xfrm>
              <a:off x="55243" y="-1"/>
              <a:ext cx="2516811" cy="39246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b="1" sz="24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LTE 1800MHz</a:t>
              </a:r>
            </a:p>
          </p:txBody>
        </p:sp>
      </p:grpSp>
      <p:sp>
        <p:nvSpPr>
          <p:cNvPr id="469" name="Freeform 55"/>
          <p:cNvSpPr/>
          <p:nvPr/>
        </p:nvSpPr>
        <p:spPr>
          <a:xfrm>
            <a:off x="9227818" y="10104121"/>
            <a:ext cx="3" cy="335284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70" name="Freeform 56"/>
          <p:cNvSpPr/>
          <p:nvPr/>
        </p:nvSpPr>
        <p:spPr>
          <a:xfrm>
            <a:off x="6228517" y="10104121"/>
            <a:ext cx="4" cy="335284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71" name="Freeform 57"/>
          <p:cNvSpPr/>
          <p:nvPr/>
        </p:nvSpPr>
        <p:spPr>
          <a:xfrm>
            <a:off x="3204778" y="10104121"/>
            <a:ext cx="4" cy="335284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72" name="Rectangle 4"/>
          <p:cNvSpPr txBox="1"/>
          <p:nvPr/>
        </p:nvSpPr>
        <p:spPr>
          <a:xfrm>
            <a:off x="271007" y="10249420"/>
            <a:ext cx="2888053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Technology </a:t>
            </a:r>
          </a:p>
        </p:txBody>
      </p:sp>
      <p:sp>
        <p:nvSpPr>
          <p:cNvPr id="473" name="Rectangle 5"/>
          <p:cNvSpPr txBox="1"/>
          <p:nvPr/>
        </p:nvSpPr>
        <p:spPr>
          <a:xfrm>
            <a:off x="3250501" y="10249612"/>
            <a:ext cx="2924494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Frequency Band</a:t>
            </a:r>
          </a:p>
        </p:txBody>
      </p:sp>
      <p:sp>
        <p:nvSpPr>
          <p:cNvPr id="474" name="Rectangle 6"/>
          <p:cNvSpPr txBox="1"/>
          <p:nvPr/>
        </p:nvSpPr>
        <p:spPr>
          <a:xfrm>
            <a:off x="6272324" y="10254543"/>
            <a:ext cx="2901971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Plot</a:t>
            </a:r>
          </a:p>
        </p:txBody>
      </p:sp>
      <p:sp>
        <p:nvSpPr>
          <p:cNvPr id="475" name="Rectangle 7"/>
          <p:cNvSpPr txBox="1"/>
          <p:nvPr/>
        </p:nvSpPr>
        <p:spPr>
          <a:xfrm>
            <a:off x="9273537" y="10246400"/>
            <a:ext cx="2912501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Floor Level</a:t>
            </a:r>
          </a:p>
        </p:txBody>
      </p:sp>
      <p:sp>
        <p:nvSpPr>
          <p:cNvPr id="476" name="Rectangle 8"/>
          <p:cNvSpPr/>
          <p:nvPr/>
        </p:nvSpPr>
        <p:spPr>
          <a:xfrm>
            <a:off x="225282" y="10279246"/>
            <a:ext cx="12004820" cy="157181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77" name="Rectangle 9"/>
          <p:cNvSpPr/>
          <p:nvPr/>
        </p:nvSpPr>
        <p:spPr>
          <a:xfrm>
            <a:off x="225282" y="10103973"/>
            <a:ext cx="12004820" cy="174458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78" name="Rectangle 58"/>
          <p:cNvSpPr txBox="1"/>
          <p:nvPr/>
        </p:nvSpPr>
        <p:spPr>
          <a:xfrm>
            <a:off x="6266434" y="10086647"/>
            <a:ext cx="2901971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RSRP (dBm)</a:t>
            </a:r>
          </a:p>
        </p:txBody>
      </p:sp>
      <p:grpSp>
        <p:nvGrpSpPr>
          <p:cNvPr id="501" name="Group 59"/>
          <p:cNvGrpSpPr/>
          <p:nvPr/>
        </p:nvGrpSpPr>
        <p:grpSpPr>
          <a:xfrm>
            <a:off x="12275816" y="1792967"/>
            <a:ext cx="1308273" cy="2247724"/>
            <a:chOff x="0" y="-1"/>
            <a:chExt cx="1308271" cy="2247723"/>
          </a:xfrm>
        </p:grpSpPr>
        <p:sp>
          <p:nvSpPr>
            <p:cNvPr id="479" name="Straight Connector 60"/>
            <p:cNvSpPr/>
            <p:nvPr/>
          </p:nvSpPr>
          <p:spPr>
            <a:xfrm>
              <a:off x="654462" y="1946115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480" name="Straight Connector 106"/>
            <p:cNvSpPr/>
            <p:nvPr/>
          </p:nvSpPr>
          <p:spPr>
            <a:xfrm>
              <a:off x="654462" y="1578450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481" name="Straight Connector 107"/>
            <p:cNvSpPr/>
            <p:nvPr/>
          </p:nvSpPr>
          <p:spPr>
            <a:xfrm>
              <a:off x="654462" y="1397475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482" name="Straight Connector 108"/>
            <p:cNvSpPr/>
            <p:nvPr/>
          </p:nvSpPr>
          <p:spPr>
            <a:xfrm>
              <a:off x="654462" y="1214595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483" name="Straight Connector 109"/>
            <p:cNvSpPr/>
            <p:nvPr/>
          </p:nvSpPr>
          <p:spPr>
            <a:xfrm>
              <a:off x="654462" y="1029807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484" name="Straight Connector 110"/>
            <p:cNvSpPr/>
            <p:nvPr/>
          </p:nvSpPr>
          <p:spPr>
            <a:xfrm>
              <a:off x="654462" y="846927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485" name="Straight Connector 111"/>
            <p:cNvSpPr/>
            <p:nvPr/>
          </p:nvSpPr>
          <p:spPr>
            <a:xfrm>
              <a:off x="654462" y="662142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486" name="Straight Connector 112"/>
            <p:cNvSpPr/>
            <p:nvPr/>
          </p:nvSpPr>
          <p:spPr>
            <a:xfrm>
              <a:off x="654462" y="483072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487" name="Straight Connector 113"/>
            <p:cNvSpPr/>
            <p:nvPr/>
          </p:nvSpPr>
          <p:spPr>
            <a:xfrm>
              <a:off x="654462" y="1761330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pic>
          <p:nvPicPr>
            <p:cNvPr id="488" name="Picture 114" descr="Picture 114"/>
            <p:cNvPicPr>
              <a:picLocks noChangeAspect="1"/>
            </p:cNvPicPr>
            <p:nvPr/>
          </p:nvPicPr>
          <p:blipFill>
            <a:blip r:embed="rId3">
              <a:extLst/>
            </a:blip>
            <a:stretch>
              <a:fillRect/>
            </a:stretch>
          </p:blipFill>
          <p:spPr>
            <a:xfrm>
              <a:off x="119622" y="292572"/>
              <a:ext cx="624846" cy="184404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489" name="TextBox 115"/>
            <p:cNvSpPr txBox="1"/>
            <p:nvPr/>
          </p:nvSpPr>
          <p:spPr>
            <a:xfrm>
              <a:off x="736459" y="2019215"/>
              <a:ext cx="326697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MIN</a:t>
              </a:r>
            </a:p>
          </p:txBody>
        </p:sp>
        <p:sp>
          <p:nvSpPr>
            <p:cNvPr id="490" name="TextBox 116"/>
            <p:cNvSpPr txBox="1"/>
            <p:nvPr/>
          </p:nvSpPr>
          <p:spPr>
            <a:xfrm>
              <a:off x="880184" y="356154"/>
              <a:ext cx="363718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-65</a:t>
              </a:r>
            </a:p>
          </p:txBody>
        </p:sp>
        <p:sp>
          <p:nvSpPr>
            <p:cNvPr id="491" name="TextBox 117"/>
            <p:cNvSpPr txBox="1"/>
            <p:nvPr/>
          </p:nvSpPr>
          <p:spPr>
            <a:xfrm>
              <a:off x="880184" y="540935"/>
              <a:ext cx="363718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-80</a:t>
              </a:r>
            </a:p>
          </p:txBody>
        </p:sp>
        <p:sp>
          <p:nvSpPr>
            <p:cNvPr id="492" name="TextBox 118"/>
            <p:cNvSpPr txBox="1"/>
            <p:nvPr/>
          </p:nvSpPr>
          <p:spPr>
            <a:xfrm>
              <a:off x="880184" y="723818"/>
              <a:ext cx="363718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-95</a:t>
              </a:r>
            </a:p>
          </p:txBody>
        </p:sp>
        <p:sp>
          <p:nvSpPr>
            <p:cNvPr id="493" name="TextBox 119"/>
            <p:cNvSpPr txBox="1"/>
            <p:nvPr/>
          </p:nvSpPr>
          <p:spPr>
            <a:xfrm>
              <a:off x="880184" y="908602"/>
              <a:ext cx="428086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-105</a:t>
              </a:r>
            </a:p>
          </p:txBody>
        </p:sp>
        <p:sp>
          <p:nvSpPr>
            <p:cNvPr id="494" name="TextBox 120"/>
            <p:cNvSpPr txBox="1"/>
            <p:nvPr/>
          </p:nvSpPr>
          <p:spPr>
            <a:xfrm>
              <a:off x="880185" y="1089579"/>
              <a:ext cx="428086" cy="2285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-110</a:t>
              </a:r>
            </a:p>
          </p:txBody>
        </p:sp>
        <p:sp>
          <p:nvSpPr>
            <p:cNvPr id="495" name="TextBox 121"/>
            <p:cNvSpPr txBox="1"/>
            <p:nvPr/>
          </p:nvSpPr>
          <p:spPr>
            <a:xfrm>
              <a:off x="880185" y="1274363"/>
              <a:ext cx="428086" cy="2285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-113</a:t>
              </a:r>
            </a:p>
          </p:txBody>
        </p:sp>
        <p:sp>
          <p:nvSpPr>
            <p:cNvPr id="496" name="TextBox 122"/>
            <p:cNvSpPr txBox="1"/>
            <p:nvPr/>
          </p:nvSpPr>
          <p:spPr>
            <a:xfrm>
              <a:off x="878782" y="1453437"/>
              <a:ext cx="428086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-116</a:t>
              </a:r>
            </a:p>
          </p:txBody>
        </p:sp>
        <p:sp>
          <p:nvSpPr>
            <p:cNvPr id="497" name="TextBox 123"/>
            <p:cNvSpPr txBox="1"/>
            <p:nvPr/>
          </p:nvSpPr>
          <p:spPr>
            <a:xfrm>
              <a:off x="878782" y="1638221"/>
              <a:ext cx="428086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-118</a:t>
              </a:r>
            </a:p>
          </p:txBody>
        </p:sp>
        <p:sp>
          <p:nvSpPr>
            <p:cNvPr id="498" name="TextBox 124"/>
            <p:cNvSpPr txBox="1"/>
            <p:nvPr/>
          </p:nvSpPr>
          <p:spPr>
            <a:xfrm>
              <a:off x="878782" y="1817295"/>
              <a:ext cx="428086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-121</a:t>
              </a:r>
            </a:p>
          </p:txBody>
        </p:sp>
        <p:sp>
          <p:nvSpPr>
            <p:cNvPr id="499" name="TextBox 125"/>
            <p:cNvSpPr txBox="1"/>
            <p:nvPr/>
          </p:nvSpPr>
          <p:spPr>
            <a:xfrm>
              <a:off x="736459" y="169461"/>
              <a:ext cx="352122" cy="2285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MAX</a:t>
              </a:r>
            </a:p>
          </p:txBody>
        </p:sp>
        <p:sp>
          <p:nvSpPr>
            <p:cNvPr id="500" name="TextBox 126"/>
            <p:cNvSpPr txBox="1"/>
            <p:nvPr/>
          </p:nvSpPr>
          <p:spPr>
            <a:xfrm>
              <a:off x="-1" y="-2"/>
              <a:ext cx="1076285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algn="ctr">
                <a:defRPr b="1" sz="1000" u="sng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LTE RSRP (dBm)</a:t>
              </a:r>
            </a:p>
          </p:txBody>
        </p:sp>
      </p:grpSp>
      <p:sp>
        <p:nvSpPr>
          <p:cNvPr id="502" name="Rectangle 127"/>
          <p:cNvSpPr txBox="1"/>
          <p:nvPr/>
        </p:nvSpPr>
        <p:spPr>
          <a:xfrm>
            <a:off x="12352687" y="1531651"/>
            <a:ext cx="535696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LEGEND</a:t>
            </a:r>
          </a:p>
        </p:txBody>
      </p:sp>
      <p:sp>
        <p:nvSpPr>
          <p:cNvPr id="503" name="Rectangle 63"/>
          <p:cNvSpPr txBox="1"/>
          <p:nvPr/>
        </p:nvSpPr>
        <p:spPr>
          <a:xfrm>
            <a:off x="3250495" y="10088032"/>
            <a:ext cx="2932902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1800MHz</a:t>
            </a:r>
          </a:p>
        </p:txBody>
      </p:sp>
      <p:sp>
        <p:nvSpPr>
          <p:cNvPr id="504" name="DRAWN:  &lt;D&gt;"/>
          <p:cNvSpPr txBox="1"/>
          <p:nvPr/>
        </p:nvSpPr>
        <p:spPr>
          <a:xfrm>
            <a:off x="12299064" y="9281572"/>
            <a:ext cx="596721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</a:defRPr>
            </a:pPr>
            <a:r>
              <a:t>DRAWN:  </a:t>
            </a:r>
            <a:r>
              <a:rPr>
                <a:solidFill>
                  <a:srgbClr val="000000"/>
                </a:solidFill>
              </a:rPr>
              <a:t>&lt;D&gt;</a:t>
            </a:r>
          </a:p>
        </p:txBody>
      </p:sp>
      <p:sp>
        <p:nvSpPr>
          <p:cNvPr id="505" name="CHECKED: &lt;C&gt;"/>
          <p:cNvSpPr txBox="1"/>
          <p:nvPr/>
        </p:nvSpPr>
        <p:spPr>
          <a:xfrm>
            <a:off x="13136050" y="9281572"/>
            <a:ext cx="663098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CHECKED: </a:t>
            </a:r>
            <a:r>
              <a:rPr>
                <a:solidFill>
                  <a:srgbClr val="000000"/>
                </a:solidFill>
              </a:rPr>
              <a:t>&lt;C&gt;</a:t>
            </a:r>
          </a:p>
        </p:txBody>
      </p:sp>
      <p:sp>
        <p:nvSpPr>
          <p:cNvPr id="506" name="APPROVED: &lt;A&gt;"/>
          <p:cNvSpPr txBox="1"/>
          <p:nvPr/>
        </p:nvSpPr>
        <p:spPr>
          <a:xfrm>
            <a:off x="14039415" y="9281572"/>
            <a:ext cx="709756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APPROVED: </a:t>
            </a:r>
            <a:r>
              <a:rPr>
                <a:solidFill>
                  <a:srgbClr val="000000"/>
                </a:solidFill>
              </a:rPr>
              <a:t>&lt;A&gt;</a:t>
            </a:r>
          </a:p>
        </p:txBody>
      </p:sp>
      <p:sp>
        <p:nvSpPr>
          <p:cNvPr id="507" name="&lt;P01&gt;"/>
          <p:cNvSpPr txBox="1"/>
          <p:nvPr/>
        </p:nvSpPr>
        <p:spPr>
          <a:xfrm>
            <a:off x="12598435" y="9708097"/>
            <a:ext cx="328719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&lt;P01&gt;</a:t>
            </a:r>
          </a:p>
        </p:txBody>
      </p:sp>
      <p:sp>
        <p:nvSpPr>
          <p:cNvPr id="508" name="&lt;P02&gt;"/>
          <p:cNvSpPr txBox="1"/>
          <p:nvPr/>
        </p:nvSpPr>
        <p:spPr>
          <a:xfrm>
            <a:off x="12569541" y="9851239"/>
            <a:ext cx="328718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&lt;P02&gt;</a:t>
            </a:r>
          </a:p>
        </p:txBody>
      </p:sp>
      <p:sp>
        <p:nvSpPr>
          <p:cNvPr id="509" name="&lt;NUM&gt;"/>
          <p:cNvSpPr txBox="1"/>
          <p:nvPr/>
        </p:nvSpPr>
        <p:spPr>
          <a:xfrm>
            <a:off x="14324158" y="9149660"/>
            <a:ext cx="366670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600"/>
            </a:lvl1pPr>
          </a:lstStyle>
          <a:p>
            <a:pPr/>
            <a:r>
              <a:t>&lt;NUM&gt;</a:t>
            </a:r>
          </a:p>
        </p:txBody>
      </p:sp>
      <p:sp>
        <p:nvSpPr>
          <p:cNvPr id="510" name="&lt;&lt;logo&gt;&gt;"/>
          <p:cNvSpPr txBox="1"/>
          <p:nvPr/>
        </p:nvSpPr>
        <p:spPr>
          <a:xfrm>
            <a:off x="13306366" y="875552"/>
            <a:ext cx="1054156" cy="3401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0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&lt;&lt;logo&gt;&gt;</a:t>
            </a:r>
          </a:p>
        </p:txBody>
      </p:sp>
      <p:sp>
        <p:nvSpPr>
          <p:cNvPr id="5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18_LTE SNI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TextBox 66"/>
          <p:cNvSpPr txBox="1"/>
          <p:nvPr/>
        </p:nvSpPr>
        <p:spPr>
          <a:xfrm>
            <a:off x="13525788" y="9201184"/>
            <a:ext cx="130066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SHEET:</a:t>
            </a:r>
          </a:p>
        </p:txBody>
      </p:sp>
      <p:sp>
        <p:nvSpPr>
          <p:cNvPr id="519" name="Freeform 10"/>
          <p:cNvSpPr/>
          <p:nvPr/>
        </p:nvSpPr>
        <p:spPr>
          <a:xfrm flipH="1">
            <a:off x="12234861" y="209548"/>
            <a:ext cx="1" cy="10224004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20" name="Freeform 11"/>
          <p:cNvSpPr/>
          <p:nvPr/>
        </p:nvSpPr>
        <p:spPr>
          <a:xfrm>
            <a:off x="12230100" y="702182"/>
            <a:ext cx="2646003" cy="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21" name="TextBox 15"/>
          <p:cNvSpPr txBox="1"/>
          <p:nvPr/>
        </p:nvSpPr>
        <p:spPr>
          <a:xfrm>
            <a:off x="12339755" y="6726997"/>
            <a:ext cx="2522705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400">
                <a:solidFill>
                  <a:srgbClr val="A6A6A6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RF PREDICTIONS</a:t>
            </a:r>
          </a:p>
        </p:txBody>
      </p:sp>
      <p:sp>
        <p:nvSpPr>
          <p:cNvPr id="522" name="TextBox 17"/>
          <p:cNvSpPr txBox="1"/>
          <p:nvPr/>
        </p:nvSpPr>
        <p:spPr>
          <a:xfrm>
            <a:off x="12253914" y="7872499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STATION</a:t>
            </a:r>
          </a:p>
        </p:txBody>
      </p:sp>
      <p:sp>
        <p:nvSpPr>
          <p:cNvPr id="523" name="Freeform 45"/>
          <p:cNvSpPr/>
          <p:nvPr/>
        </p:nvSpPr>
        <p:spPr>
          <a:xfrm>
            <a:off x="12230100" y="8848334"/>
            <a:ext cx="2646003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24" name="Freeform 67"/>
          <p:cNvSpPr/>
          <p:nvPr/>
        </p:nvSpPr>
        <p:spPr>
          <a:xfrm>
            <a:off x="13545545" y="6970361"/>
            <a:ext cx="3" cy="890405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25" name="TextBox 75"/>
          <p:cNvSpPr txBox="1"/>
          <p:nvPr/>
        </p:nvSpPr>
        <p:spPr>
          <a:xfrm>
            <a:off x="12234160" y="9470638"/>
            <a:ext cx="259229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DRAWING HISTORY</a:t>
            </a:r>
          </a:p>
        </p:txBody>
      </p:sp>
      <p:sp>
        <p:nvSpPr>
          <p:cNvPr id="526" name="Freeform 76"/>
          <p:cNvSpPr/>
          <p:nvPr/>
        </p:nvSpPr>
        <p:spPr>
          <a:xfrm>
            <a:off x="12233492" y="9612058"/>
            <a:ext cx="2636007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27" name="TextBox 77"/>
          <p:cNvSpPr txBox="1"/>
          <p:nvPr/>
        </p:nvSpPr>
        <p:spPr>
          <a:xfrm>
            <a:off x="12507654" y="9632305"/>
            <a:ext cx="51028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DATE</a:t>
            </a:r>
          </a:p>
        </p:txBody>
      </p:sp>
      <p:sp>
        <p:nvSpPr>
          <p:cNvPr id="528" name="Freeform 79"/>
          <p:cNvSpPr/>
          <p:nvPr/>
        </p:nvSpPr>
        <p:spPr>
          <a:xfrm>
            <a:off x="12513692" y="9612117"/>
            <a:ext cx="4" cy="821437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29" name="TextBox 80"/>
          <p:cNvSpPr txBox="1"/>
          <p:nvPr/>
        </p:nvSpPr>
        <p:spPr>
          <a:xfrm>
            <a:off x="12233491" y="9634148"/>
            <a:ext cx="26032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ISSUE</a:t>
            </a:r>
          </a:p>
        </p:txBody>
      </p:sp>
      <p:sp>
        <p:nvSpPr>
          <p:cNvPr id="530" name="Freeform 82"/>
          <p:cNvSpPr/>
          <p:nvPr/>
        </p:nvSpPr>
        <p:spPr>
          <a:xfrm>
            <a:off x="12236067" y="9736835"/>
            <a:ext cx="2636007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31" name="Freeform 83"/>
          <p:cNvSpPr/>
          <p:nvPr/>
        </p:nvSpPr>
        <p:spPr>
          <a:xfrm>
            <a:off x="13052420" y="9614212"/>
            <a:ext cx="4" cy="824700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32" name="TextBox 84"/>
          <p:cNvSpPr txBox="1"/>
          <p:nvPr/>
        </p:nvSpPr>
        <p:spPr>
          <a:xfrm>
            <a:off x="13058443" y="9631360"/>
            <a:ext cx="178161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DESCRIPTION</a:t>
            </a:r>
          </a:p>
        </p:txBody>
      </p:sp>
      <p:sp>
        <p:nvSpPr>
          <p:cNvPr id="533" name="Freeform 86"/>
          <p:cNvSpPr/>
          <p:nvPr/>
        </p:nvSpPr>
        <p:spPr>
          <a:xfrm>
            <a:off x="12237973" y="9877804"/>
            <a:ext cx="2636008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34" name="Freeform 87"/>
          <p:cNvSpPr/>
          <p:nvPr/>
        </p:nvSpPr>
        <p:spPr>
          <a:xfrm>
            <a:off x="12236067" y="9878180"/>
            <a:ext cx="2636007" cy="3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35" name="Freeform 88"/>
          <p:cNvSpPr/>
          <p:nvPr/>
        </p:nvSpPr>
        <p:spPr>
          <a:xfrm>
            <a:off x="12237973" y="10019151"/>
            <a:ext cx="2636008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36" name="Freeform 90"/>
          <p:cNvSpPr/>
          <p:nvPr/>
        </p:nvSpPr>
        <p:spPr>
          <a:xfrm>
            <a:off x="12237973" y="10159355"/>
            <a:ext cx="2636008" cy="5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37" name="Straight Connector 2"/>
          <p:cNvSpPr/>
          <p:nvPr/>
        </p:nvSpPr>
        <p:spPr>
          <a:xfrm>
            <a:off x="12237973" y="6966880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38" name="Straight Connector 71"/>
          <p:cNvSpPr/>
          <p:nvPr/>
        </p:nvSpPr>
        <p:spPr>
          <a:xfrm>
            <a:off x="12237973" y="6678848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39" name="Freeform 90"/>
          <p:cNvSpPr/>
          <p:nvPr/>
        </p:nvSpPr>
        <p:spPr>
          <a:xfrm>
            <a:off x="12237973" y="10298666"/>
            <a:ext cx="2636008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40" name="TextBox 98"/>
          <p:cNvSpPr txBox="1"/>
          <p:nvPr/>
        </p:nvSpPr>
        <p:spPr>
          <a:xfrm>
            <a:off x="13070458" y="9889172"/>
            <a:ext cx="176304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 </a:t>
            </a:r>
          </a:p>
        </p:txBody>
      </p:sp>
      <p:sp>
        <p:nvSpPr>
          <p:cNvPr id="541" name="TextBox 74"/>
          <p:cNvSpPr txBox="1"/>
          <p:nvPr/>
        </p:nvSpPr>
        <p:spPr>
          <a:xfrm>
            <a:off x="12243182" y="9193193"/>
            <a:ext cx="126636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SCALE: </a:t>
            </a:r>
            <a:r>
              <a:rPr>
                <a:solidFill>
                  <a:srgbClr val="000000"/>
                </a:solidFill>
              </a:rPr>
              <a:t>NOT TO SCALE</a:t>
            </a:r>
          </a:p>
        </p:txBody>
      </p:sp>
      <p:sp>
        <p:nvSpPr>
          <p:cNvPr id="542" name="Freeform 47"/>
          <p:cNvSpPr/>
          <p:nvPr/>
        </p:nvSpPr>
        <p:spPr>
          <a:xfrm>
            <a:off x="12226542" y="9184596"/>
            <a:ext cx="2646004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43" name="TextBox 109"/>
          <p:cNvSpPr txBox="1"/>
          <p:nvPr/>
        </p:nvSpPr>
        <p:spPr>
          <a:xfrm>
            <a:off x="12253914" y="8867116"/>
            <a:ext cx="95997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DOCUMENT REFERENCE</a:t>
            </a:r>
          </a:p>
        </p:txBody>
      </p:sp>
      <p:sp>
        <p:nvSpPr>
          <p:cNvPr id="544" name="TextBox 110"/>
          <p:cNvSpPr txBox="1"/>
          <p:nvPr/>
        </p:nvSpPr>
        <p:spPr>
          <a:xfrm>
            <a:off x="12223991" y="8967075"/>
            <a:ext cx="259089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APPENDIX B – RF PREDICTIONS </a:t>
            </a:r>
          </a:p>
        </p:txBody>
      </p:sp>
      <p:sp>
        <p:nvSpPr>
          <p:cNvPr id="545" name="Straight Connector 115"/>
          <p:cNvSpPr/>
          <p:nvPr/>
        </p:nvSpPr>
        <p:spPr>
          <a:xfrm>
            <a:off x="12237973" y="7857455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46" name="Rectangle 118"/>
          <p:cNvSpPr txBox="1"/>
          <p:nvPr/>
        </p:nvSpPr>
        <p:spPr>
          <a:xfrm>
            <a:off x="12292583" y="374373"/>
            <a:ext cx="2524151" cy="243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0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COMMERCIAL MOBILE SERVICES</a:t>
            </a:r>
          </a:p>
        </p:txBody>
      </p:sp>
      <p:sp>
        <p:nvSpPr>
          <p:cNvPr id="547" name="Rectangle 3"/>
          <p:cNvSpPr/>
          <p:nvPr/>
        </p:nvSpPr>
        <p:spPr>
          <a:xfrm>
            <a:off x="0" y="1"/>
            <a:ext cx="15122525" cy="236989"/>
          </a:xfrm>
          <a:prstGeom prst="rect">
            <a:avLst/>
          </a:prstGeom>
          <a:solidFill>
            <a:srgbClr val="D91D49"/>
          </a:solidFill>
          <a:ln w="25400">
            <a:solidFill>
              <a:srgbClr val="D91D49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548" name="Freeform 47"/>
          <p:cNvSpPr/>
          <p:nvPr/>
        </p:nvSpPr>
        <p:spPr>
          <a:xfrm flipV="1">
            <a:off x="13531176" y="9183037"/>
            <a:ext cx="4" cy="124739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49" name="Rectangle 5"/>
          <p:cNvSpPr/>
          <p:nvPr/>
        </p:nvSpPr>
        <p:spPr>
          <a:xfrm>
            <a:off x="223628" y="261258"/>
            <a:ext cx="14646449" cy="10175448"/>
          </a:xfrm>
          <a:prstGeom prst="rect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550" name="TextBox 49"/>
          <p:cNvSpPr txBox="1"/>
          <p:nvPr/>
        </p:nvSpPr>
        <p:spPr>
          <a:xfrm>
            <a:off x="12253914" y="8285091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ADDRESS</a:t>
            </a:r>
          </a:p>
        </p:txBody>
      </p:sp>
      <p:sp>
        <p:nvSpPr>
          <p:cNvPr id="551" name="Freeform 45"/>
          <p:cNvSpPr/>
          <p:nvPr/>
        </p:nvSpPr>
        <p:spPr>
          <a:xfrm>
            <a:off x="12230100" y="8849604"/>
            <a:ext cx="2646003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52" name="Straight Connector 52"/>
          <p:cNvSpPr/>
          <p:nvPr/>
        </p:nvSpPr>
        <p:spPr>
          <a:xfrm>
            <a:off x="12237973" y="8270047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53" name="Freeform 47"/>
          <p:cNvSpPr/>
          <p:nvPr/>
        </p:nvSpPr>
        <p:spPr>
          <a:xfrm>
            <a:off x="12236067" y="9317742"/>
            <a:ext cx="2631525" cy="5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54" name="Freeform 48"/>
          <p:cNvSpPr/>
          <p:nvPr/>
        </p:nvSpPr>
        <p:spPr>
          <a:xfrm>
            <a:off x="12227249" y="9427722"/>
            <a:ext cx="2646003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55" name="Freeform 21"/>
          <p:cNvSpPr/>
          <p:nvPr/>
        </p:nvSpPr>
        <p:spPr>
          <a:xfrm>
            <a:off x="12959990" y="9317742"/>
            <a:ext cx="4" cy="10800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56" name="Freeform 67"/>
          <p:cNvSpPr/>
          <p:nvPr/>
        </p:nvSpPr>
        <p:spPr>
          <a:xfrm>
            <a:off x="13975212" y="9321118"/>
            <a:ext cx="4" cy="10813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57" name="TextBox 1"/>
          <p:cNvSpPr txBox="1"/>
          <p:nvPr/>
        </p:nvSpPr>
        <p:spPr>
          <a:xfrm>
            <a:off x="63497" y="10507980"/>
            <a:ext cx="77312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000000">
                    <a:alpha val="50000"/>
                  </a:srgbClr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[SEC=PROTECTED]</a:t>
            </a:r>
          </a:p>
        </p:txBody>
      </p:sp>
      <p:sp>
        <p:nvSpPr>
          <p:cNvPr id="558" name="Picture Placeholder 2"/>
          <p:cNvSpPr/>
          <p:nvPr/>
        </p:nvSpPr>
        <p:spPr>
          <a:xfrm>
            <a:off x="599800" y="508423"/>
            <a:ext cx="11233730" cy="936439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 defTabSz="1407968">
              <a:spcBef>
                <a:spcPts val="1200"/>
              </a:spcBef>
              <a:defRPr sz="5000"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559" name="TextBox 6"/>
          <p:cNvSpPr txBox="1"/>
          <p:nvPr/>
        </p:nvSpPr>
        <p:spPr>
          <a:xfrm>
            <a:off x="13549306" y="7032755"/>
            <a:ext cx="1284189" cy="63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BOLDYN NETWORKS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</a:t>
            </a:r>
            <a:r>
              <a:rPr baseline="30000"/>
              <a:t>nd</a:t>
            </a:r>
            <a:r>
              <a:t> FLOOR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 KINGDOM STREET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LONDON 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W2 6BD</a:t>
            </a:r>
          </a:p>
        </p:txBody>
      </p:sp>
      <p:sp>
        <p:nvSpPr>
          <p:cNvPr id="560" name="Freeform: Shape 7"/>
          <p:cNvSpPr/>
          <p:nvPr/>
        </p:nvSpPr>
        <p:spPr>
          <a:xfrm>
            <a:off x="12537433" y="7031193"/>
            <a:ext cx="705489" cy="6648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0873"/>
                </a:moveTo>
                <a:lnTo>
                  <a:pt x="21231" y="9061"/>
                </a:lnTo>
                <a:lnTo>
                  <a:pt x="20308" y="7567"/>
                </a:lnTo>
                <a:lnTo>
                  <a:pt x="18900" y="6563"/>
                </a:lnTo>
                <a:lnTo>
                  <a:pt x="17192" y="6196"/>
                </a:lnTo>
                <a:lnTo>
                  <a:pt x="6808" y="6196"/>
                </a:lnTo>
                <a:lnTo>
                  <a:pt x="6808" y="0"/>
                </a:lnTo>
                <a:lnTo>
                  <a:pt x="4131" y="0"/>
                </a:lnTo>
                <a:lnTo>
                  <a:pt x="4131" y="6196"/>
                </a:lnTo>
                <a:lnTo>
                  <a:pt x="0" y="6196"/>
                </a:lnTo>
                <a:lnTo>
                  <a:pt x="0" y="9037"/>
                </a:lnTo>
                <a:lnTo>
                  <a:pt x="4131" y="9037"/>
                </a:lnTo>
                <a:lnTo>
                  <a:pt x="4131" y="6196"/>
                </a:lnTo>
                <a:lnTo>
                  <a:pt x="6808" y="6196"/>
                </a:lnTo>
                <a:lnTo>
                  <a:pt x="6808" y="9037"/>
                </a:lnTo>
                <a:lnTo>
                  <a:pt x="18923" y="9037"/>
                </a:lnTo>
                <a:lnTo>
                  <a:pt x="18923" y="18759"/>
                </a:lnTo>
                <a:lnTo>
                  <a:pt x="6808" y="18759"/>
                </a:lnTo>
                <a:lnTo>
                  <a:pt x="6808" y="9037"/>
                </a:lnTo>
                <a:lnTo>
                  <a:pt x="4131" y="9037"/>
                </a:lnTo>
                <a:lnTo>
                  <a:pt x="4131" y="16922"/>
                </a:lnTo>
                <a:lnTo>
                  <a:pt x="4477" y="18735"/>
                </a:lnTo>
                <a:lnTo>
                  <a:pt x="5423" y="20229"/>
                </a:lnTo>
                <a:lnTo>
                  <a:pt x="6831" y="21233"/>
                </a:lnTo>
                <a:lnTo>
                  <a:pt x="8538" y="21600"/>
                </a:lnTo>
                <a:lnTo>
                  <a:pt x="17192" y="21600"/>
                </a:lnTo>
                <a:lnTo>
                  <a:pt x="18900" y="21233"/>
                </a:lnTo>
                <a:lnTo>
                  <a:pt x="20308" y="20229"/>
                </a:lnTo>
                <a:lnTo>
                  <a:pt x="21231" y="18759"/>
                </a:lnTo>
                <a:lnTo>
                  <a:pt x="21600" y="16922"/>
                </a:lnTo>
                <a:lnTo>
                  <a:pt x="21600" y="10873"/>
                </a:lnTo>
                <a:close/>
              </a:path>
            </a:pathLst>
          </a:custGeom>
          <a:solidFill>
            <a:srgbClr val="F5054F">
              <a:alpha val="29802"/>
            </a:srgb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561" name="TextBox 27"/>
          <p:cNvSpPr txBox="1"/>
          <p:nvPr/>
        </p:nvSpPr>
        <p:spPr>
          <a:xfrm>
            <a:off x="13056406" y="9758240"/>
            <a:ext cx="177709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Original Submission</a:t>
            </a:r>
          </a:p>
        </p:txBody>
      </p:sp>
      <p:sp>
        <p:nvSpPr>
          <p:cNvPr id="562" name="TextBox 28"/>
          <p:cNvSpPr txBox="1"/>
          <p:nvPr/>
        </p:nvSpPr>
        <p:spPr>
          <a:xfrm>
            <a:off x="12247271" y="9758240"/>
            <a:ext cx="22438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P01</a:t>
            </a:r>
          </a:p>
        </p:txBody>
      </p:sp>
      <p:sp>
        <p:nvSpPr>
          <p:cNvPr id="563" name="TextBox 30"/>
          <p:cNvSpPr txBox="1"/>
          <p:nvPr/>
        </p:nvSpPr>
        <p:spPr>
          <a:xfrm>
            <a:off x="12233457" y="8514819"/>
            <a:ext cx="260097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&lt;&lt;ADDRESS&gt;&gt;</a:t>
            </a:r>
          </a:p>
        </p:txBody>
      </p:sp>
      <p:sp>
        <p:nvSpPr>
          <p:cNvPr id="564" name="TextBox 31"/>
          <p:cNvSpPr txBox="1"/>
          <p:nvPr/>
        </p:nvSpPr>
        <p:spPr>
          <a:xfrm>
            <a:off x="12239090" y="7990071"/>
            <a:ext cx="260097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&lt;&lt;STATION_NAME&gt;&gt;</a:t>
            </a:r>
          </a:p>
        </p:txBody>
      </p:sp>
      <p:sp>
        <p:nvSpPr>
          <p:cNvPr id="565" name="TextBox 32"/>
          <p:cNvSpPr txBox="1"/>
          <p:nvPr/>
        </p:nvSpPr>
        <p:spPr>
          <a:xfrm>
            <a:off x="13056406" y="9904169"/>
            <a:ext cx="177709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Updated design</a:t>
            </a:r>
          </a:p>
        </p:txBody>
      </p:sp>
      <p:sp>
        <p:nvSpPr>
          <p:cNvPr id="566" name="TextBox 33"/>
          <p:cNvSpPr txBox="1"/>
          <p:nvPr/>
        </p:nvSpPr>
        <p:spPr>
          <a:xfrm>
            <a:off x="12247271" y="9904169"/>
            <a:ext cx="22438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P02</a:t>
            </a:r>
          </a:p>
        </p:txBody>
      </p:sp>
      <p:pic>
        <p:nvPicPr>
          <p:cNvPr id="567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2233457" y="722526"/>
            <a:ext cx="2633704" cy="646233"/>
          </a:xfrm>
          <a:prstGeom prst="rect">
            <a:avLst/>
          </a:prstGeom>
          <a:ln w="12700">
            <a:miter lim="400000"/>
          </a:ln>
        </p:spPr>
      </p:pic>
      <p:sp>
        <p:nvSpPr>
          <p:cNvPr id="568" name="Rectangle 62"/>
          <p:cNvSpPr txBox="1"/>
          <p:nvPr/>
        </p:nvSpPr>
        <p:spPr>
          <a:xfrm>
            <a:off x="1031881" y="10077207"/>
            <a:ext cx="1398603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LTE</a:t>
            </a:r>
          </a:p>
        </p:txBody>
      </p:sp>
      <p:sp>
        <p:nvSpPr>
          <p:cNvPr id="569" name="Freeform 55"/>
          <p:cNvSpPr/>
          <p:nvPr/>
        </p:nvSpPr>
        <p:spPr>
          <a:xfrm>
            <a:off x="9227818" y="10104121"/>
            <a:ext cx="3" cy="335284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70" name="Freeform 56"/>
          <p:cNvSpPr/>
          <p:nvPr/>
        </p:nvSpPr>
        <p:spPr>
          <a:xfrm>
            <a:off x="6228517" y="10104121"/>
            <a:ext cx="4" cy="335284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71" name="Freeform 57"/>
          <p:cNvSpPr/>
          <p:nvPr/>
        </p:nvSpPr>
        <p:spPr>
          <a:xfrm>
            <a:off x="3204778" y="10104121"/>
            <a:ext cx="4" cy="335284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72" name="Rectangle 4"/>
          <p:cNvSpPr txBox="1"/>
          <p:nvPr/>
        </p:nvSpPr>
        <p:spPr>
          <a:xfrm>
            <a:off x="271007" y="10249420"/>
            <a:ext cx="2888053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Technology </a:t>
            </a:r>
          </a:p>
        </p:txBody>
      </p:sp>
      <p:sp>
        <p:nvSpPr>
          <p:cNvPr id="573" name="Rectangle 5"/>
          <p:cNvSpPr txBox="1"/>
          <p:nvPr/>
        </p:nvSpPr>
        <p:spPr>
          <a:xfrm>
            <a:off x="3250501" y="10249612"/>
            <a:ext cx="2924494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Frequency Band</a:t>
            </a:r>
          </a:p>
        </p:txBody>
      </p:sp>
      <p:sp>
        <p:nvSpPr>
          <p:cNvPr id="574" name="Rectangle 6"/>
          <p:cNvSpPr txBox="1"/>
          <p:nvPr/>
        </p:nvSpPr>
        <p:spPr>
          <a:xfrm>
            <a:off x="6272324" y="10254543"/>
            <a:ext cx="2901971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Plot</a:t>
            </a:r>
          </a:p>
        </p:txBody>
      </p:sp>
      <p:sp>
        <p:nvSpPr>
          <p:cNvPr id="575" name="Rectangle 7"/>
          <p:cNvSpPr txBox="1"/>
          <p:nvPr/>
        </p:nvSpPr>
        <p:spPr>
          <a:xfrm>
            <a:off x="9273537" y="10246400"/>
            <a:ext cx="2912501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Floor Level</a:t>
            </a:r>
          </a:p>
        </p:txBody>
      </p:sp>
      <p:sp>
        <p:nvSpPr>
          <p:cNvPr id="576" name="Rectangle 8"/>
          <p:cNvSpPr/>
          <p:nvPr/>
        </p:nvSpPr>
        <p:spPr>
          <a:xfrm>
            <a:off x="225282" y="10279246"/>
            <a:ext cx="12004820" cy="157181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577" name="Rectangle 9"/>
          <p:cNvSpPr/>
          <p:nvPr/>
        </p:nvSpPr>
        <p:spPr>
          <a:xfrm>
            <a:off x="225282" y="10103973"/>
            <a:ext cx="12004820" cy="174458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578" name="Rectangle 35"/>
          <p:cNvSpPr txBox="1"/>
          <p:nvPr/>
        </p:nvSpPr>
        <p:spPr>
          <a:xfrm>
            <a:off x="12352687" y="1531651"/>
            <a:ext cx="535696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LEGEND</a:t>
            </a:r>
          </a:p>
        </p:txBody>
      </p:sp>
      <p:grpSp>
        <p:nvGrpSpPr>
          <p:cNvPr id="581" name="Rectangle 54"/>
          <p:cNvGrpSpPr/>
          <p:nvPr/>
        </p:nvGrpSpPr>
        <p:grpSpPr>
          <a:xfrm>
            <a:off x="12242777" y="6320589"/>
            <a:ext cx="2627302" cy="392467"/>
            <a:chOff x="-1" y="0"/>
            <a:chExt cx="2627301" cy="392465"/>
          </a:xfrm>
        </p:grpSpPr>
        <p:sp>
          <p:nvSpPr>
            <p:cNvPr id="579" name="Rectangle"/>
            <p:cNvSpPr/>
            <p:nvPr/>
          </p:nvSpPr>
          <p:spPr>
            <a:xfrm>
              <a:off x="-2" y="34217"/>
              <a:ext cx="2627302" cy="324043"/>
            </a:xfrm>
            <a:prstGeom prst="rect">
              <a:avLst/>
            </a:prstGeom>
            <a:solidFill>
              <a:srgbClr val="D91D49"/>
            </a:solidFill>
            <a:ln w="19050" cap="rnd">
              <a:solidFill>
                <a:srgbClr val="D91D49"/>
              </a:solidFill>
              <a:prstDash val="solid"/>
              <a:bevel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580" name="LTE 1800MHz"/>
            <p:cNvSpPr txBox="1"/>
            <p:nvPr/>
          </p:nvSpPr>
          <p:spPr>
            <a:xfrm>
              <a:off x="55243" y="-1"/>
              <a:ext cx="2516811" cy="39246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b="1" sz="24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LTE 1800MHz</a:t>
              </a:r>
            </a:p>
          </p:txBody>
        </p:sp>
      </p:grpSp>
      <p:sp>
        <p:nvSpPr>
          <p:cNvPr id="582" name="Rectangle 56"/>
          <p:cNvSpPr txBox="1"/>
          <p:nvPr/>
        </p:nvSpPr>
        <p:spPr>
          <a:xfrm>
            <a:off x="6274834" y="10083707"/>
            <a:ext cx="2896896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SNIR (dB)</a:t>
            </a:r>
          </a:p>
        </p:txBody>
      </p:sp>
      <p:sp>
        <p:nvSpPr>
          <p:cNvPr id="583" name="Rectangle 57"/>
          <p:cNvSpPr txBox="1"/>
          <p:nvPr/>
        </p:nvSpPr>
        <p:spPr>
          <a:xfrm>
            <a:off x="3250495" y="10088032"/>
            <a:ext cx="2932902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1800MHz</a:t>
            </a:r>
          </a:p>
        </p:txBody>
      </p:sp>
      <p:grpSp>
        <p:nvGrpSpPr>
          <p:cNvPr id="600" name="Group 43"/>
          <p:cNvGrpSpPr/>
          <p:nvPr/>
        </p:nvGrpSpPr>
        <p:grpSpPr>
          <a:xfrm>
            <a:off x="12144183" y="1695397"/>
            <a:ext cx="1269045" cy="1164242"/>
            <a:chOff x="0" y="0"/>
            <a:chExt cx="1269044" cy="1164241"/>
          </a:xfrm>
        </p:grpSpPr>
        <p:grpSp>
          <p:nvGrpSpPr>
            <p:cNvPr id="589" name="Group 55"/>
            <p:cNvGrpSpPr/>
            <p:nvPr/>
          </p:nvGrpSpPr>
          <p:grpSpPr>
            <a:xfrm>
              <a:off x="255734" y="284359"/>
              <a:ext cx="619351" cy="879882"/>
              <a:chOff x="-1" y="0"/>
              <a:chExt cx="619350" cy="879881"/>
            </a:xfrm>
          </p:grpSpPr>
          <p:sp>
            <p:nvSpPr>
              <p:cNvPr id="584" name="Rectangle 71"/>
              <p:cNvSpPr/>
              <p:nvPr/>
            </p:nvSpPr>
            <p:spPr>
              <a:xfrm>
                <a:off x="-2" y="-1"/>
                <a:ext cx="619003" cy="177169"/>
              </a:xfrm>
              <a:prstGeom prst="rect">
                <a:avLst/>
              </a:prstGeom>
              <a:solidFill>
                <a:srgbClr val="28E3FC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585" name="Rectangle 72"/>
              <p:cNvSpPr/>
              <p:nvPr/>
            </p:nvSpPr>
            <p:spPr>
              <a:xfrm>
                <a:off x="-1" y="177166"/>
                <a:ext cx="619003" cy="177169"/>
              </a:xfrm>
              <a:prstGeom prst="rect">
                <a:avLst/>
              </a:prstGeom>
              <a:solidFill>
                <a:srgbClr val="00FF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586" name="Rectangle 73"/>
              <p:cNvSpPr/>
              <p:nvPr/>
            </p:nvSpPr>
            <p:spPr>
              <a:xfrm>
                <a:off x="347" y="354332"/>
                <a:ext cx="619003" cy="177169"/>
              </a:xfrm>
              <a:prstGeom prst="rect">
                <a:avLst/>
              </a:prstGeom>
              <a:solidFill>
                <a:srgbClr val="FFFF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587" name="Rectangle 74"/>
              <p:cNvSpPr/>
              <p:nvPr/>
            </p:nvSpPr>
            <p:spPr>
              <a:xfrm>
                <a:off x="347" y="531499"/>
                <a:ext cx="619003" cy="177169"/>
              </a:xfrm>
              <a:prstGeom prst="rect">
                <a:avLst/>
              </a:prstGeom>
              <a:solidFill>
                <a:srgbClr val="FFC0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588" name="Rectangle 75"/>
              <p:cNvSpPr/>
              <p:nvPr/>
            </p:nvSpPr>
            <p:spPr>
              <a:xfrm>
                <a:off x="347" y="702712"/>
                <a:ext cx="619003" cy="177169"/>
              </a:xfrm>
              <a:prstGeom prst="rect">
                <a:avLst/>
              </a:prstGeom>
              <a:solidFill>
                <a:srgbClr val="FF00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</p:grpSp>
        <p:sp>
          <p:nvSpPr>
            <p:cNvPr id="590" name="Straight Connector 60"/>
            <p:cNvSpPr/>
            <p:nvPr/>
          </p:nvSpPr>
          <p:spPr>
            <a:xfrm>
              <a:off x="811838" y="816671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591" name="Straight Connector 61"/>
            <p:cNvSpPr/>
            <p:nvPr/>
          </p:nvSpPr>
          <p:spPr>
            <a:xfrm>
              <a:off x="812087" y="638693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592" name="Straight Connector 63"/>
            <p:cNvSpPr/>
            <p:nvPr/>
          </p:nvSpPr>
          <p:spPr>
            <a:xfrm>
              <a:off x="812087" y="461528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593" name="Straight Connector 64"/>
            <p:cNvSpPr/>
            <p:nvPr/>
          </p:nvSpPr>
          <p:spPr>
            <a:xfrm>
              <a:off x="830248" y="987070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594" name="TextBox 65"/>
            <p:cNvSpPr txBox="1"/>
            <p:nvPr/>
          </p:nvSpPr>
          <p:spPr>
            <a:xfrm>
              <a:off x="-1" y="-1"/>
              <a:ext cx="1013468" cy="2285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algn="ctr" defTabSz="914371">
                <a:defRPr b="1" sz="1000" u="sng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SNIR (dB)</a:t>
              </a:r>
            </a:p>
          </p:txBody>
        </p:sp>
        <p:sp>
          <p:nvSpPr>
            <p:cNvPr id="595" name="TextBox 66"/>
            <p:cNvSpPr txBox="1"/>
            <p:nvPr/>
          </p:nvSpPr>
          <p:spPr>
            <a:xfrm>
              <a:off x="880765" y="136855"/>
              <a:ext cx="333531" cy="2285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Max</a:t>
              </a:r>
            </a:p>
          </p:txBody>
        </p:sp>
        <p:sp>
          <p:nvSpPr>
            <p:cNvPr id="596" name="TextBox 67"/>
            <p:cNvSpPr txBox="1"/>
            <p:nvPr/>
          </p:nvSpPr>
          <p:spPr>
            <a:xfrm>
              <a:off x="935956" y="339738"/>
              <a:ext cx="324837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 &gt;20</a:t>
              </a:r>
            </a:p>
          </p:txBody>
        </p:sp>
        <p:sp>
          <p:nvSpPr>
            <p:cNvPr id="597" name="TextBox 68"/>
            <p:cNvSpPr txBox="1"/>
            <p:nvPr/>
          </p:nvSpPr>
          <p:spPr>
            <a:xfrm>
              <a:off x="944207" y="523745"/>
              <a:ext cx="324837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 &gt;14</a:t>
              </a:r>
            </a:p>
          </p:txBody>
        </p:sp>
        <p:sp>
          <p:nvSpPr>
            <p:cNvPr id="598" name="TextBox 69"/>
            <p:cNvSpPr txBox="1"/>
            <p:nvPr/>
          </p:nvSpPr>
          <p:spPr>
            <a:xfrm>
              <a:off x="980238" y="695082"/>
              <a:ext cx="260469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6</a:t>
              </a:r>
            </a:p>
          </p:txBody>
        </p:sp>
        <p:sp>
          <p:nvSpPr>
            <p:cNvPr id="599" name="TextBox 70"/>
            <p:cNvSpPr txBox="1"/>
            <p:nvPr/>
          </p:nvSpPr>
          <p:spPr>
            <a:xfrm>
              <a:off x="977068" y="876824"/>
              <a:ext cx="260469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0</a:t>
              </a:r>
            </a:p>
          </p:txBody>
        </p:sp>
      </p:grpSp>
      <p:sp>
        <p:nvSpPr>
          <p:cNvPr id="601" name="DRAWN:  &lt;D&gt;"/>
          <p:cNvSpPr txBox="1"/>
          <p:nvPr/>
        </p:nvSpPr>
        <p:spPr>
          <a:xfrm>
            <a:off x="12299064" y="9274488"/>
            <a:ext cx="596721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</a:defRPr>
            </a:pPr>
            <a:r>
              <a:t>DRAWN:  </a:t>
            </a:r>
            <a:r>
              <a:rPr>
                <a:solidFill>
                  <a:srgbClr val="000000"/>
                </a:solidFill>
              </a:rPr>
              <a:t>&lt;D&gt;</a:t>
            </a:r>
          </a:p>
        </p:txBody>
      </p:sp>
      <p:sp>
        <p:nvSpPr>
          <p:cNvPr id="602" name="CHECKED: &lt;C&gt;"/>
          <p:cNvSpPr txBox="1"/>
          <p:nvPr/>
        </p:nvSpPr>
        <p:spPr>
          <a:xfrm>
            <a:off x="13136050" y="9282393"/>
            <a:ext cx="663098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CHECKED: </a:t>
            </a:r>
            <a:r>
              <a:rPr>
                <a:solidFill>
                  <a:srgbClr val="000000"/>
                </a:solidFill>
              </a:rPr>
              <a:t>&lt;C&gt;</a:t>
            </a:r>
          </a:p>
        </p:txBody>
      </p:sp>
      <p:sp>
        <p:nvSpPr>
          <p:cNvPr id="603" name="APPROVED: &lt;A&gt;"/>
          <p:cNvSpPr txBox="1"/>
          <p:nvPr/>
        </p:nvSpPr>
        <p:spPr>
          <a:xfrm>
            <a:off x="14039415" y="9288988"/>
            <a:ext cx="709756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APPROVED: </a:t>
            </a:r>
            <a:r>
              <a:rPr>
                <a:solidFill>
                  <a:srgbClr val="000000"/>
                </a:solidFill>
              </a:rPr>
              <a:t>&lt;A&gt;</a:t>
            </a:r>
          </a:p>
        </p:txBody>
      </p:sp>
      <p:sp>
        <p:nvSpPr>
          <p:cNvPr id="604" name="&lt;P01&gt;"/>
          <p:cNvSpPr txBox="1"/>
          <p:nvPr/>
        </p:nvSpPr>
        <p:spPr>
          <a:xfrm>
            <a:off x="12598435" y="9704958"/>
            <a:ext cx="328719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&lt;P01&gt;</a:t>
            </a:r>
          </a:p>
        </p:txBody>
      </p:sp>
      <p:sp>
        <p:nvSpPr>
          <p:cNvPr id="605" name="&lt;P02&gt;"/>
          <p:cNvSpPr txBox="1"/>
          <p:nvPr/>
        </p:nvSpPr>
        <p:spPr>
          <a:xfrm>
            <a:off x="12592863" y="9857189"/>
            <a:ext cx="328718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&lt;P02&gt;</a:t>
            </a:r>
          </a:p>
        </p:txBody>
      </p:sp>
      <p:sp>
        <p:nvSpPr>
          <p:cNvPr id="606" name="&lt;NUM&gt;"/>
          <p:cNvSpPr txBox="1"/>
          <p:nvPr/>
        </p:nvSpPr>
        <p:spPr>
          <a:xfrm>
            <a:off x="14298897" y="9155237"/>
            <a:ext cx="366670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600"/>
            </a:lvl1pPr>
          </a:lstStyle>
          <a:p>
            <a:pPr/>
            <a:r>
              <a:t>&lt;NUM&gt;</a:t>
            </a:r>
          </a:p>
        </p:txBody>
      </p:sp>
      <p:sp>
        <p:nvSpPr>
          <p:cNvPr id="607" name="&lt;&lt;logo&gt;&gt;"/>
          <p:cNvSpPr txBox="1"/>
          <p:nvPr/>
        </p:nvSpPr>
        <p:spPr>
          <a:xfrm>
            <a:off x="13287390" y="875552"/>
            <a:ext cx="1054157" cy="3401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0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&lt;&lt;logo&gt;&gt;</a:t>
            </a:r>
          </a:p>
        </p:txBody>
      </p:sp>
      <p:sp>
        <p:nvSpPr>
          <p:cNvPr id="60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21_LTE RSR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TextBox 66"/>
          <p:cNvSpPr txBox="1"/>
          <p:nvPr/>
        </p:nvSpPr>
        <p:spPr>
          <a:xfrm>
            <a:off x="13525788" y="9201184"/>
            <a:ext cx="130066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SHEET:</a:t>
            </a:r>
          </a:p>
        </p:txBody>
      </p:sp>
      <p:sp>
        <p:nvSpPr>
          <p:cNvPr id="616" name="Freeform 10"/>
          <p:cNvSpPr/>
          <p:nvPr/>
        </p:nvSpPr>
        <p:spPr>
          <a:xfrm flipH="1">
            <a:off x="12234861" y="209548"/>
            <a:ext cx="1" cy="10224004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17" name="Freeform 11"/>
          <p:cNvSpPr/>
          <p:nvPr/>
        </p:nvSpPr>
        <p:spPr>
          <a:xfrm>
            <a:off x="12230100" y="702182"/>
            <a:ext cx="2646003" cy="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18" name="TextBox 15"/>
          <p:cNvSpPr txBox="1"/>
          <p:nvPr/>
        </p:nvSpPr>
        <p:spPr>
          <a:xfrm>
            <a:off x="12339755" y="6726997"/>
            <a:ext cx="2522705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400">
                <a:solidFill>
                  <a:srgbClr val="A6A6A6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RF PREDICTIONS</a:t>
            </a:r>
          </a:p>
        </p:txBody>
      </p:sp>
      <p:sp>
        <p:nvSpPr>
          <p:cNvPr id="619" name="TextBox 17"/>
          <p:cNvSpPr txBox="1"/>
          <p:nvPr/>
        </p:nvSpPr>
        <p:spPr>
          <a:xfrm>
            <a:off x="12253914" y="7872499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STATION</a:t>
            </a:r>
          </a:p>
        </p:txBody>
      </p:sp>
      <p:sp>
        <p:nvSpPr>
          <p:cNvPr id="620" name="Freeform 45"/>
          <p:cNvSpPr/>
          <p:nvPr/>
        </p:nvSpPr>
        <p:spPr>
          <a:xfrm>
            <a:off x="12230100" y="8848334"/>
            <a:ext cx="2646003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21" name="Freeform 67"/>
          <p:cNvSpPr/>
          <p:nvPr/>
        </p:nvSpPr>
        <p:spPr>
          <a:xfrm>
            <a:off x="13545545" y="6970361"/>
            <a:ext cx="3" cy="890405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22" name="TextBox 75"/>
          <p:cNvSpPr txBox="1"/>
          <p:nvPr/>
        </p:nvSpPr>
        <p:spPr>
          <a:xfrm>
            <a:off x="12234160" y="9470638"/>
            <a:ext cx="259229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DRAWING HISTORY</a:t>
            </a:r>
          </a:p>
        </p:txBody>
      </p:sp>
      <p:sp>
        <p:nvSpPr>
          <p:cNvPr id="623" name="Freeform 76"/>
          <p:cNvSpPr/>
          <p:nvPr/>
        </p:nvSpPr>
        <p:spPr>
          <a:xfrm>
            <a:off x="12233492" y="9612058"/>
            <a:ext cx="2636007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24" name="TextBox 77"/>
          <p:cNvSpPr txBox="1"/>
          <p:nvPr/>
        </p:nvSpPr>
        <p:spPr>
          <a:xfrm>
            <a:off x="12507654" y="9632305"/>
            <a:ext cx="51028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DATE</a:t>
            </a:r>
          </a:p>
        </p:txBody>
      </p:sp>
      <p:sp>
        <p:nvSpPr>
          <p:cNvPr id="625" name="Freeform 79"/>
          <p:cNvSpPr/>
          <p:nvPr/>
        </p:nvSpPr>
        <p:spPr>
          <a:xfrm>
            <a:off x="12513692" y="9612117"/>
            <a:ext cx="4" cy="821437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26" name="TextBox 80"/>
          <p:cNvSpPr txBox="1"/>
          <p:nvPr/>
        </p:nvSpPr>
        <p:spPr>
          <a:xfrm>
            <a:off x="12233491" y="9634148"/>
            <a:ext cx="26032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ISSUE</a:t>
            </a:r>
          </a:p>
        </p:txBody>
      </p:sp>
      <p:sp>
        <p:nvSpPr>
          <p:cNvPr id="627" name="Freeform 82"/>
          <p:cNvSpPr/>
          <p:nvPr/>
        </p:nvSpPr>
        <p:spPr>
          <a:xfrm>
            <a:off x="12236067" y="9736835"/>
            <a:ext cx="2636007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28" name="Freeform 83"/>
          <p:cNvSpPr/>
          <p:nvPr/>
        </p:nvSpPr>
        <p:spPr>
          <a:xfrm>
            <a:off x="13052420" y="9614212"/>
            <a:ext cx="4" cy="824700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29" name="TextBox 84"/>
          <p:cNvSpPr txBox="1"/>
          <p:nvPr/>
        </p:nvSpPr>
        <p:spPr>
          <a:xfrm>
            <a:off x="13058443" y="9631360"/>
            <a:ext cx="178161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DESCRIPTION</a:t>
            </a:r>
          </a:p>
        </p:txBody>
      </p:sp>
      <p:sp>
        <p:nvSpPr>
          <p:cNvPr id="630" name="Freeform 86"/>
          <p:cNvSpPr/>
          <p:nvPr/>
        </p:nvSpPr>
        <p:spPr>
          <a:xfrm>
            <a:off x="12237973" y="9877804"/>
            <a:ext cx="2636008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31" name="Freeform 87"/>
          <p:cNvSpPr/>
          <p:nvPr/>
        </p:nvSpPr>
        <p:spPr>
          <a:xfrm>
            <a:off x="12236067" y="9878180"/>
            <a:ext cx="2636007" cy="3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32" name="Freeform 88"/>
          <p:cNvSpPr/>
          <p:nvPr/>
        </p:nvSpPr>
        <p:spPr>
          <a:xfrm>
            <a:off x="12237973" y="10019151"/>
            <a:ext cx="2636008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33" name="Freeform 90"/>
          <p:cNvSpPr/>
          <p:nvPr/>
        </p:nvSpPr>
        <p:spPr>
          <a:xfrm>
            <a:off x="12237973" y="10159355"/>
            <a:ext cx="2636008" cy="5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34" name="Straight Connector 2"/>
          <p:cNvSpPr/>
          <p:nvPr/>
        </p:nvSpPr>
        <p:spPr>
          <a:xfrm>
            <a:off x="12237973" y="6966880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35" name="Straight Connector 71"/>
          <p:cNvSpPr/>
          <p:nvPr/>
        </p:nvSpPr>
        <p:spPr>
          <a:xfrm>
            <a:off x="12237973" y="6678848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36" name="Freeform 90"/>
          <p:cNvSpPr/>
          <p:nvPr/>
        </p:nvSpPr>
        <p:spPr>
          <a:xfrm>
            <a:off x="12237973" y="10298666"/>
            <a:ext cx="2636008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37" name="TextBox 98"/>
          <p:cNvSpPr txBox="1"/>
          <p:nvPr/>
        </p:nvSpPr>
        <p:spPr>
          <a:xfrm>
            <a:off x="13070458" y="9889172"/>
            <a:ext cx="176304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 </a:t>
            </a:r>
          </a:p>
        </p:txBody>
      </p:sp>
      <p:sp>
        <p:nvSpPr>
          <p:cNvPr id="638" name="TextBox 74"/>
          <p:cNvSpPr txBox="1"/>
          <p:nvPr/>
        </p:nvSpPr>
        <p:spPr>
          <a:xfrm>
            <a:off x="12243182" y="9193193"/>
            <a:ext cx="126636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SCALE: </a:t>
            </a:r>
            <a:r>
              <a:rPr>
                <a:solidFill>
                  <a:srgbClr val="000000"/>
                </a:solidFill>
              </a:rPr>
              <a:t>NOT TO SCALE</a:t>
            </a:r>
          </a:p>
        </p:txBody>
      </p:sp>
      <p:sp>
        <p:nvSpPr>
          <p:cNvPr id="639" name="Freeform 47"/>
          <p:cNvSpPr/>
          <p:nvPr/>
        </p:nvSpPr>
        <p:spPr>
          <a:xfrm>
            <a:off x="12226542" y="9184596"/>
            <a:ext cx="2646004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40" name="TextBox 109"/>
          <p:cNvSpPr txBox="1"/>
          <p:nvPr/>
        </p:nvSpPr>
        <p:spPr>
          <a:xfrm>
            <a:off x="12253914" y="8867116"/>
            <a:ext cx="95997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DOCUMENT REFERENCE</a:t>
            </a:r>
          </a:p>
        </p:txBody>
      </p:sp>
      <p:sp>
        <p:nvSpPr>
          <p:cNvPr id="641" name="TextBox 110"/>
          <p:cNvSpPr txBox="1"/>
          <p:nvPr/>
        </p:nvSpPr>
        <p:spPr>
          <a:xfrm>
            <a:off x="12223991" y="8967075"/>
            <a:ext cx="259089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APPENDIX B – RF PREDICTIONS </a:t>
            </a:r>
          </a:p>
        </p:txBody>
      </p:sp>
      <p:sp>
        <p:nvSpPr>
          <p:cNvPr id="642" name="Straight Connector 115"/>
          <p:cNvSpPr/>
          <p:nvPr/>
        </p:nvSpPr>
        <p:spPr>
          <a:xfrm>
            <a:off x="12237973" y="7857455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43" name="Rectangle 118"/>
          <p:cNvSpPr txBox="1"/>
          <p:nvPr/>
        </p:nvSpPr>
        <p:spPr>
          <a:xfrm>
            <a:off x="12292583" y="374373"/>
            <a:ext cx="2524151" cy="243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0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COMMERCIAL MOBILE SERVICES</a:t>
            </a:r>
          </a:p>
        </p:txBody>
      </p:sp>
      <p:sp>
        <p:nvSpPr>
          <p:cNvPr id="644" name="Rectangle 3"/>
          <p:cNvSpPr/>
          <p:nvPr/>
        </p:nvSpPr>
        <p:spPr>
          <a:xfrm>
            <a:off x="0" y="1"/>
            <a:ext cx="15122525" cy="236989"/>
          </a:xfrm>
          <a:prstGeom prst="rect">
            <a:avLst/>
          </a:prstGeom>
          <a:solidFill>
            <a:srgbClr val="D91D49"/>
          </a:solidFill>
          <a:ln w="25400">
            <a:solidFill>
              <a:srgbClr val="D91D49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45" name="Freeform 47"/>
          <p:cNvSpPr/>
          <p:nvPr/>
        </p:nvSpPr>
        <p:spPr>
          <a:xfrm flipV="1">
            <a:off x="13531176" y="9183037"/>
            <a:ext cx="4" cy="124739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46" name="Rectangle 5"/>
          <p:cNvSpPr/>
          <p:nvPr/>
        </p:nvSpPr>
        <p:spPr>
          <a:xfrm>
            <a:off x="223628" y="261258"/>
            <a:ext cx="14646449" cy="10175448"/>
          </a:xfrm>
          <a:prstGeom prst="rect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47" name="TextBox 49"/>
          <p:cNvSpPr txBox="1"/>
          <p:nvPr/>
        </p:nvSpPr>
        <p:spPr>
          <a:xfrm>
            <a:off x="12253914" y="8285091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ADDRESS</a:t>
            </a:r>
          </a:p>
        </p:txBody>
      </p:sp>
      <p:sp>
        <p:nvSpPr>
          <p:cNvPr id="648" name="Freeform 45"/>
          <p:cNvSpPr/>
          <p:nvPr/>
        </p:nvSpPr>
        <p:spPr>
          <a:xfrm>
            <a:off x="12230100" y="8849604"/>
            <a:ext cx="2646003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49" name="Straight Connector 52"/>
          <p:cNvSpPr/>
          <p:nvPr/>
        </p:nvSpPr>
        <p:spPr>
          <a:xfrm>
            <a:off x="12237973" y="8270047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50" name="Freeform 47"/>
          <p:cNvSpPr/>
          <p:nvPr/>
        </p:nvSpPr>
        <p:spPr>
          <a:xfrm>
            <a:off x="12236067" y="9317742"/>
            <a:ext cx="2631525" cy="5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51" name="Freeform 48"/>
          <p:cNvSpPr/>
          <p:nvPr/>
        </p:nvSpPr>
        <p:spPr>
          <a:xfrm>
            <a:off x="12227249" y="9427722"/>
            <a:ext cx="2646003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52" name="Freeform 21"/>
          <p:cNvSpPr/>
          <p:nvPr/>
        </p:nvSpPr>
        <p:spPr>
          <a:xfrm>
            <a:off x="12959990" y="9317742"/>
            <a:ext cx="4" cy="10800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53" name="Freeform 67"/>
          <p:cNvSpPr/>
          <p:nvPr/>
        </p:nvSpPr>
        <p:spPr>
          <a:xfrm>
            <a:off x="13975212" y="9321118"/>
            <a:ext cx="4" cy="10813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54" name="TextBox 1"/>
          <p:cNvSpPr txBox="1"/>
          <p:nvPr/>
        </p:nvSpPr>
        <p:spPr>
          <a:xfrm>
            <a:off x="63497" y="10507980"/>
            <a:ext cx="77312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000000">
                    <a:alpha val="50000"/>
                  </a:srgbClr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[SEC=PROTECTED]</a:t>
            </a:r>
          </a:p>
        </p:txBody>
      </p:sp>
      <p:sp>
        <p:nvSpPr>
          <p:cNvPr id="655" name="Picture Placeholder 2"/>
          <p:cNvSpPr/>
          <p:nvPr/>
        </p:nvSpPr>
        <p:spPr>
          <a:xfrm>
            <a:off x="599800" y="508423"/>
            <a:ext cx="11233730" cy="936439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 defTabSz="1407968">
              <a:spcBef>
                <a:spcPts val="1200"/>
              </a:spcBef>
              <a:defRPr sz="5000"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56" name="TextBox 6"/>
          <p:cNvSpPr txBox="1"/>
          <p:nvPr/>
        </p:nvSpPr>
        <p:spPr>
          <a:xfrm>
            <a:off x="13549306" y="7032755"/>
            <a:ext cx="1284189" cy="63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BOLDYN NETWORKS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</a:t>
            </a:r>
            <a:r>
              <a:rPr baseline="30000"/>
              <a:t>nd</a:t>
            </a:r>
            <a:r>
              <a:t> FLOOR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 KINGDOM STREET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LONDON 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W2 6BD</a:t>
            </a:r>
          </a:p>
        </p:txBody>
      </p:sp>
      <p:sp>
        <p:nvSpPr>
          <p:cNvPr id="657" name="Freeform: Shape 7"/>
          <p:cNvSpPr/>
          <p:nvPr/>
        </p:nvSpPr>
        <p:spPr>
          <a:xfrm>
            <a:off x="12537433" y="7031193"/>
            <a:ext cx="705489" cy="6648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0873"/>
                </a:moveTo>
                <a:lnTo>
                  <a:pt x="21231" y="9061"/>
                </a:lnTo>
                <a:lnTo>
                  <a:pt x="20308" y="7567"/>
                </a:lnTo>
                <a:lnTo>
                  <a:pt x="18900" y="6563"/>
                </a:lnTo>
                <a:lnTo>
                  <a:pt x="17192" y="6196"/>
                </a:lnTo>
                <a:lnTo>
                  <a:pt x="6808" y="6196"/>
                </a:lnTo>
                <a:lnTo>
                  <a:pt x="6808" y="0"/>
                </a:lnTo>
                <a:lnTo>
                  <a:pt x="4131" y="0"/>
                </a:lnTo>
                <a:lnTo>
                  <a:pt x="4131" y="6196"/>
                </a:lnTo>
                <a:lnTo>
                  <a:pt x="0" y="6196"/>
                </a:lnTo>
                <a:lnTo>
                  <a:pt x="0" y="9037"/>
                </a:lnTo>
                <a:lnTo>
                  <a:pt x="4131" y="9037"/>
                </a:lnTo>
                <a:lnTo>
                  <a:pt x="4131" y="6196"/>
                </a:lnTo>
                <a:lnTo>
                  <a:pt x="6808" y="6196"/>
                </a:lnTo>
                <a:lnTo>
                  <a:pt x="6808" y="9037"/>
                </a:lnTo>
                <a:lnTo>
                  <a:pt x="18923" y="9037"/>
                </a:lnTo>
                <a:lnTo>
                  <a:pt x="18923" y="18759"/>
                </a:lnTo>
                <a:lnTo>
                  <a:pt x="6808" y="18759"/>
                </a:lnTo>
                <a:lnTo>
                  <a:pt x="6808" y="9037"/>
                </a:lnTo>
                <a:lnTo>
                  <a:pt x="4131" y="9037"/>
                </a:lnTo>
                <a:lnTo>
                  <a:pt x="4131" y="16922"/>
                </a:lnTo>
                <a:lnTo>
                  <a:pt x="4477" y="18735"/>
                </a:lnTo>
                <a:lnTo>
                  <a:pt x="5423" y="20229"/>
                </a:lnTo>
                <a:lnTo>
                  <a:pt x="6831" y="21233"/>
                </a:lnTo>
                <a:lnTo>
                  <a:pt x="8538" y="21600"/>
                </a:lnTo>
                <a:lnTo>
                  <a:pt x="17192" y="21600"/>
                </a:lnTo>
                <a:lnTo>
                  <a:pt x="18900" y="21233"/>
                </a:lnTo>
                <a:lnTo>
                  <a:pt x="20308" y="20229"/>
                </a:lnTo>
                <a:lnTo>
                  <a:pt x="21231" y="18759"/>
                </a:lnTo>
                <a:lnTo>
                  <a:pt x="21600" y="16922"/>
                </a:lnTo>
                <a:lnTo>
                  <a:pt x="21600" y="10873"/>
                </a:lnTo>
                <a:close/>
              </a:path>
            </a:pathLst>
          </a:custGeom>
          <a:solidFill>
            <a:srgbClr val="F5054F">
              <a:alpha val="29802"/>
            </a:srgb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58" name="TextBox 27"/>
          <p:cNvSpPr txBox="1"/>
          <p:nvPr/>
        </p:nvSpPr>
        <p:spPr>
          <a:xfrm>
            <a:off x="13056406" y="9758240"/>
            <a:ext cx="177709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Original Submission</a:t>
            </a:r>
          </a:p>
        </p:txBody>
      </p:sp>
      <p:sp>
        <p:nvSpPr>
          <p:cNvPr id="659" name="TextBox 28"/>
          <p:cNvSpPr txBox="1"/>
          <p:nvPr/>
        </p:nvSpPr>
        <p:spPr>
          <a:xfrm>
            <a:off x="12247271" y="9758240"/>
            <a:ext cx="22438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P01</a:t>
            </a:r>
          </a:p>
        </p:txBody>
      </p:sp>
      <p:sp>
        <p:nvSpPr>
          <p:cNvPr id="660" name="TextBox 30"/>
          <p:cNvSpPr txBox="1"/>
          <p:nvPr/>
        </p:nvSpPr>
        <p:spPr>
          <a:xfrm>
            <a:off x="12233457" y="8514819"/>
            <a:ext cx="260097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&lt;&lt;ADDRESS&gt;&gt;</a:t>
            </a:r>
          </a:p>
        </p:txBody>
      </p:sp>
      <p:sp>
        <p:nvSpPr>
          <p:cNvPr id="661" name="TextBox 31"/>
          <p:cNvSpPr txBox="1"/>
          <p:nvPr/>
        </p:nvSpPr>
        <p:spPr>
          <a:xfrm>
            <a:off x="12239090" y="7990071"/>
            <a:ext cx="260097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&lt;&lt;STATION_NAME&gt;&gt;</a:t>
            </a:r>
          </a:p>
        </p:txBody>
      </p:sp>
      <p:sp>
        <p:nvSpPr>
          <p:cNvPr id="662" name="TextBox 32"/>
          <p:cNvSpPr txBox="1"/>
          <p:nvPr/>
        </p:nvSpPr>
        <p:spPr>
          <a:xfrm>
            <a:off x="13056406" y="9904169"/>
            <a:ext cx="177709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Updated design</a:t>
            </a:r>
          </a:p>
        </p:txBody>
      </p:sp>
      <p:sp>
        <p:nvSpPr>
          <p:cNvPr id="663" name="TextBox 33"/>
          <p:cNvSpPr txBox="1"/>
          <p:nvPr/>
        </p:nvSpPr>
        <p:spPr>
          <a:xfrm>
            <a:off x="12247271" y="9904169"/>
            <a:ext cx="22438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P02</a:t>
            </a:r>
          </a:p>
        </p:txBody>
      </p:sp>
      <p:pic>
        <p:nvPicPr>
          <p:cNvPr id="664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2233457" y="722526"/>
            <a:ext cx="2633704" cy="646233"/>
          </a:xfrm>
          <a:prstGeom prst="rect">
            <a:avLst/>
          </a:prstGeom>
          <a:ln w="12700">
            <a:miter lim="400000"/>
          </a:ln>
        </p:spPr>
      </p:pic>
      <p:sp>
        <p:nvSpPr>
          <p:cNvPr id="665" name="Rectangle 62"/>
          <p:cNvSpPr txBox="1"/>
          <p:nvPr/>
        </p:nvSpPr>
        <p:spPr>
          <a:xfrm>
            <a:off x="1031881" y="10077207"/>
            <a:ext cx="1398603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LTE</a:t>
            </a:r>
          </a:p>
        </p:txBody>
      </p:sp>
      <p:grpSp>
        <p:nvGrpSpPr>
          <p:cNvPr id="668" name="Rectangle 77"/>
          <p:cNvGrpSpPr/>
          <p:nvPr/>
        </p:nvGrpSpPr>
        <p:grpSpPr>
          <a:xfrm>
            <a:off x="12242777" y="6320589"/>
            <a:ext cx="2627302" cy="392467"/>
            <a:chOff x="-1" y="0"/>
            <a:chExt cx="2627301" cy="392465"/>
          </a:xfrm>
        </p:grpSpPr>
        <p:sp>
          <p:nvSpPr>
            <p:cNvPr id="666" name="Rectangle"/>
            <p:cNvSpPr/>
            <p:nvPr/>
          </p:nvSpPr>
          <p:spPr>
            <a:xfrm>
              <a:off x="-2" y="34217"/>
              <a:ext cx="2627302" cy="324043"/>
            </a:xfrm>
            <a:prstGeom prst="rect">
              <a:avLst/>
            </a:prstGeom>
            <a:solidFill>
              <a:srgbClr val="D91D49"/>
            </a:solidFill>
            <a:ln w="19050" cap="rnd">
              <a:solidFill>
                <a:srgbClr val="D91D49"/>
              </a:solidFill>
              <a:prstDash val="solid"/>
              <a:bevel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667" name="LTE 2100MHz"/>
            <p:cNvSpPr txBox="1"/>
            <p:nvPr/>
          </p:nvSpPr>
          <p:spPr>
            <a:xfrm>
              <a:off x="55243" y="-1"/>
              <a:ext cx="2516811" cy="39246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b="1" sz="24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LTE 2100MHz</a:t>
              </a:r>
            </a:p>
          </p:txBody>
        </p:sp>
      </p:grpSp>
      <p:sp>
        <p:nvSpPr>
          <p:cNvPr id="669" name="Freeform 55"/>
          <p:cNvSpPr/>
          <p:nvPr/>
        </p:nvSpPr>
        <p:spPr>
          <a:xfrm>
            <a:off x="9227818" y="10104121"/>
            <a:ext cx="3" cy="335284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70" name="Freeform 56"/>
          <p:cNvSpPr/>
          <p:nvPr/>
        </p:nvSpPr>
        <p:spPr>
          <a:xfrm>
            <a:off x="6228517" y="10104121"/>
            <a:ext cx="4" cy="335284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71" name="Freeform 57"/>
          <p:cNvSpPr/>
          <p:nvPr/>
        </p:nvSpPr>
        <p:spPr>
          <a:xfrm>
            <a:off x="3204778" y="10104121"/>
            <a:ext cx="4" cy="335284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72" name="Rectangle 4"/>
          <p:cNvSpPr txBox="1"/>
          <p:nvPr/>
        </p:nvSpPr>
        <p:spPr>
          <a:xfrm>
            <a:off x="271007" y="10249420"/>
            <a:ext cx="2888053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Technology </a:t>
            </a:r>
          </a:p>
        </p:txBody>
      </p:sp>
      <p:sp>
        <p:nvSpPr>
          <p:cNvPr id="673" name="Rectangle 5"/>
          <p:cNvSpPr txBox="1"/>
          <p:nvPr/>
        </p:nvSpPr>
        <p:spPr>
          <a:xfrm>
            <a:off x="3250501" y="10249612"/>
            <a:ext cx="2924494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Frequency Band</a:t>
            </a:r>
          </a:p>
        </p:txBody>
      </p:sp>
      <p:sp>
        <p:nvSpPr>
          <p:cNvPr id="674" name="Rectangle 6"/>
          <p:cNvSpPr txBox="1"/>
          <p:nvPr/>
        </p:nvSpPr>
        <p:spPr>
          <a:xfrm>
            <a:off x="6272324" y="10254543"/>
            <a:ext cx="2901971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Plot</a:t>
            </a:r>
          </a:p>
        </p:txBody>
      </p:sp>
      <p:sp>
        <p:nvSpPr>
          <p:cNvPr id="675" name="Rectangle 7"/>
          <p:cNvSpPr txBox="1"/>
          <p:nvPr/>
        </p:nvSpPr>
        <p:spPr>
          <a:xfrm>
            <a:off x="9273537" y="10246400"/>
            <a:ext cx="2912501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Floor Level</a:t>
            </a:r>
          </a:p>
        </p:txBody>
      </p:sp>
      <p:sp>
        <p:nvSpPr>
          <p:cNvPr id="676" name="Rectangle 8"/>
          <p:cNvSpPr/>
          <p:nvPr/>
        </p:nvSpPr>
        <p:spPr>
          <a:xfrm>
            <a:off x="225282" y="10279246"/>
            <a:ext cx="12004820" cy="157181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77" name="Rectangle 9"/>
          <p:cNvSpPr/>
          <p:nvPr/>
        </p:nvSpPr>
        <p:spPr>
          <a:xfrm>
            <a:off x="225282" y="10103973"/>
            <a:ext cx="12004820" cy="174458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78" name="Rectangle 58"/>
          <p:cNvSpPr txBox="1"/>
          <p:nvPr/>
        </p:nvSpPr>
        <p:spPr>
          <a:xfrm>
            <a:off x="6266434" y="10086647"/>
            <a:ext cx="2901971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RSRP (dBm)</a:t>
            </a:r>
          </a:p>
        </p:txBody>
      </p:sp>
      <p:grpSp>
        <p:nvGrpSpPr>
          <p:cNvPr id="701" name="Group 59"/>
          <p:cNvGrpSpPr/>
          <p:nvPr/>
        </p:nvGrpSpPr>
        <p:grpSpPr>
          <a:xfrm>
            <a:off x="12275816" y="1792967"/>
            <a:ext cx="1308273" cy="2247724"/>
            <a:chOff x="0" y="-1"/>
            <a:chExt cx="1308271" cy="2247723"/>
          </a:xfrm>
        </p:grpSpPr>
        <p:sp>
          <p:nvSpPr>
            <p:cNvPr id="679" name="Straight Connector 60"/>
            <p:cNvSpPr/>
            <p:nvPr/>
          </p:nvSpPr>
          <p:spPr>
            <a:xfrm>
              <a:off x="654462" y="1946115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680" name="Straight Connector 106"/>
            <p:cNvSpPr/>
            <p:nvPr/>
          </p:nvSpPr>
          <p:spPr>
            <a:xfrm>
              <a:off x="654462" y="1578450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681" name="Straight Connector 107"/>
            <p:cNvSpPr/>
            <p:nvPr/>
          </p:nvSpPr>
          <p:spPr>
            <a:xfrm>
              <a:off x="654462" y="1397475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682" name="Straight Connector 108"/>
            <p:cNvSpPr/>
            <p:nvPr/>
          </p:nvSpPr>
          <p:spPr>
            <a:xfrm>
              <a:off x="654462" y="1214595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683" name="Straight Connector 109"/>
            <p:cNvSpPr/>
            <p:nvPr/>
          </p:nvSpPr>
          <p:spPr>
            <a:xfrm>
              <a:off x="654462" y="1029807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684" name="Straight Connector 110"/>
            <p:cNvSpPr/>
            <p:nvPr/>
          </p:nvSpPr>
          <p:spPr>
            <a:xfrm>
              <a:off x="654462" y="846927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685" name="Straight Connector 111"/>
            <p:cNvSpPr/>
            <p:nvPr/>
          </p:nvSpPr>
          <p:spPr>
            <a:xfrm>
              <a:off x="654462" y="662142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686" name="Straight Connector 112"/>
            <p:cNvSpPr/>
            <p:nvPr/>
          </p:nvSpPr>
          <p:spPr>
            <a:xfrm>
              <a:off x="654462" y="483072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687" name="Straight Connector 113"/>
            <p:cNvSpPr/>
            <p:nvPr/>
          </p:nvSpPr>
          <p:spPr>
            <a:xfrm>
              <a:off x="654462" y="1761330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pic>
          <p:nvPicPr>
            <p:cNvPr id="688" name="Picture 114" descr="Picture 114"/>
            <p:cNvPicPr>
              <a:picLocks noChangeAspect="1"/>
            </p:cNvPicPr>
            <p:nvPr/>
          </p:nvPicPr>
          <p:blipFill>
            <a:blip r:embed="rId3">
              <a:extLst/>
            </a:blip>
            <a:stretch>
              <a:fillRect/>
            </a:stretch>
          </p:blipFill>
          <p:spPr>
            <a:xfrm>
              <a:off x="119622" y="292572"/>
              <a:ext cx="624846" cy="184404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689" name="TextBox 115"/>
            <p:cNvSpPr txBox="1"/>
            <p:nvPr/>
          </p:nvSpPr>
          <p:spPr>
            <a:xfrm>
              <a:off x="736459" y="2019215"/>
              <a:ext cx="326697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MIN</a:t>
              </a:r>
            </a:p>
          </p:txBody>
        </p:sp>
        <p:sp>
          <p:nvSpPr>
            <p:cNvPr id="690" name="TextBox 116"/>
            <p:cNvSpPr txBox="1"/>
            <p:nvPr/>
          </p:nvSpPr>
          <p:spPr>
            <a:xfrm>
              <a:off x="880184" y="356154"/>
              <a:ext cx="363718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-65</a:t>
              </a:r>
            </a:p>
          </p:txBody>
        </p:sp>
        <p:sp>
          <p:nvSpPr>
            <p:cNvPr id="691" name="TextBox 117"/>
            <p:cNvSpPr txBox="1"/>
            <p:nvPr/>
          </p:nvSpPr>
          <p:spPr>
            <a:xfrm>
              <a:off x="880184" y="540935"/>
              <a:ext cx="363718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-80</a:t>
              </a:r>
            </a:p>
          </p:txBody>
        </p:sp>
        <p:sp>
          <p:nvSpPr>
            <p:cNvPr id="692" name="TextBox 118"/>
            <p:cNvSpPr txBox="1"/>
            <p:nvPr/>
          </p:nvSpPr>
          <p:spPr>
            <a:xfrm>
              <a:off x="880184" y="723818"/>
              <a:ext cx="363718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-95</a:t>
              </a:r>
            </a:p>
          </p:txBody>
        </p:sp>
        <p:sp>
          <p:nvSpPr>
            <p:cNvPr id="693" name="TextBox 119"/>
            <p:cNvSpPr txBox="1"/>
            <p:nvPr/>
          </p:nvSpPr>
          <p:spPr>
            <a:xfrm>
              <a:off x="880184" y="908602"/>
              <a:ext cx="428086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-105</a:t>
              </a:r>
            </a:p>
          </p:txBody>
        </p:sp>
        <p:sp>
          <p:nvSpPr>
            <p:cNvPr id="694" name="TextBox 120"/>
            <p:cNvSpPr txBox="1"/>
            <p:nvPr/>
          </p:nvSpPr>
          <p:spPr>
            <a:xfrm>
              <a:off x="880185" y="1089579"/>
              <a:ext cx="428086" cy="2285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-110</a:t>
              </a:r>
            </a:p>
          </p:txBody>
        </p:sp>
        <p:sp>
          <p:nvSpPr>
            <p:cNvPr id="695" name="TextBox 121"/>
            <p:cNvSpPr txBox="1"/>
            <p:nvPr/>
          </p:nvSpPr>
          <p:spPr>
            <a:xfrm>
              <a:off x="880185" y="1274363"/>
              <a:ext cx="428086" cy="2285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-113</a:t>
              </a:r>
            </a:p>
          </p:txBody>
        </p:sp>
        <p:sp>
          <p:nvSpPr>
            <p:cNvPr id="696" name="TextBox 122"/>
            <p:cNvSpPr txBox="1"/>
            <p:nvPr/>
          </p:nvSpPr>
          <p:spPr>
            <a:xfrm>
              <a:off x="878782" y="1453437"/>
              <a:ext cx="428086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-116</a:t>
              </a:r>
            </a:p>
          </p:txBody>
        </p:sp>
        <p:sp>
          <p:nvSpPr>
            <p:cNvPr id="697" name="TextBox 123"/>
            <p:cNvSpPr txBox="1"/>
            <p:nvPr/>
          </p:nvSpPr>
          <p:spPr>
            <a:xfrm>
              <a:off x="878782" y="1638221"/>
              <a:ext cx="428086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-118</a:t>
              </a:r>
            </a:p>
          </p:txBody>
        </p:sp>
        <p:sp>
          <p:nvSpPr>
            <p:cNvPr id="698" name="TextBox 124"/>
            <p:cNvSpPr txBox="1"/>
            <p:nvPr/>
          </p:nvSpPr>
          <p:spPr>
            <a:xfrm>
              <a:off x="878782" y="1817295"/>
              <a:ext cx="428086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-121</a:t>
              </a:r>
            </a:p>
          </p:txBody>
        </p:sp>
        <p:sp>
          <p:nvSpPr>
            <p:cNvPr id="699" name="TextBox 125"/>
            <p:cNvSpPr txBox="1"/>
            <p:nvPr/>
          </p:nvSpPr>
          <p:spPr>
            <a:xfrm>
              <a:off x="736459" y="169461"/>
              <a:ext cx="352122" cy="2285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MAX</a:t>
              </a:r>
            </a:p>
          </p:txBody>
        </p:sp>
        <p:sp>
          <p:nvSpPr>
            <p:cNvPr id="700" name="TextBox 126"/>
            <p:cNvSpPr txBox="1"/>
            <p:nvPr/>
          </p:nvSpPr>
          <p:spPr>
            <a:xfrm>
              <a:off x="-1" y="-2"/>
              <a:ext cx="1076285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algn="ctr">
                <a:defRPr b="1" sz="1000" u="sng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LTE RSRP (dBm)</a:t>
              </a:r>
            </a:p>
          </p:txBody>
        </p:sp>
      </p:grpSp>
      <p:sp>
        <p:nvSpPr>
          <p:cNvPr id="702" name="Rectangle 127"/>
          <p:cNvSpPr txBox="1"/>
          <p:nvPr/>
        </p:nvSpPr>
        <p:spPr>
          <a:xfrm>
            <a:off x="12352687" y="1531651"/>
            <a:ext cx="535696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LEGEND</a:t>
            </a:r>
          </a:p>
        </p:txBody>
      </p:sp>
      <p:sp>
        <p:nvSpPr>
          <p:cNvPr id="703" name="Rectangle 41"/>
          <p:cNvSpPr txBox="1"/>
          <p:nvPr/>
        </p:nvSpPr>
        <p:spPr>
          <a:xfrm>
            <a:off x="3250495" y="10088032"/>
            <a:ext cx="2932902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2100MHz</a:t>
            </a:r>
          </a:p>
        </p:txBody>
      </p:sp>
      <p:sp>
        <p:nvSpPr>
          <p:cNvPr id="704" name="DRAWN:  &lt;D&gt;"/>
          <p:cNvSpPr txBox="1"/>
          <p:nvPr/>
        </p:nvSpPr>
        <p:spPr>
          <a:xfrm>
            <a:off x="12336953" y="9274488"/>
            <a:ext cx="596721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</a:defRPr>
            </a:pPr>
            <a:r>
              <a:t>DRAWN:  </a:t>
            </a:r>
            <a:r>
              <a:rPr>
                <a:solidFill>
                  <a:srgbClr val="000000"/>
                </a:solidFill>
              </a:rPr>
              <a:t>&lt;D&gt;</a:t>
            </a:r>
          </a:p>
        </p:txBody>
      </p:sp>
      <p:sp>
        <p:nvSpPr>
          <p:cNvPr id="705" name="CHECKED: &lt;C&gt;"/>
          <p:cNvSpPr txBox="1"/>
          <p:nvPr/>
        </p:nvSpPr>
        <p:spPr>
          <a:xfrm>
            <a:off x="13186112" y="9281572"/>
            <a:ext cx="663098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CHECKED: </a:t>
            </a:r>
            <a:r>
              <a:rPr>
                <a:solidFill>
                  <a:srgbClr val="000000"/>
                </a:solidFill>
              </a:rPr>
              <a:t>&lt;C&gt;</a:t>
            </a:r>
          </a:p>
        </p:txBody>
      </p:sp>
      <p:sp>
        <p:nvSpPr>
          <p:cNvPr id="706" name="APPROVED: &lt;A&gt;"/>
          <p:cNvSpPr txBox="1"/>
          <p:nvPr/>
        </p:nvSpPr>
        <p:spPr>
          <a:xfrm>
            <a:off x="14081688" y="9288988"/>
            <a:ext cx="709756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APPROVED: </a:t>
            </a:r>
            <a:r>
              <a:rPr>
                <a:solidFill>
                  <a:srgbClr val="000000"/>
                </a:solidFill>
              </a:rPr>
              <a:t>&lt;A&gt;</a:t>
            </a:r>
          </a:p>
        </p:txBody>
      </p:sp>
      <p:sp>
        <p:nvSpPr>
          <p:cNvPr id="707" name="&lt;P01&gt;"/>
          <p:cNvSpPr txBox="1"/>
          <p:nvPr/>
        </p:nvSpPr>
        <p:spPr>
          <a:xfrm>
            <a:off x="12598435" y="9714745"/>
            <a:ext cx="328719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&lt;P01&gt;</a:t>
            </a:r>
          </a:p>
        </p:txBody>
      </p:sp>
      <p:sp>
        <p:nvSpPr>
          <p:cNvPr id="708" name="&lt;P02&gt;"/>
          <p:cNvSpPr txBox="1"/>
          <p:nvPr/>
        </p:nvSpPr>
        <p:spPr>
          <a:xfrm>
            <a:off x="12597425" y="9854493"/>
            <a:ext cx="328718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&lt;P02&gt;</a:t>
            </a:r>
          </a:p>
        </p:txBody>
      </p:sp>
      <p:sp>
        <p:nvSpPr>
          <p:cNvPr id="709" name="&lt;NUM&gt;"/>
          <p:cNvSpPr txBox="1"/>
          <p:nvPr/>
        </p:nvSpPr>
        <p:spPr>
          <a:xfrm>
            <a:off x="14324158" y="9149660"/>
            <a:ext cx="366670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600"/>
            </a:lvl1pPr>
          </a:lstStyle>
          <a:p>
            <a:pPr/>
            <a:r>
              <a:t>&lt;NUM&gt;</a:t>
            </a:r>
          </a:p>
        </p:txBody>
      </p:sp>
      <p:sp>
        <p:nvSpPr>
          <p:cNvPr id="710" name="&lt;&lt;logo&gt;&gt;"/>
          <p:cNvSpPr txBox="1"/>
          <p:nvPr/>
        </p:nvSpPr>
        <p:spPr>
          <a:xfrm>
            <a:off x="13422174" y="875552"/>
            <a:ext cx="1054157" cy="3401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0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&lt;&lt;logo&gt;&gt;</a:t>
            </a:r>
          </a:p>
        </p:txBody>
      </p:sp>
      <p:sp>
        <p:nvSpPr>
          <p:cNvPr id="7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21_LTE SNI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TextBox 66"/>
          <p:cNvSpPr txBox="1"/>
          <p:nvPr/>
        </p:nvSpPr>
        <p:spPr>
          <a:xfrm>
            <a:off x="13525788" y="9201184"/>
            <a:ext cx="130066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SHEET:</a:t>
            </a:r>
          </a:p>
        </p:txBody>
      </p:sp>
      <p:sp>
        <p:nvSpPr>
          <p:cNvPr id="719" name="Freeform 10"/>
          <p:cNvSpPr/>
          <p:nvPr/>
        </p:nvSpPr>
        <p:spPr>
          <a:xfrm flipH="1">
            <a:off x="12234861" y="209548"/>
            <a:ext cx="1" cy="10224004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20" name="Freeform 11"/>
          <p:cNvSpPr/>
          <p:nvPr/>
        </p:nvSpPr>
        <p:spPr>
          <a:xfrm>
            <a:off x="12230100" y="702182"/>
            <a:ext cx="2646003" cy="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21" name="TextBox 15"/>
          <p:cNvSpPr txBox="1"/>
          <p:nvPr/>
        </p:nvSpPr>
        <p:spPr>
          <a:xfrm>
            <a:off x="12339755" y="6726997"/>
            <a:ext cx="2522705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400">
                <a:solidFill>
                  <a:srgbClr val="A6A6A6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RF PREDICTIONS</a:t>
            </a:r>
          </a:p>
        </p:txBody>
      </p:sp>
      <p:sp>
        <p:nvSpPr>
          <p:cNvPr id="722" name="TextBox 17"/>
          <p:cNvSpPr txBox="1"/>
          <p:nvPr/>
        </p:nvSpPr>
        <p:spPr>
          <a:xfrm>
            <a:off x="12253914" y="7872499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STATION</a:t>
            </a:r>
          </a:p>
        </p:txBody>
      </p:sp>
      <p:sp>
        <p:nvSpPr>
          <p:cNvPr id="723" name="Freeform 45"/>
          <p:cNvSpPr/>
          <p:nvPr/>
        </p:nvSpPr>
        <p:spPr>
          <a:xfrm>
            <a:off x="12230100" y="8848334"/>
            <a:ext cx="2646003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24" name="Freeform 67"/>
          <p:cNvSpPr/>
          <p:nvPr/>
        </p:nvSpPr>
        <p:spPr>
          <a:xfrm>
            <a:off x="13545545" y="6970361"/>
            <a:ext cx="3" cy="890405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25" name="TextBox 75"/>
          <p:cNvSpPr txBox="1"/>
          <p:nvPr/>
        </p:nvSpPr>
        <p:spPr>
          <a:xfrm>
            <a:off x="12234160" y="9470638"/>
            <a:ext cx="259229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DRAWING HISTORY</a:t>
            </a:r>
          </a:p>
        </p:txBody>
      </p:sp>
      <p:sp>
        <p:nvSpPr>
          <p:cNvPr id="726" name="Freeform 76"/>
          <p:cNvSpPr/>
          <p:nvPr/>
        </p:nvSpPr>
        <p:spPr>
          <a:xfrm>
            <a:off x="12233492" y="9612058"/>
            <a:ext cx="2636007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27" name="TextBox 77"/>
          <p:cNvSpPr txBox="1"/>
          <p:nvPr/>
        </p:nvSpPr>
        <p:spPr>
          <a:xfrm>
            <a:off x="12507654" y="9632305"/>
            <a:ext cx="51028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DATE</a:t>
            </a:r>
          </a:p>
        </p:txBody>
      </p:sp>
      <p:sp>
        <p:nvSpPr>
          <p:cNvPr id="728" name="Freeform 79"/>
          <p:cNvSpPr/>
          <p:nvPr/>
        </p:nvSpPr>
        <p:spPr>
          <a:xfrm>
            <a:off x="12513692" y="9612117"/>
            <a:ext cx="4" cy="821437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29" name="TextBox 80"/>
          <p:cNvSpPr txBox="1"/>
          <p:nvPr/>
        </p:nvSpPr>
        <p:spPr>
          <a:xfrm>
            <a:off x="12233491" y="9634148"/>
            <a:ext cx="26032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ISSUE</a:t>
            </a:r>
          </a:p>
        </p:txBody>
      </p:sp>
      <p:sp>
        <p:nvSpPr>
          <p:cNvPr id="730" name="Freeform 82"/>
          <p:cNvSpPr/>
          <p:nvPr/>
        </p:nvSpPr>
        <p:spPr>
          <a:xfrm>
            <a:off x="12236067" y="9736835"/>
            <a:ext cx="2636007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31" name="Freeform 83"/>
          <p:cNvSpPr/>
          <p:nvPr/>
        </p:nvSpPr>
        <p:spPr>
          <a:xfrm>
            <a:off x="13052420" y="9614212"/>
            <a:ext cx="4" cy="824700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32" name="TextBox 84"/>
          <p:cNvSpPr txBox="1"/>
          <p:nvPr/>
        </p:nvSpPr>
        <p:spPr>
          <a:xfrm>
            <a:off x="13058443" y="9631360"/>
            <a:ext cx="178161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DESCRIPTION</a:t>
            </a:r>
          </a:p>
        </p:txBody>
      </p:sp>
      <p:sp>
        <p:nvSpPr>
          <p:cNvPr id="733" name="Freeform 86"/>
          <p:cNvSpPr/>
          <p:nvPr/>
        </p:nvSpPr>
        <p:spPr>
          <a:xfrm>
            <a:off x="12237973" y="9877804"/>
            <a:ext cx="2636008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34" name="Freeform 87"/>
          <p:cNvSpPr/>
          <p:nvPr/>
        </p:nvSpPr>
        <p:spPr>
          <a:xfrm>
            <a:off x="12236067" y="9878180"/>
            <a:ext cx="2636007" cy="3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35" name="Freeform 88"/>
          <p:cNvSpPr/>
          <p:nvPr/>
        </p:nvSpPr>
        <p:spPr>
          <a:xfrm>
            <a:off x="12237973" y="10019151"/>
            <a:ext cx="2636008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36" name="Freeform 90"/>
          <p:cNvSpPr/>
          <p:nvPr/>
        </p:nvSpPr>
        <p:spPr>
          <a:xfrm>
            <a:off x="12237973" y="10159355"/>
            <a:ext cx="2636008" cy="5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37" name="Straight Connector 2"/>
          <p:cNvSpPr/>
          <p:nvPr/>
        </p:nvSpPr>
        <p:spPr>
          <a:xfrm>
            <a:off x="12237973" y="6966880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38" name="Straight Connector 71"/>
          <p:cNvSpPr/>
          <p:nvPr/>
        </p:nvSpPr>
        <p:spPr>
          <a:xfrm>
            <a:off x="12237973" y="6678848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39" name="Freeform 90"/>
          <p:cNvSpPr/>
          <p:nvPr/>
        </p:nvSpPr>
        <p:spPr>
          <a:xfrm>
            <a:off x="12237973" y="10298666"/>
            <a:ext cx="2636008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40" name="TextBox 98"/>
          <p:cNvSpPr txBox="1"/>
          <p:nvPr/>
        </p:nvSpPr>
        <p:spPr>
          <a:xfrm>
            <a:off x="13070458" y="9889172"/>
            <a:ext cx="176304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 </a:t>
            </a:r>
          </a:p>
        </p:txBody>
      </p:sp>
      <p:sp>
        <p:nvSpPr>
          <p:cNvPr id="741" name="TextBox 74"/>
          <p:cNvSpPr txBox="1"/>
          <p:nvPr/>
        </p:nvSpPr>
        <p:spPr>
          <a:xfrm>
            <a:off x="12243182" y="9193193"/>
            <a:ext cx="126636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SCALE: </a:t>
            </a:r>
            <a:r>
              <a:rPr>
                <a:solidFill>
                  <a:srgbClr val="000000"/>
                </a:solidFill>
              </a:rPr>
              <a:t>NOT TO SCALE</a:t>
            </a:r>
          </a:p>
        </p:txBody>
      </p:sp>
      <p:sp>
        <p:nvSpPr>
          <p:cNvPr id="742" name="Freeform 47"/>
          <p:cNvSpPr/>
          <p:nvPr/>
        </p:nvSpPr>
        <p:spPr>
          <a:xfrm>
            <a:off x="12226542" y="9184596"/>
            <a:ext cx="2646004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43" name="TextBox 109"/>
          <p:cNvSpPr txBox="1"/>
          <p:nvPr/>
        </p:nvSpPr>
        <p:spPr>
          <a:xfrm>
            <a:off x="12253914" y="8867116"/>
            <a:ext cx="95997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DOCUMENT REFERENCE</a:t>
            </a:r>
          </a:p>
        </p:txBody>
      </p:sp>
      <p:sp>
        <p:nvSpPr>
          <p:cNvPr id="744" name="TextBox 110"/>
          <p:cNvSpPr txBox="1"/>
          <p:nvPr/>
        </p:nvSpPr>
        <p:spPr>
          <a:xfrm>
            <a:off x="12223991" y="8967075"/>
            <a:ext cx="259089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APPENDIX B – RF PREDICTIONS </a:t>
            </a:r>
          </a:p>
        </p:txBody>
      </p:sp>
      <p:sp>
        <p:nvSpPr>
          <p:cNvPr id="745" name="Straight Connector 115"/>
          <p:cNvSpPr/>
          <p:nvPr/>
        </p:nvSpPr>
        <p:spPr>
          <a:xfrm>
            <a:off x="12237973" y="7857455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46" name="Rectangle 118"/>
          <p:cNvSpPr txBox="1"/>
          <p:nvPr/>
        </p:nvSpPr>
        <p:spPr>
          <a:xfrm>
            <a:off x="12292583" y="374373"/>
            <a:ext cx="2524151" cy="243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0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COMMERCIAL MOBILE SERVICES</a:t>
            </a:r>
          </a:p>
        </p:txBody>
      </p:sp>
      <p:sp>
        <p:nvSpPr>
          <p:cNvPr id="747" name="Rectangle 3"/>
          <p:cNvSpPr/>
          <p:nvPr/>
        </p:nvSpPr>
        <p:spPr>
          <a:xfrm>
            <a:off x="0" y="1"/>
            <a:ext cx="15122525" cy="236989"/>
          </a:xfrm>
          <a:prstGeom prst="rect">
            <a:avLst/>
          </a:prstGeom>
          <a:solidFill>
            <a:srgbClr val="D91D49"/>
          </a:solidFill>
          <a:ln w="25400">
            <a:solidFill>
              <a:srgbClr val="D91D49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748" name="Freeform 47"/>
          <p:cNvSpPr/>
          <p:nvPr/>
        </p:nvSpPr>
        <p:spPr>
          <a:xfrm flipV="1">
            <a:off x="13531176" y="9183037"/>
            <a:ext cx="4" cy="124739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49" name="Rectangle 5"/>
          <p:cNvSpPr/>
          <p:nvPr/>
        </p:nvSpPr>
        <p:spPr>
          <a:xfrm>
            <a:off x="223628" y="261258"/>
            <a:ext cx="14646449" cy="10175448"/>
          </a:xfrm>
          <a:prstGeom prst="rect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750" name="TextBox 49"/>
          <p:cNvSpPr txBox="1"/>
          <p:nvPr/>
        </p:nvSpPr>
        <p:spPr>
          <a:xfrm>
            <a:off x="12253914" y="8285091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ADDRESS</a:t>
            </a:r>
          </a:p>
        </p:txBody>
      </p:sp>
      <p:sp>
        <p:nvSpPr>
          <p:cNvPr id="751" name="Freeform 45"/>
          <p:cNvSpPr/>
          <p:nvPr/>
        </p:nvSpPr>
        <p:spPr>
          <a:xfrm>
            <a:off x="12230100" y="8849604"/>
            <a:ext cx="2646003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52" name="Straight Connector 52"/>
          <p:cNvSpPr/>
          <p:nvPr/>
        </p:nvSpPr>
        <p:spPr>
          <a:xfrm>
            <a:off x="12237973" y="8270047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53" name="Freeform 47"/>
          <p:cNvSpPr/>
          <p:nvPr/>
        </p:nvSpPr>
        <p:spPr>
          <a:xfrm>
            <a:off x="12236067" y="9317742"/>
            <a:ext cx="2631525" cy="5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54" name="Freeform 48"/>
          <p:cNvSpPr/>
          <p:nvPr/>
        </p:nvSpPr>
        <p:spPr>
          <a:xfrm>
            <a:off x="12227249" y="9427722"/>
            <a:ext cx="2646003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55" name="Freeform 21"/>
          <p:cNvSpPr/>
          <p:nvPr/>
        </p:nvSpPr>
        <p:spPr>
          <a:xfrm>
            <a:off x="12959990" y="9317742"/>
            <a:ext cx="4" cy="10800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56" name="Freeform 67"/>
          <p:cNvSpPr/>
          <p:nvPr/>
        </p:nvSpPr>
        <p:spPr>
          <a:xfrm>
            <a:off x="13975212" y="9321118"/>
            <a:ext cx="4" cy="10813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57" name="TextBox 1"/>
          <p:cNvSpPr txBox="1"/>
          <p:nvPr/>
        </p:nvSpPr>
        <p:spPr>
          <a:xfrm>
            <a:off x="63497" y="10507980"/>
            <a:ext cx="77312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000000">
                    <a:alpha val="50000"/>
                  </a:srgbClr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[SEC=PROTECTED]</a:t>
            </a:r>
          </a:p>
        </p:txBody>
      </p:sp>
      <p:sp>
        <p:nvSpPr>
          <p:cNvPr id="758" name="Picture Placeholder 2"/>
          <p:cNvSpPr/>
          <p:nvPr/>
        </p:nvSpPr>
        <p:spPr>
          <a:xfrm>
            <a:off x="599800" y="508423"/>
            <a:ext cx="11233730" cy="936439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 defTabSz="1407968">
              <a:spcBef>
                <a:spcPts val="1200"/>
              </a:spcBef>
              <a:defRPr sz="5000"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759" name="TextBox 6"/>
          <p:cNvSpPr txBox="1"/>
          <p:nvPr/>
        </p:nvSpPr>
        <p:spPr>
          <a:xfrm>
            <a:off x="13549306" y="7032755"/>
            <a:ext cx="1284189" cy="63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BOLDYN NETWORKS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</a:t>
            </a:r>
            <a:r>
              <a:rPr baseline="30000"/>
              <a:t>nd</a:t>
            </a:r>
            <a:r>
              <a:t> FLOOR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 KINGDOM STREET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LONDON 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W2 6BD</a:t>
            </a:r>
          </a:p>
        </p:txBody>
      </p:sp>
      <p:sp>
        <p:nvSpPr>
          <p:cNvPr id="760" name="Freeform: Shape 7"/>
          <p:cNvSpPr/>
          <p:nvPr/>
        </p:nvSpPr>
        <p:spPr>
          <a:xfrm>
            <a:off x="12537433" y="7031193"/>
            <a:ext cx="705489" cy="6648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0873"/>
                </a:moveTo>
                <a:lnTo>
                  <a:pt x="21231" y="9061"/>
                </a:lnTo>
                <a:lnTo>
                  <a:pt x="20308" y="7567"/>
                </a:lnTo>
                <a:lnTo>
                  <a:pt x="18900" y="6563"/>
                </a:lnTo>
                <a:lnTo>
                  <a:pt x="17192" y="6196"/>
                </a:lnTo>
                <a:lnTo>
                  <a:pt x="6808" y="6196"/>
                </a:lnTo>
                <a:lnTo>
                  <a:pt x="6808" y="0"/>
                </a:lnTo>
                <a:lnTo>
                  <a:pt x="4131" y="0"/>
                </a:lnTo>
                <a:lnTo>
                  <a:pt x="4131" y="6196"/>
                </a:lnTo>
                <a:lnTo>
                  <a:pt x="0" y="6196"/>
                </a:lnTo>
                <a:lnTo>
                  <a:pt x="0" y="9037"/>
                </a:lnTo>
                <a:lnTo>
                  <a:pt x="4131" y="9037"/>
                </a:lnTo>
                <a:lnTo>
                  <a:pt x="4131" y="6196"/>
                </a:lnTo>
                <a:lnTo>
                  <a:pt x="6808" y="6196"/>
                </a:lnTo>
                <a:lnTo>
                  <a:pt x="6808" y="9037"/>
                </a:lnTo>
                <a:lnTo>
                  <a:pt x="18923" y="9037"/>
                </a:lnTo>
                <a:lnTo>
                  <a:pt x="18923" y="18759"/>
                </a:lnTo>
                <a:lnTo>
                  <a:pt x="6808" y="18759"/>
                </a:lnTo>
                <a:lnTo>
                  <a:pt x="6808" y="9037"/>
                </a:lnTo>
                <a:lnTo>
                  <a:pt x="4131" y="9037"/>
                </a:lnTo>
                <a:lnTo>
                  <a:pt x="4131" y="16922"/>
                </a:lnTo>
                <a:lnTo>
                  <a:pt x="4477" y="18735"/>
                </a:lnTo>
                <a:lnTo>
                  <a:pt x="5423" y="20229"/>
                </a:lnTo>
                <a:lnTo>
                  <a:pt x="6831" y="21233"/>
                </a:lnTo>
                <a:lnTo>
                  <a:pt x="8538" y="21600"/>
                </a:lnTo>
                <a:lnTo>
                  <a:pt x="17192" y="21600"/>
                </a:lnTo>
                <a:lnTo>
                  <a:pt x="18900" y="21233"/>
                </a:lnTo>
                <a:lnTo>
                  <a:pt x="20308" y="20229"/>
                </a:lnTo>
                <a:lnTo>
                  <a:pt x="21231" y="18759"/>
                </a:lnTo>
                <a:lnTo>
                  <a:pt x="21600" y="16922"/>
                </a:lnTo>
                <a:lnTo>
                  <a:pt x="21600" y="10873"/>
                </a:lnTo>
                <a:close/>
              </a:path>
            </a:pathLst>
          </a:custGeom>
          <a:solidFill>
            <a:srgbClr val="F5054F">
              <a:alpha val="29802"/>
            </a:srgb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761" name="TextBox 27"/>
          <p:cNvSpPr txBox="1"/>
          <p:nvPr/>
        </p:nvSpPr>
        <p:spPr>
          <a:xfrm>
            <a:off x="13056406" y="9758240"/>
            <a:ext cx="177709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Original Submission</a:t>
            </a:r>
          </a:p>
        </p:txBody>
      </p:sp>
      <p:sp>
        <p:nvSpPr>
          <p:cNvPr id="762" name="TextBox 28"/>
          <p:cNvSpPr txBox="1"/>
          <p:nvPr/>
        </p:nvSpPr>
        <p:spPr>
          <a:xfrm>
            <a:off x="12247271" y="9758240"/>
            <a:ext cx="22438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P01</a:t>
            </a:r>
          </a:p>
        </p:txBody>
      </p:sp>
      <p:sp>
        <p:nvSpPr>
          <p:cNvPr id="763" name="TextBox 30"/>
          <p:cNvSpPr txBox="1"/>
          <p:nvPr/>
        </p:nvSpPr>
        <p:spPr>
          <a:xfrm>
            <a:off x="12233457" y="8514819"/>
            <a:ext cx="260097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&lt;&lt;ADDRESS&gt;&gt;</a:t>
            </a:r>
          </a:p>
        </p:txBody>
      </p:sp>
      <p:sp>
        <p:nvSpPr>
          <p:cNvPr id="764" name="TextBox 31"/>
          <p:cNvSpPr txBox="1"/>
          <p:nvPr/>
        </p:nvSpPr>
        <p:spPr>
          <a:xfrm>
            <a:off x="12229823" y="7989785"/>
            <a:ext cx="260097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&lt;&lt;STATION_NAME&gt;&gt;</a:t>
            </a:r>
          </a:p>
        </p:txBody>
      </p:sp>
      <p:sp>
        <p:nvSpPr>
          <p:cNvPr id="765" name="TextBox 32"/>
          <p:cNvSpPr txBox="1"/>
          <p:nvPr/>
        </p:nvSpPr>
        <p:spPr>
          <a:xfrm>
            <a:off x="13056406" y="9904169"/>
            <a:ext cx="177709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Updated design</a:t>
            </a:r>
          </a:p>
        </p:txBody>
      </p:sp>
      <p:sp>
        <p:nvSpPr>
          <p:cNvPr id="766" name="TextBox 33"/>
          <p:cNvSpPr txBox="1"/>
          <p:nvPr/>
        </p:nvSpPr>
        <p:spPr>
          <a:xfrm>
            <a:off x="12247271" y="9904169"/>
            <a:ext cx="22438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P02</a:t>
            </a:r>
          </a:p>
        </p:txBody>
      </p:sp>
      <p:pic>
        <p:nvPicPr>
          <p:cNvPr id="767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2233457" y="722526"/>
            <a:ext cx="2633704" cy="646233"/>
          </a:xfrm>
          <a:prstGeom prst="rect">
            <a:avLst/>
          </a:prstGeom>
          <a:ln w="12700">
            <a:miter lim="400000"/>
          </a:ln>
        </p:spPr>
      </p:pic>
      <p:sp>
        <p:nvSpPr>
          <p:cNvPr id="768" name="Rectangle 62"/>
          <p:cNvSpPr txBox="1"/>
          <p:nvPr/>
        </p:nvSpPr>
        <p:spPr>
          <a:xfrm>
            <a:off x="1031881" y="10077207"/>
            <a:ext cx="1398603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LTE</a:t>
            </a:r>
          </a:p>
        </p:txBody>
      </p:sp>
      <p:sp>
        <p:nvSpPr>
          <p:cNvPr id="769" name="Freeform 55"/>
          <p:cNvSpPr/>
          <p:nvPr/>
        </p:nvSpPr>
        <p:spPr>
          <a:xfrm>
            <a:off x="9227818" y="10104121"/>
            <a:ext cx="3" cy="335284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70" name="Freeform 56"/>
          <p:cNvSpPr/>
          <p:nvPr/>
        </p:nvSpPr>
        <p:spPr>
          <a:xfrm>
            <a:off x="6228517" y="10104121"/>
            <a:ext cx="4" cy="335284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71" name="Freeform 57"/>
          <p:cNvSpPr/>
          <p:nvPr/>
        </p:nvSpPr>
        <p:spPr>
          <a:xfrm>
            <a:off x="3204778" y="10104121"/>
            <a:ext cx="4" cy="335284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72" name="Rectangle 4"/>
          <p:cNvSpPr txBox="1"/>
          <p:nvPr/>
        </p:nvSpPr>
        <p:spPr>
          <a:xfrm>
            <a:off x="271007" y="10249420"/>
            <a:ext cx="2888053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Technology </a:t>
            </a:r>
          </a:p>
        </p:txBody>
      </p:sp>
      <p:sp>
        <p:nvSpPr>
          <p:cNvPr id="773" name="Rectangle 5"/>
          <p:cNvSpPr txBox="1"/>
          <p:nvPr/>
        </p:nvSpPr>
        <p:spPr>
          <a:xfrm>
            <a:off x="3250501" y="10249612"/>
            <a:ext cx="2924494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Frequency Band</a:t>
            </a:r>
          </a:p>
        </p:txBody>
      </p:sp>
      <p:sp>
        <p:nvSpPr>
          <p:cNvPr id="774" name="Rectangle 6"/>
          <p:cNvSpPr txBox="1"/>
          <p:nvPr/>
        </p:nvSpPr>
        <p:spPr>
          <a:xfrm>
            <a:off x="6272324" y="10254543"/>
            <a:ext cx="2901971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Plot</a:t>
            </a:r>
          </a:p>
        </p:txBody>
      </p:sp>
      <p:sp>
        <p:nvSpPr>
          <p:cNvPr id="775" name="Rectangle 7"/>
          <p:cNvSpPr txBox="1"/>
          <p:nvPr/>
        </p:nvSpPr>
        <p:spPr>
          <a:xfrm>
            <a:off x="9273537" y="10246400"/>
            <a:ext cx="2912501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Floor Level</a:t>
            </a:r>
          </a:p>
        </p:txBody>
      </p:sp>
      <p:sp>
        <p:nvSpPr>
          <p:cNvPr id="776" name="Rectangle 8"/>
          <p:cNvSpPr/>
          <p:nvPr/>
        </p:nvSpPr>
        <p:spPr>
          <a:xfrm>
            <a:off x="225282" y="10279246"/>
            <a:ext cx="12004820" cy="157181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777" name="Rectangle 9"/>
          <p:cNvSpPr/>
          <p:nvPr/>
        </p:nvSpPr>
        <p:spPr>
          <a:xfrm>
            <a:off x="225282" y="10103973"/>
            <a:ext cx="12004820" cy="174458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778" name="Rectangle 35"/>
          <p:cNvSpPr txBox="1"/>
          <p:nvPr/>
        </p:nvSpPr>
        <p:spPr>
          <a:xfrm>
            <a:off x="12352687" y="1531651"/>
            <a:ext cx="535696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LEGEND</a:t>
            </a:r>
          </a:p>
        </p:txBody>
      </p:sp>
      <p:grpSp>
        <p:nvGrpSpPr>
          <p:cNvPr id="795" name="Group 36"/>
          <p:cNvGrpSpPr/>
          <p:nvPr/>
        </p:nvGrpSpPr>
        <p:grpSpPr>
          <a:xfrm>
            <a:off x="12144183" y="1695397"/>
            <a:ext cx="1269045" cy="1164242"/>
            <a:chOff x="0" y="0"/>
            <a:chExt cx="1269044" cy="1164241"/>
          </a:xfrm>
        </p:grpSpPr>
        <p:grpSp>
          <p:nvGrpSpPr>
            <p:cNvPr id="784" name="Group 37"/>
            <p:cNvGrpSpPr/>
            <p:nvPr/>
          </p:nvGrpSpPr>
          <p:grpSpPr>
            <a:xfrm>
              <a:off x="255734" y="284359"/>
              <a:ext cx="619351" cy="879882"/>
              <a:chOff x="-1" y="0"/>
              <a:chExt cx="619350" cy="879881"/>
            </a:xfrm>
          </p:grpSpPr>
          <p:sp>
            <p:nvSpPr>
              <p:cNvPr id="779" name="Rectangle 48"/>
              <p:cNvSpPr/>
              <p:nvPr/>
            </p:nvSpPr>
            <p:spPr>
              <a:xfrm>
                <a:off x="-2" y="-1"/>
                <a:ext cx="619003" cy="177169"/>
              </a:xfrm>
              <a:prstGeom prst="rect">
                <a:avLst/>
              </a:prstGeom>
              <a:solidFill>
                <a:srgbClr val="28E3FC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780" name="Rectangle 49"/>
              <p:cNvSpPr/>
              <p:nvPr/>
            </p:nvSpPr>
            <p:spPr>
              <a:xfrm>
                <a:off x="-1" y="177166"/>
                <a:ext cx="619003" cy="177169"/>
              </a:xfrm>
              <a:prstGeom prst="rect">
                <a:avLst/>
              </a:prstGeom>
              <a:solidFill>
                <a:srgbClr val="00FF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781" name="Rectangle 50"/>
              <p:cNvSpPr/>
              <p:nvPr/>
            </p:nvSpPr>
            <p:spPr>
              <a:xfrm>
                <a:off x="347" y="354332"/>
                <a:ext cx="619003" cy="177169"/>
              </a:xfrm>
              <a:prstGeom prst="rect">
                <a:avLst/>
              </a:prstGeom>
              <a:solidFill>
                <a:srgbClr val="FFFF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782" name="Rectangle 51"/>
              <p:cNvSpPr/>
              <p:nvPr/>
            </p:nvSpPr>
            <p:spPr>
              <a:xfrm>
                <a:off x="347" y="531499"/>
                <a:ext cx="619003" cy="177169"/>
              </a:xfrm>
              <a:prstGeom prst="rect">
                <a:avLst/>
              </a:prstGeom>
              <a:solidFill>
                <a:srgbClr val="FFC0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783" name="Rectangle 52"/>
              <p:cNvSpPr/>
              <p:nvPr/>
            </p:nvSpPr>
            <p:spPr>
              <a:xfrm>
                <a:off x="347" y="702712"/>
                <a:ext cx="619003" cy="177169"/>
              </a:xfrm>
              <a:prstGeom prst="rect">
                <a:avLst/>
              </a:prstGeom>
              <a:solidFill>
                <a:srgbClr val="FF00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</p:grpSp>
        <p:sp>
          <p:nvSpPr>
            <p:cNvPr id="785" name="Straight Connector 38"/>
            <p:cNvSpPr/>
            <p:nvPr/>
          </p:nvSpPr>
          <p:spPr>
            <a:xfrm>
              <a:off x="811838" y="816671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786" name="Straight Connector 39"/>
            <p:cNvSpPr/>
            <p:nvPr/>
          </p:nvSpPr>
          <p:spPr>
            <a:xfrm>
              <a:off x="812087" y="638693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787" name="Straight Connector 40"/>
            <p:cNvSpPr/>
            <p:nvPr/>
          </p:nvSpPr>
          <p:spPr>
            <a:xfrm>
              <a:off x="812087" y="461528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788" name="Straight Connector 41"/>
            <p:cNvSpPr/>
            <p:nvPr/>
          </p:nvSpPr>
          <p:spPr>
            <a:xfrm>
              <a:off x="830248" y="987070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789" name="TextBox 42"/>
            <p:cNvSpPr txBox="1"/>
            <p:nvPr/>
          </p:nvSpPr>
          <p:spPr>
            <a:xfrm>
              <a:off x="-1" y="-1"/>
              <a:ext cx="1013468" cy="2285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algn="ctr" defTabSz="914371">
                <a:defRPr b="1" sz="1000" u="sng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SNIR (dB)</a:t>
              </a:r>
            </a:p>
          </p:txBody>
        </p:sp>
        <p:sp>
          <p:nvSpPr>
            <p:cNvPr id="790" name="TextBox 43"/>
            <p:cNvSpPr txBox="1"/>
            <p:nvPr/>
          </p:nvSpPr>
          <p:spPr>
            <a:xfrm>
              <a:off x="880765" y="136855"/>
              <a:ext cx="333531" cy="2285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Max</a:t>
              </a:r>
            </a:p>
          </p:txBody>
        </p:sp>
        <p:sp>
          <p:nvSpPr>
            <p:cNvPr id="791" name="TextBox 44"/>
            <p:cNvSpPr txBox="1"/>
            <p:nvPr/>
          </p:nvSpPr>
          <p:spPr>
            <a:xfrm>
              <a:off x="935956" y="339738"/>
              <a:ext cx="324837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 &gt;20</a:t>
              </a:r>
            </a:p>
          </p:txBody>
        </p:sp>
        <p:sp>
          <p:nvSpPr>
            <p:cNvPr id="792" name="TextBox 45"/>
            <p:cNvSpPr txBox="1"/>
            <p:nvPr/>
          </p:nvSpPr>
          <p:spPr>
            <a:xfrm>
              <a:off x="944207" y="523745"/>
              <a:ext cx="324837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 &gt;14</a:t>
              </a:r>
            </a:p>
          </p:txBody>
        </p:sp>
        <p:sp>
          <p:nvSpPr>
            <p:cNvPr id="793" name="TextBox 46"/>
            <p:cNvSpPr txBox="1"/>
            <p:nvPr/>
          </p:nvSpPr>
          <p:spPr>
            <a:xfrm>
              <a:off x="980238" y="695082"/>
              <a:ext cx="260469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6</a:t>
              </a:r>
            </a:p>
          </p:txBody>
        </p:sp>
        <p:sp>
          <p:nvSpPr>
            <p:cNvPr id="794" name="TextBox 47"/>
            <p:cNvSpPr txBox="1"/>
            <p:nvPr/>
          </p:nvSpPr>
          <p:spPr>
            <a:xfrm>
              <a:off x="977068" y="876824"/>
              <a:ext cx="260469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0</a:t>
              </a:r>
            </a:p>
          </p:txBody>
        </p:sp>
      </p:grpSp>
      <p:grpSp>
        <p:nvGrpSpPr>
          <p:cNvPr id="798" name="Rectangle 54"/>
          <p:cNvGrpSpPr/>
          <p:nvPr/>
        </p:nvGrpSpPr>
        <p:grpSpPr>
          <a:xfrm>
            <a:off x="12242777" y="6320589"/>
            <a:ext cx="2627302" cy="392467"/>
            <a:chOff x="-1" y="0"/>
            <a:chExt cx="2627301" cy="392465"/>
          </a:xfrm>
        </p:grpSpPr>
        <p:sp>
          <p:nvSpPr>
            <p:cNvPr id="796" name="Rectangle"/>
            <p:cNvSpPr/>
            <p:nvPr/>
          </p:nvSpPr>
          <p:spPr>
            <a:xfrm>
              <a:off x="-2" y="34217"/>
              <a:ext cx="2627302" cy="324043"/>
            </a:xfrm>
            <a:prstGeom prst="rect">
              <a:avLst/>
            </a:prstGeom>
            <a:solidFill>
              <a:srgbClr val="D91D49"/>
            </a:solidFill>
            <a:ln w="19050" cap="rnd">
              <a:solidFill>
                <a:srgbClr val="D91D49"/>
              </a:solidFill>
              <a:prstDash val="solid"/>
              <a:bevel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797" name="LTE 2100MHz"/>
            <p:cNvSpPr txBox="1"/>
            <p:nvPr/>
          </p:nvSpPr>
          <p:spPr>
            <a:xfrm>
              <a:off x="55243" y="-1"/>
              <a:ext cx="2516811" cy="39246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b="1" sz="24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LTE 2100MHz</a:t>
              </a:r>
            </a:p>
          </p:txBody>
        </p:sp>
      </p:grpSp>
      <p:sp>
        <p:nvSpPr>
          <p:cNvPr id="799" name="Rectangle 56"/>
          <p:cNvSpPr txBox="1"/>
          <p:nvPr/>
        </p:nvSpPr>
        <p:spPr>
          <a:xfrm>
            <a:off x="6274834" y="10083707"/>
            <a:ext cx="2896896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SNIR (dB)</a:t>
            </a:r>
          </a:p>
        </p:txBody>
      </p:sp>
      <p:sp>
        <p:nvSpPr>
          <p:cNvPr id="800" name="Rectangle 55"/>
          <p:cNvSpPr txBox="1"/>
          <p:nvPr/>
        </p:nvSpPr>
        <p:spPr>
          <a:xfrm>
            <a:off x="3250495" y="10088032"/>
            <a:ext cx="2932902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2100MHz</a:t>
            </a:r>
          </a:p>
        </p:txBody>
      </p:sp>
      <p:sp>
        <p:nvSpPr>
          <p:cNvPr id="801" name="DRAWN:  &lt;D&gt;"/>
          <p:cNvSpPr txBox="1"/>
          <p:nvPr/>
        </p:nvSpPr>
        <p:spPr>
          <a:xfrm>
            <a:off x="12322172" y="9274488"/>
            <a:ext cx="596721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</a:defRPr>
            </a:pPr>
            <a:r>
              <a:t>DRAWN:  </a:t>
            </a:r>
            <a:r>
              <a:rPr>
                <a:solidFill>
                  <a:srgbClr val="000000"/>
                </a:solidFill>
              </a:rPr>
              <a:t>&lt;D&gt;</a:t>
            </a:r>
          </a:p>
        </p:txBody>
      </p:sp>
      <p:sp>
        <p:nvSpPr>
          <p:cNvPr id="802" name="CHECKED: &lt;C&gt;"/>
          <p:cNvSpPr txBox="1"/>
          <p:nvPr/>
        </p:nvSpPr>
        <p:spPr>
          <a:xfrm>
            <a:off x="13113121" y="9281572"/>
            <a:ext cx="663099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CHECKED: </a:t>
            </a:r>
            <a:r>
              <a:rPr>
                <a:solidFill>
                  <a:srgbClr val="000000"/>
                </a:solidFill>
              </a:rPr>
              <a:t>&lt;C&gt;</a:t>
            </a:r>
          </a:p>
        </p:txBody>
      </p:sp>
      <p:sp>
        <p:nvSpPr>
          <p:cNvPr id="803" name="APPROVED: &lt;A&gt;"/>
          <p:cNvSpPr txBox="1"/>
          <p:nvPr/>
        </p:nvSpPr>
        <p:spPr>
          <a:xfrm>
            <a:off x="14081688" y="9281572"/>
            <a:ext cx="709756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APPROVED: </a:t>
            </a:r>
            <a:r>
              <a:rPr>
                <a:solidFill>
                  <a:srgbClr val="000000"/>
                </a:solidFill>
              </a:rPr>
              <a:t>&lt;A&gt;</a:t>
            </a:r>
          </a:p>
        </p:txBody>
      </p:sp>
      <p:sp>
        <p:nvSpPr>
          <p:cNvPr id="804" name="&lt;NUM&gt;"/>
          <p:cNvSpPr txBox="1"/>
          <p:nvPr/>
        </p:nvSpPr>
        <p:spPr>
          <a:xfrm>
            <a:off x="14324158" y="9149660"/>
            <a:ext cx="366670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600"/>
            </a:lvl1pPr>
          </a:lstStyle>
          <a:p>
            <a:pPr/>
            <a:r>
              <a:t>&lt;NUM&gt;</a:t>
            </a:r>
          </a:p>
        </p:txBody>
      </p:sp>
      <p:sp>
        <p:nvSpPr>
          <p:cNvPr id="805" name="&lt;P01&gt;"/>
          <p:cNvSpPr txBox="1"/>
          <p:nvPr/>
        </p:nvSpPr>
        <p:spPr>
          <a:xfrm>
            <a:off x="12598435" y="9704958"/>
            <a:ext cx="328719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&lt;P01&gt;</a:t>
            </a:r>
          </a:p>
        </p:txBody>
      </p:sp>
      <p:sp>
        <p:nvSpPr>
          <p:cNvPr id="806" name="&lt;P02&gt;"/>
          <p:cNvSpPr txBox="1"/>
          <p:nvPr/>
        </p:nvSpPr>
        <p:spPr>
          <a:xfrm>
            <a:off x="12592863" y="9862504"/>
            <a:ext cx="328718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&lt;P02&gt;</a:t>
            </a:r>
          </a:p>
        </p:txBody>
      </p:sp>
      <p:sp>
        <p:nvSpPr>
          <p:cNvPr id="807" name="&lt;&lt;logo&gt;&gt;"/>
          <p:cNvSpPr txBox="1"/>
          <p:nvPr/>
        </p:nvSpPr>
        <p:spPr>
          <a:xfrm>
            <a:off x="13422174" y="875552"/>
            <a:ext cx="1054157" cy="3401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0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&lt;&lt;logo&gt;&gt;</a:t>
            </a:r>
          </a:p>
        </p:txBody>
      </p:sp>
      <p:sp>
        <p:nvSpPr>
          <p:cNvPr id="80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23_LTE RSR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TextBox 66"/>
          <p:cNvSpPr txBox="1"/>
          <p:nvPr/>
        </p:nvSpPr>
        <p:spPr>
          <a:xfrm>
            <a:off x="13525788" y="9201184"/>
            <a:ext cx="130066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SHEET:</a:t>
            </a:r>
          </a:p>
        </p:txBody>
      </p:sp>
      <p:sp>
        <p:nvSpPr>
          <p:cNvPr id="816" name="Freeform 10"/>
          <p:cNvSpPr/>
          <p:nvPr/>
        </p:nvSpPr>
        <p:spPr>
          <a:xfrm flipH="1">
            <a:off x="12234861" y="209548"/>
            <a:ext cx="1" cy="10224004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17" name="Freeform 11"/>
          <p:cNvSpPr/>
          <p:nvPr/>
        </p:nvSpPr>
        <p:spPr>
          <a:xfrm>
            <a:off x="12230100" y="702182"/>
            <a:ext cx="2646003" cy="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18" name="TextBox 15"/>
          <p:cNvSpPr txBox="1"/>
          <p:nvPr/>
        </p:nvSpPr>
        <p:spPr>
          <a:xfrm>
            <a:off x="12339755" y="6726997"/>
            <a:ext cx="2522705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400">
                <a:solidFill>
                  <a:srgbClr val="A6A6A6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RF PREDICTIONS</a:t>
            </a:r>
          </a:p>
        </p:txBody>
      </p:sp>
      <p:sp>
        <p:nvSpPr>
          <p:cNvPr id="819" name="TextBox 17"/>
          <p:cNvSpPr txBox="1"/>
          <p:nvPr/>
        </p:nvSpPr>
        <p:spPr>
          <a:xfrm>
            <a:off x="12253914" y="7872499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STATION</a:t>
            </a:r>
          </a:p>
        </p:txBody>
      </p:sp>
      <p:sp>
        <p:nvSpPr>
          <p:cNvPr id="820" name="Freeform 45"/>
          <p:cNvSpPr/>
          <p:nvPr/>
        </p:nvSpPr>
        <p:spPr>
          <a:xfrm>
            <a:off x="12230100" y="8848334"/>
            <a:ext cx="2646003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21" name="Freeform 67"/>
          <p:cNvSpPr/>
          <p:nvPr/>
        </p:nvSpPr>
        <p:spPr>
          <a:xfrm>
            <a:off x="13545545" y="6970361"/>
            <a:ext cx="3" cy="890405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22" name="TextBox 75"/>
          <p:cNvSpPr txBox="1"/>
          <p:nvPr/>
        </p:nvSpPr>
        <p:spPr>
          <a:xfrm>
            <a:off x="12234160" y="9470638"/>
            <a:ext cx="259229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DRAWING HISTORY</a:t>
            </a:r>
          </a:p>
        </p:txBody>
      </p:sp>
      <p:sp>
        <p:nvSpPr>
          <p:cNvPr id="823" name="Freeform 76"/>
          <p:cNvSpPr/>
          <p:nvPr/>
        </p:nvSpPr>
        <p:spPr>
          <a:xfrm>
            <a:off x="12233492" y="9612058"/>
            <a:ext cx="2636007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24" name="TextBox 77"/>
          <p:cNvSpPr txBox="1"/>
          <p:nvPr/>
        </p:nvSpPr>
        <p:spPr>
          <a:xfrm>
            <a:off x="12507654" y="9632305"/>
            <a:ext cx="51028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DATE</a:t>
            </a:r>
          </a:p>
        </p:txBody>
      </p:sp>
      <p:sp>
        <p:nvSpPr>
          <p:cNvPr id="825" name="Freeform 79"/>
          <p:cNvSpPr/>
          <p:nvPr/>
        </p:nvSpPr>
        <p:spPr>
          <a:xfrm>
            <a:off x="12513692" y="9612117"/>
            <a:ext cx="4" cy="821437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26" name="TextBox 80"/>
          <p:cNvSpPr txBox="1"/>
          <p:nvPr/>
        </p:nvSpPr>
        <p:spPr>
          <a:xfrm>
            <a:off x="12233491" y="9634148"/>
            <a:ext cx="26032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ISSUE</a:t>
            </a:r>
          </a:p>
        </p:txBody>
      </p:sp>
      <p:sp>
        <p:nvSpPr>
          <p:cNvPr id="827" name="Freeform 82"/>
          <p:cNvSpPr/>
          <p:nvPr/>
        </p:nvSpPr>
        <p:spPr>
          <a:xfrm>
            <a:off x="12236067" y="9736835"/>
            <a:ext cx="2636007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28" name="Freeform 83"/>
          <p:cNvSpPr/>
          <p:nvPr/>
        </p:nvSpPr>
        <p:spPr>
          <a:xfrm>
            <a:off x="13052420" y="9614212"/>
            <a:ext cx="4" cy="824700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29" name="TextBox 84"/>
          <p:cNvSpPr txBox="1"/>
          <p:nvPr/>
        </p:nvSpPr>
        <p:spPr>
          <a:xfrm>
            <a:off x="13058443" y="9631360"/>
            <a:ext cx="178161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DESCRIPTION</a:t>
            </a:r>
          </a:p>
        </p:txBody>
      </p:sp>
      <p:sp>
        <p:nvSpPr>
          <p:cNvPr id="830" name="Freeform 86"/>
          <p:cNvSpPr/>
          <p:nvPr/>
        </p:nvSpPr>
        <p:spPr>
          <a:xfrm>
            <a:off x="12237973" y="9877804"/>
            <a:ext cx="2636008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31" name="Freeform 87"/>
          <p:cNvSpPr/>
          <p:nvPr/>
        </p:nvSpPr>
        <p:spPr>
          <a:xfrm>
            <a:off x="12236067" y="9878180"/>
            <a:ext cx="2636007" cy="3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32" name="Freeform 88"/>
          <p:cNvSpPr/>
          <p:nvPr/>
        </p:nvSpPr>
        <p:spPr>
          <a:xfrm>
            <a:off x="12237973" y="10019151"/>
            <a:ext cx="2636008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33" name="Freeform 90"/>
          <p:cNvSpPr/>
          <p:nvPr/>
        </p:nvSpPr>
        <p:spPr>
          <a:xfrm>
            <a:off x="12237973" y="10159355"/>
            <a:ext cx="2636008" cy="5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34" name="Straight Connector 2"/>
          <p:cNvSpPr/>
          <p:nvPr/>
        </p:nvSpPr>
        <p:spPr>
          <a:xfrm>
            <a:off x="12237973" y="6966880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35" name="Straight Connector 71"/>
          <p:cNvSpPr/>
          <p:nvPr/>
        </p:nvSpPr>
        <p:spPr>
          <a:xfrm>
            <a:off x="12237973" y="6678848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36" name="Freeform 90"/>
          <p:cNvSpPr/>
          <p:nvPr/>
        </p:nvSpPr>
        <p:spPr>
          <a:xfrm>
            <a:off x="12237973" y="10298666"/>
            <a:ext cx="2636008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37" name="TextBox 98"/>
          <p:cNvSpPr txBox="1"/>
          <p:nvPr/>
        </p:nvSpPr>
        <p:spPr>
          <a:xfrm>
            <a:off x="13070458" y="9889172"/>
            <a:ext cx="176304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 </a:t>
            </a:r>
          </a:p>
        </p:txBody>
      </p:sp>
      <p:sp>
        <p:nvSpPr>
          <p:cNvPr id="838" name="TextBox 74"/>
          <p:cNvSpPr txBox="1"/>
          <p:nvPr/>
        </p:nvSpPr>
        <p:spPr>
          <a:xfrm>
            <a:off x="12243182" y="9193193"/>
            <a:ext cx="126636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SCALE: </a:t>
            </a:r>
            <a:r>
              <a:rPr>
                <a:solidFill>
                  <a:srgbClr val="000000"/>
                </a:solidFill>
              </a:rPr>
              <a:t>NOT TO SCALE</a:t>
            </a:r>
          </a:p>
        </p:txBody>
      </p:sp>
      <p:sp>
        <p:nvSpPr>
          <p:cNvPr id="839" name="Freeform 47"/>
          <p:cNvSpPr/>
          <p:nvPr/>
        </p:nvSpPr>
        <p:spPr>
          <a:xfrm>
            <a:off x="12226542" y="9184596"/>
            <a:ext cx="2646004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40" name="TextBox 109"/>
          <p:cNvSpPr txBox="1"/>
          <p:nvPr/>
        </p:nvSpPr>
        <p:spPr>
          <a:xfrm>
            <a:off x="12253914" y="8867116"/>
            <a:ext cx="95997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DOCUMENT REFERENCE</a:t>
            </a:r>
          </a:p>
        </p:txBody>
      </p:sp>
      <p:sp>
        <p:nvSpPr>
          <p:cNvPr id="841" name="TextBox 110"/>
          <p:cNvSpPr txBox="1"/>
          <p:nvPr/>
        </p:nvSpPr>
        <p:spPr>
          <a:xfrm>
            <a:off x="12223991" y="8967075"/>
            <a:ext cx="259089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APPENDIX B – RF PREDICTIONS </a:t>
            </a:r>
          </a:p>
        </p:txBody>
      </p:sp>
      <p:sp>
        <p:nvSpPr>
          <p:cNvPr id="842" name="Straight Connector 115"/>
          <p:cNvSpPr/>
          <p:nvPr/>
        </p:nvSpPr>
        <p:spPr>
          <a:xfrm>
            <a:off x="12237973" y="7857455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43" name="Rectangle 118"/>
          <p:cNvSpPr txBox="1"/>
          <p:nvPr/>
        </p:nvSpPr>
        <p:spPr>
          <a:xfrm>
            <a:off x="12292583" y="374373"/>
            <a:ext cx="2524151" cy="243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0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COMMERCIAL MOBILE SERVICES</a:t>
            </a:r>
          </a:p>
        </p:txBody>
      </p:sp>
      <p:sp>
        <p:nvSpPr>
          <p:cNvPr id="844" name="Rectangle 3"/>
          <p:cNvSpPr/>
          <p:nvPr/>
        </p:nvSpPr>
        <p:spPr>
          <a:xfrm>
            <a:off x="0" y="1"/>
            <a:ext cx="15122525" cy="236989"/>
          </a:xfrm>
          <a:prstGeom prst="rect">
            <a:avLst/>
          </a:prstGeom>
          <a:solidFill>
            <a:srgbClr val="D91D49"/>
          </a:solidFill>
          <a:ln w="25400">
            <a:solidFill>
              <a:srgbClr val="D91D49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845" name="Freeform 47"/>
          <p:cNvSpPr/>
          <p:nvPr/>
        </p:nvSpPr>
        <p:spPr>
          <a:xfrm flipV="1">
            <a:off x="13531176" y="9183037"/>
            <a:ext cx="4" cy="124739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46" name="Rectangle 5"/>
          <p:cNvSpPr/>
          <p:nvPr/>
        </p:nvSpPr>
        <p:spPr>
          <a:xfrm>
            <a:off x="223628" y="261258"/>
            <a:ext cx="14646449" cy="10175448"/>
          </a:xfrm>
          <a:prstGeom prst="rect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847" name="TextBox 49"/>
          <p:cNvSpPr txBox="1"/>
          <p:nvPr/>
        </p:nvSpPr>
        <p:spPr>
          <a:xfrm>
            <a:off x="12253914" y="8285091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ADDRESS</a:t>
            </a:r>
          </a:p>
        </p:txBody>
      </p:sp>
      <p:sp>
        <p:nvSpPr>
          <p:cNvPr id="848" name="Freeform 45"/>
          <p:cNvSpPr/>
          <p:nvPr/>
        </p:nvSpPr>
        <p:spPr>
          <a:xfrm>
            <a:off x="12230100" y="8849604"/>
            <a:ext cx="2646003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49" name="Straight Connector 52"/>
          <p:cNvSpPr/>
          <p:nvPr/>
        </p:nvSpPr>
        <p:spPr>
          <a:xfrm>
            <a:off x="12237973" y="8270047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50" name="Freeform 47"/>
          <p:cNvSpPr/>
          <p:nvPr/>
        </p:nvSpPr>
        <p:spPr>
          <a:xfrm>
            <a:off x="12236067" y="9317742"/>
            <a:ext cx="2631525" cy="5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51" name="Freeform 48"/>
          <p:cNvSpPr/>
          <p:nvPr/>
        </p:nvSpPr>
        <p:spPr>
          <a:xfrm>
            <a:off x="12227249" y="9427722"/>
            <a:ext cx="2646003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52" name="Freeform 21"/>
          <p:cNvSpPr/>
          <p:nvPr/>
        </p:nvSpPr>
        <p:spPr>
          <a:xfrm>
            <a:off x="12959990" y="9317742"/>
            <a:ext cx="4" cy="10800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53" name="Freeform 67"/>
          <p:cNvSpPr/>
          <p:nvPr/>
        </p:nvSpPr>
        <p:spPr>
          <a:xfrm>
            <a:off x="13975212" y="9321118"/>
            <a:ext cx="4" cy="10813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54" name="TextBox 1"/>
          <p:cNvSpPr txBox="1"/>
          <p:nvPr/>
        </p:nvSpPr>
        <p:spPr>
          <a:xfrm>
            <a:off x="63497" y="10507980"/>
            <a:ext cx="77312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000000">
                    <a:alpha val="50000"/>
                  </a:srgbClr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[SEC=PROTECTED]</a:t>
            </a:r>
          </a:p>
        </p:txBody>
      </p:sp>
      <p:sp>
        <p:nvSpPr>
          <p:cNvPr id="855" name="Picture Placeholder 2"/>
          <p:cNvSpPr/>
          <p:nvPr/>
        </p:nvSpPr>
        <p:spPr>
          <a:xfrm>
            <a:off x="599800" y="508423"/>
            <a:ext cx="11233730" cy="936439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 defTabSz="1407968">
              <a:spcBef>
                <a:spcPts val="1200"/>
              </a:spcBef>
              <a:defRPr sz="5000"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856" name="TextBox 6"/>
          <p:cNvSpPr txBox="1"/>
          <p:nvPr/>
        </p:nvSpPr>
        <p:spPr>
          <a:xfrm>
            <a:off x="13549306" y="7032755"/>
            <a:ext cx="1284189" cy="63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BOLDYN NETWORKS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</a:t>
            </a:r>
            <a:r>
              <a:rPr baseline="30000"/>
              <a:t>nd</a:t>
            </a:r>
            <a:r>
              <a:t> FLOOR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 KINGDOM STREET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LONDON 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W2 6BD</a:t>
            </a:r>
          </a:p>
        </p:txBody>
      </p:sp>
      <p:sp>
        <p:nvSpPr>
          <p:cNvPr id="857" name="Freeform: Shape 7"/>
          <p:cNvSpPr/>
          <p:nvPr/>
        </p:nvSpPr>
        <p:spPr>
          <a:xfrm>
            <a:off x="12537433" y="7031193"/>
            <a:ext cx="705489" cy="6648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0873"/>
                </a:moveTo>
                <a:lnTo>
                  <a:pt x="21231" y="9061"/>
                </a:lnTo>
                <a:lnTo>
                  <a:pt x="20308" y="7567"/>
                </a:lnTo>
                <a:lnTo>
                  <a:pt x="18900" y="6563"/>
                </a:lnTo>
                <a:lnTo>
                  <a:pt x="17192" y="6196"/>
                </a:lnTo>
                <a:lnTo>
                  <a:pt x="6808" y="6196"/>
                </a:lnTo>
                <a:lnTo>
                  <a:pt x="6808" y="0"/>
                </a:lnTo>
                <a:lnTo>
                  <a:pt x="4131" y="0"/>
                </a:lnTo>
                <a:lnTo>
                  <a:pt x="4131" y="6196"/>
                </a:lnTo>
                <a:lnTo>
                  <a:pt x="0" y="6196"/>
                </a:lnTo>
                <a:lnTo>
                  <a:pt x="0" y="9037"/>
                </a:lnTo>
                <a:lnTo>
                  <a:pt x="4131" y="9037"/>
                </a:lnTo>
                <a:lnTo>
                  <a:pt x="4131" y="6196"/>
                </a:lnTo>
                <a:lnTo>
                  <a:pt x="6808" y="6196"/>
                </a:lnTo>
                <a:lnTo>
                  <a:pt x="6808" y="9037"/>
                </a:lnTo>
                <a:lnTo>
                  <a:pt x="18923" y="9037"/>
                </a:lnTo>
                <a:lnTo>
                  <a:pt x="18923" y="18759"/>
                </a:lnTo>
                <a:lnTo>
                  <a:pt x="6808" y="18759"/>
                </a:lnTo>
                <a:lnTo>
                  <a:pt x="6808" y="9037"/>
                </a:lnTo>
                <a:lnTo>
                  <a:pt x="4131" y="9037"/>
                </a:lnTo>
                <a:lnTo>
                  <a:pt x="4131" y="16922"/>
                </a:lnTo>
                <a:lnTo>
                  <a:pt x="4477" y="18735"/>
                </a:lnTo>
                <a:lnTo>
                  <a:pt x="5423" y="20229"/>
                </a:lnTo>
                <a:lnTo>
                  <a:pt x="6831" y="21233"/>
                </a:lnTo>
                <a:lnTo>
                  <a:pt x="8538" y="21600"/>
                </a:lnTo>
                <a:lnTo>
                  <a:pt x="17192" y="21600"/>
                </a:lnTo>
                <a:lnTo>
                  <a:pt x="18900" y="21233"/>
                </a:lnTo>
                <a:lnTo>
                  <a:pt x="20308" y="20229"/>
                </a:lnTo>
                <a:lnTo>
                  <a:pt x="21231" y="18759"/>
                </a:lnTo>
                <a:lnTo>
                  <a:pt x="21600" y="16922"/>
                </a:lnTo>
                <a:lnTo>
                  <a:pt x="21600" y="10873"/>
                </a:lnTo>
                <a:close/>
              </a:path>
            </a:pathLst>
          </a:custGeom>
          <a:solidFill>
            <a:srgbClr val="F5054F">
              <a:alpha val="29802"/>
            </a:srgb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858" name="TextBox 27"/>
          <p:cNvSpPr txBox="1"/>
          <p:nvPr/>
        </p:nvSpPr>
        <p:spPr>
          <a:xfrm>
            <a:off x="13056406" y="9758240"/>
            <a:ext cx="177709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Original Submission</a:t>
            </a:r>
          </a:p>
        </p:txBody>
      </p:sp>
      <p:sp>
        <p:nvSpPr>
          <p:cNvPr id="859" name="TextBox 28"/>
          <p:cNvSpPr txBox="1"/>
          <p:nvPr/>
        </p:nvSpPr>
        <p:spPr>
          <a:xfrm>
            <a:off x="12247271" y="9758240"/>
            <a:ext cx="22438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P01</a:t>
            </a:r>
          </a:p>
        </p:txBody>
      </p:sp>
      <p:sp>
        <p:nvSpPr>
          <p:cNvPr id="860" name="TextBox 30"/>
          <p:cNvSpPr txBox="1"/>
          <p:nvPr/>
        </p:nvSpPr>
        <p:spPr>
          <a:xfrm>
            <a:off x="12233457" y="8514819"/>
            <a:ext cx="260097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&lt;&lt;ADDRESS&gt;&gt;</a:t>
            </a:r>
          </a:p>
        </p:txBody>
      </p:sp>
      <p:sp>
        <p:nvSpPr>
          <p:cNvPr id="861" name="TextBox 31"/>
          <p:cNvSpPr txBox="1"/>
          <p:nvPr/>
        </p:nvSpPr>
        <p:spPr>
          <a:xfrm>
            <a:off x="12239090" y="7990071"/>
            <a:ext cx="260097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&lt;&lt;STATION_NAME&gt;&gt;</a:t>
            </a:r>
          </a:p>
        </p:txBody>
      </p:sp>
      <p:sp>
        <p:nvSpPr>
          <p:cNvPr id="862" name="TextBox 32"/>
          <p:cNvSpPr txBox="1"/>
          <p:nvPr/>
        </p:nvSpPr>
        <p:spPr>
          <a:xfrm>
            <a:off x="13056406" y="9904169"/>
            <a:ext cx="177709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Updated design</a:t>
            </a:r>
          </a:p>
        </p:txBody>
      </p:sp>
      <p:sp>
        <p:nvSpPr>
          <p:cNvPr id="863" name="TextBox 33"/>
          <p:cNvSpPr txBox="1"/>
          <p:nvPr/>
        </p:nvSpPr>
        <p:spPr>
          <a:xfrm>
            <a:off x="12247271" y="9904169"/>
            <a:ext cx="22438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P02</a:t>
            </a:r>
          </a:p>
        </p:txBody>
      </p:sp>
      <p:pic>
        <p:nvPicPr>
          <p:cNvPr id="864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2233457" y="722526"/>
            <a:ext cx="2633704" cy="646233"/>
          </a:xfrm>
          <a:prstGeom prst="rect">
            <a:avLst/>
          </a:prstGeom>
          <a:ln w="12700">
            <a:miter lim="400000"/>
          </a:ln>
        </p:spPr>
      </p:pic>
      <p:sp>
        <p:nvSpPr>
          <p:cNvPr id="865" name="Rectangle 62"/>
          <p:cNvSpPr txBox="1"/>
          <p:nvPr/>
        </p:nvSpPr>
        <p:spPr>
          <a:xfrm>
            <a:off x="1031881" y="10077207"/>
            <a:ext cx="1398603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LTE</a:t>
            </a:r>
          </a:p>
        </p:txBody>
      </p:sp>
      <p:grpSp>
        <p:nvGrpSpPr>
          <p:cNvPr id="868" name="Rectangle 77"/>
          <p:cNvGrpSpPr/>
          <p:nvPr/>
        </p:nvGrpSpPr>
        <p:grpSpPr>
          <a:xfrm>
            <a:off x="12242777" y="6320589"/>
            <a:ext cx="2627302" cy="392467"/>
            <a:chOff x="-1" y="0"/>
            <a:chExt cx="2627301" cy="392465"/>
          </a:xfrm>
        </p:grpSpPr>
        <p:sp>
          <p:nvSpPr>
            <p:cNvPr id="866" name="Rectangle"/>
            <p:cNvSpPr/>
            <p:nvPr/>
          </p:nvSpPr>
          <p:spPr>
            <a:xfrm>
              <a:off x="-2" y="34217"/>
              <a:ext cx="2627302" cy="324043"/>
            </a:xfrm>
            <a:prstGeom prst="rect">
              <a:avLst/>
            </a:prstGeom>
            <a:solidFill>
              <a:srgbClr val="D91D49"/>
            </a:solidFill>
            <a:ln w="19050" cap="rnd">
              <a:solidFill>
                <a:srgbClr val="D91D49"/>
              </a:solidFill>
              <a:prstDash val="solid"/>
              <a:bevel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867" name="LTE 2300MHz"/>
            <p:cNvSpPr txBox="1"/>
            <p:nvPr/>
          </p:nvSpPr>
          <p:spPr>
            <a:xfrm>
              <a:off x="55243" y="-1"/>
              <a:ext cx="2516811" cy="39246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b="1" sz="24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LTE 2300MHz</a:t>
              </a:r>
            </a:p>
          </p:txBody>
        </p:sp>
      </p:grpSp>
      <p:sp>
        <p:nvSpPr>
          <p:cNvPr id="869" name="Freeform 55"/>
          <p:cNvSpPr/>
          <p:nvPr/>
        </p:nvSpPr>
        <p:spPr>
          <a:xfrm>
            <a:off x="9227818" y="10104121"/>
            <a:ext cx="3" cy="335284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70" name="Freeform 56"/>
          <p:cNvSpPr/>
          <p:nvPr/>
        </p:nvSpPr>
        <p:spPr>
          <a:xfrm>
            <a:off x="6228517" y="10104121"/>
            <a:ext cx="4" cy="335284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71" name="Freeform 57"/>
          <p:cNvSpPr/>
          <p:nvPr/>
        </p:nvSpPr>
        <p:spPr>
          <a:xfrm>
            <a:off x="3204778" y="10104121"/>
            <a:ext cx="4" cy="335284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72" name="Rectangle 4"/>
          <p:cNvSpPr txBox="1"/>
          <p:nvPr/>
        </p:nvSpPr>
        <p:spPr>
          <a:xfrm>
            <a:off x="271007" y="10249420"/>
            <a:ext cx="2888053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Technology </a:t>
            </a:r>
          </a:p>
        </p:txBody>
      </p:sp>
      <p:sp>
        <p:nvSpPr>
          <p:cNvPr id="873" name="Rectangle 5"/>
          <p:cNvSpPr txBox="1"/>
          <p:nvPr/>
        </p:nvSpPr>
        <p:spPr>
          <a:xfrm>
            <a:off x="3250501" y="10249612"/>
            <a:ext cx="2924494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Frequency Band</a:t>
            </a:r>
          </a:p>
        </p:txBody>
      </p:sp>
      <p:sp>
        <p:nvSpPr>
          <p:cNvPr id="874" name="Rectangle 6"/>
          <p:cNvSpPr txBox="1"/>
          <p:nvPr/>
        </p:nvSpPr>
        <p:spPr>
          <a:xfrm>
            <a:off x="6272324" y="10254543"/>
            <a:ext cx="2901971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Plot</a:t>
            </a:r>
          </a:p>
        </p:txBody>
      </p:sp>
      <p:sp>
        <p:nvSpPr>
          <p:cNvPr id="875" name="Rectangle 7"/>
          <p:cNvSpPr txBox="1"/>
          <p:nvPr/>
        </p:nvSpPr>
        <p:spPr>
          <a:xfrm>
            <a:off x="9273537" y="10246400"/>
            <a:ext cx="2912501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Floor Level</a:t>
            </a:r>
          </a:p>
        </p:txBody>
      </p:sp>
      <p:sp>
        <p:nvSpPr>
          <p:cNvPr id="876" name="Rectangle 8"/>
          <p:cNvSpPr/>
          <p:nvPr/>
        </p:nvSpPr>
        <p:spPr>
          <a:xfrm>
            <a:off x="225282" y="10279246"/>
            <a:ext cx="12004820" cy="157181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877" name="Rectangle 9"/>
          <p:cNvSpPr/>
          <p:nvPr/>
        </p:nvSpPr>
        <p:spPr>
          <a:xfrm>
            <a:off x="225282" y="10103973"/>
            <a:ext cx="12004820" cy="174458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878" name="Rectangle 58"/>
          <p:cNvSpPr txBox="1"/>
          <p:nvPr/>
        </p:nvSpPr>
        <p:spPr>
          <a:xfrm>
            <a:off x="6266434" y="10086647"/>
            <a:ext cx="2901971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RSRP (dBm)</a:t>
            </a:r>
          </a:p>
        </p:txBody>
      </p:sp>
      <p:grpSp>
        <p:nvGrpSpPr>
          <p:cNvPr id="901" name="Group 59"/>
          <p:cNvGrpSpPr/>
          <p:nvPr/>
        </p:nvGrpSpPr>
        <p:grpSpPr>
          <a:xfrm>
            <a:off x="12275816" y="1792967"/>
            <a:ext cx="1308273" cy="2247724"/>
            <a:chOff x="0" y="-1"/>
            <a:chExt cx="1308271" cy="2247723"/>
          </a:xfrm>
        </p:grpSpPr>
        <p:sp>
          <p:nvSpPr>
            <p:cNvPr id="879" name="Straight Connector 60"/>
            <p:cNvSpPr/>
            <p:nvPr/>
          </p:nvSpPr>
          <p:spPr>
            <a:xfrm>
              <a:off x="654462" y="1946115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880" name="Straight Connector 106"/>
            <p:cNvSpPr/>
            <p:nvPr/>
          </p:nvSpPr>
          <p:spPr>
            <a:xfrm>
              <a:off x="654462" y="1578450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881" name="Straight Connector 107"/>
            <p:cNvSpPr/>
            <p:nvPr/>
          </p:nvSpPr>
          <p:spPr>
            <a:xfrm>
              <a:off x="654462" y="1397475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882" name="Straight Connector 108"/>
            <p:cNvSpPr/>
            <p:nvPr/>
          </p:nvSpPr>
          <p:spPr>
            <a:xfrm>
              <a:off x="654462" y="1214595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883" name="Straight Connector 109"/>
            <p:cNvSpPr/>
            <p:nvPr/>
          </p:nvSpPr>
          <p:spPr>
            <a:xfrm>
              <a:off x="654462" y="1029807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884" name="Straight Connector 110"/>
            <p:cNvSpPr/>
            <p:nvPr/>
          </p:nvSpPr>
          <p:spPr>
            <a:xfrm>
              <a:off x="654462" y="846927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885" name="Straight Connector 111"/>
            <p:cNvSpPr/>
            <p:nvPr/>
          </p:nvSpPr>
          <p:spPr>
            <a:xfrm>
              <a:off x="654462" y="662142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886" name="Straight Connector 112"/>
            <p:cNvSpPr/>
            <p:nvPr/>
          </p:nvSpPr>
          <p:spPr>
            <a:xfrm>
              <a:off x="654462" y="483072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887" name="Straight Connector 113"/>
            <p:cNvSpPr/>
            <p:nvPr/>
          </p:nvSpPr>
          <p:spPr>
            <a:xfrm>
              <a:off x="654462" y="1761330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pic>
          <p:nvPicPr>
            <p:cNvPr id="888" name="Picture 114" descr="Picture 114"/>
            <p:cNvPicPr>
              <a:picLocks noChangeAspect="1"/>
            </p:cNvPicPr>
            <p:nvPr/>
          </p:nvPicPr>
          <p:blipFill>
            <a:blip r:embed="rId3">
              <a:extLst/>
            </a:blip>
            <a:stretch>
              <a:fillRect/>
            </a:stretch>
          </p:blipFill>
          <p:spPr>
            <a:xfrm>
              <a:off x="119622" y="292572"/>
              <a:ext cx="624846" cy="184404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889" name="TextBox 115"/>
            <p:cNvSpPr txBox="1"/>
            <p:nvPr/>
          </p:nvSpPr>
          <p:spPr>
            <a:xfrm>
              <a:off x="736459" y="2019215"/>
              <a:ext cx="326697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MIN</a:t>
              </a:r>
            </a:p>
          </p:txBody>
        </p:sp>
        <p:sp>
          <p:nvSpPr>
            <p:cNvPr id="890" name="TextBox 116"/>
            <p:cNvSpPr txBox="1"/>
            <p:nvPr/>
          </p:nvSpPr>
          <p:spPr>
            <a:xfrm>
              <a:off x="880184" y="356154"/>
              <a:ext cx="363718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-65</a:t>
              </a:r>
            </a:p>
          </p:txBody>
        </p:sp>
        <p:sp>
          <p:nvSpPr>
            <p:cNvPr id="891" name="TextBox 117"/>
            <p:cNvSpPr txBox="1"/>
            <p:nvPr/>
          </p:nvSpPr>
          <p:spPr>
            <a:xfrm>
              <a:off x="880184" y="540935"/>
              <a:ext cx="363718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-80</a:t>
              </a:r>
            </a:p>
          </p:txBody>
        </p:sp>
        <p:sp>
          <p:nvSpPr>
            <p:cNvPr id="892" name="TextBox 118"/>
            <p:cNvSpPr txBox="1"/>
            <p:nvPr/>
          </p:nvSpPr>
          <p:spPr>
            <a:xfrm>
              <a:off x="880184" y="723818"/>
              <a:ext cx="363718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-95</a:t>
              </a:r>
            </a:p>
          </p:txBody>
        </p:sp>
        <p:sp>
          <p:nvSpPr>
            <p:cNvPr id="893" name="TextBox 119"/>
            <p:cNvSpPr txBox="1"/>
            <p:nvPr/>
          </p:nvSpPr>
          <p:spPr>
            <a:xfrm>
              <a:off x="880184" y="908602"/>
              <a:ext cx="428086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-105</a:t>
              </a:r>
            </a:p>
          </p:txBody>
        </p:sp>
        <p:sp>
          <p:nvSpPr>
            <p:cNvPr id="894" name="TextBox 120"/>
            <p:cNvSpPr txBox="1"/>
            <p:nvPr/>
          </p:nvSpPr>
          <p:spPr>
            <a:xfrm>
              <a:off x="880185" y="1089579"/>
              <a:ext cx="428086" cy="2285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-110</a:t>
              </a:r>
            </a:p>
          </p:txBody>
        </p:sp>
        <p:sp>
          <p:nvSpPr>
            <p:cNvPr id="895" name="TextBox 121"/>
            <p:cNvSpPr txBox="1"/>
            <p:nvPr/>
          </p:nvSpPr>
          <p:spPr>
            <a:xfrm>
              <a:off x="880185" y="1274363"/>
              <a:ext cx="428086" cy="2285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-113</a:t>
              </a:r>
            </a:p>
          </p:txBody>
        </p:sp>
        <p:sp>
          <p:nvSpPr>
            <p:cNvPr id="896" name="TextBox 122"/>
            <p:cNvSpPr txBox="1"/>
            <p:nvPr/>
          </p:nvSpPr>
          <p:spPr>
            <a:xfrm>
              <a:off x="878782" y="1453437"/>
              <a:ext cx="428086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-116</a:t>
              </a:r>
            </a:p>
          </p:txBody>
        </p:sp>
        <p:sp>
          <p:nvSpPr>
            <p:cNvPr id="897" name="TextBox 123"/>
            <p:cNvSpPr txBox="1"/>
            <p:nvPr/>
          </p:nvSpPr>
          <p:spPr>
            <a:xfrm>
              <a:off x="878782" y="1638221"/>
              <a:ext cx="428086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-118</a:t>
              </a:r>
            </a:p>
          </p:txBody>
        </p:sp>
        <p:sp>
          <p:nvSpPr>
            <p:cNvPr id="898" name="TextBox 124"/>
            <p:cNvSpPr txBox="1"/>
            <p:nvPr/>
          </p:nvSpPr>
          <p:spPr>
            <a:xfrm>
              <a:off x="878782" y="1817295"/>
              <a:ext cx="428086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-121</a:t>
              </a:r>
            </a:p>
          </p:txBody>
        </p:sp>
        <p:sp>
          <p:nvSpPr>
            <p:cNvPr id="899" name="TextBox 125"/>
            <p:cNvSpPr txBox="1"/>
            <p:nvPr/>
          </p:nvSpPr>
          <p:spPr>
            <a:xfrm>
              <a:off x="736459" y="169461"/>
              <a:ext cx="352122" cy="2285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MAX</a:t>
              </a:r>
            </a:p>
          </p:txBody>
        </p:sp>
        <p:sp>
          <p:nvSpPr>
            <p:cNvPr id="900" name="TextBox 126"/>
            <p:cNvSpPr txBox="1"/>
            <p:nvPr/>
          </p:nvSpPr>
          <p:spPr>
            <a:xfrm>
              <a:off x="-1" y="-2"/>
              <a:ext cx="1076285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algn="ctr">
                <a:defRPr b="1" sz="1000" u="sng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LTE RSRP (dBm)</a:t>
              </a:r>
            </a:p>
          </p:txBody>
        </p:sp>
      </p:grpSp>
      <p:sp>
        <p:nvSpPr>
          <p:cNvPr id="902" name="Rectangle 127"/>
          <p:cNvSpPr txBox="1"/>
          <p:nvPr/>
        </p:nvSpPr>
        <p:spPr>
          <a:xfrm>
            <a:off x="12352687" y="1531651"/>
            <a:ext cx="535696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LEGEND</a:t>
            </a:r>
          </a:p>
        </p:txBody>
      </p:sp>
      <p:sp>
        <p:nvSpPr>
          <p:cNvPr id="903" name="Rectangle 41"/>
          <p:cNvSpPr txBox="1"/>
          <p:nvPr/>
        </p:nvSpPr>
        <p:spPr>
          <a:xfrm>
            <a:off x="3250495" y="10088032"/>
            <a:ext cx="2932902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2300MHz</a:t>
            </a:r>
          </a:p>
        </p:txBody>
      </p:sp>
      <p:sp>
        <p:nvSpPr>
          <p:cNvPr id="904" name="DRAWN:  &lt;D&gt;"/>
          <p:cNvSpPr txBox="1"/>
          <p:nvPr/>
        </p:nvSpPr>
        <p:spPr>
          <a:xfrm>
            <a:off x="12299064" y="9274488"/>
            <a:ext cx="596721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</a:defRPr>
            </a:pPr>
            <a:r>
              <a:t>DRAWN:  </a:t>
            </a:r>
            <a:r>
              <a:rPr>
                <a:solidFill>
                  <a:srgbClr val="000000"/>
                </a:solidFill>
              </a:rPr>
              <a:t>&lt;D&gt;</a:t>
            </a:r>
          </a:p>
        </p:txBody>
      </p:sp>
      <p:sp>
        <p:nvSpPr>
          <p:cNvPr id="905" name="CHECKED: &lt;C&gt;"/>
          <p:cNvSpPr txBox="1"/>
          <p:nvPr/>
        </p:nvSpPr>
        <p:spPr>
          <a:xfrm>
            <a:off x="13136050" y="9282393"/>
            <a:ext cx="663098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CHECKED: </a:t>
            </a:r>
            <a:r>
              <a:rPr>
                <a:solidFill>
                  <a:srgbClr val="000000"/>
                </a:solidFill>
              </a:rPr>
              <a:t>&lt;C&gt;</a:t>
            </a:r>
          </a:p>
        </p:txBody>
      </p:sp>
      <p:sp>
        <p:nvSpPr>
          <p:cNvPr id="906" name="APPROVED: &lt;A&gt;"/>
          <p:cNvSpPr txBox="1"/>
          <p:nvPr/>
        </p:nvSpPr>
        <p:spPr>
          <a:xfrm>
            <a:off x="14039415" y="9282393"/>
            <a:ext cx="709756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APPROVED: </a:t>
            </a:r>
            <a:r>
              <a:rPr>
                <a:solidFill>
                  <a:srgbClr val="000000"/>
                </a:solidFill>
              </a:rPr>
              <a:t>&lt;A&gt;</a:t>
            </a:r>
          </a:p>
        </p:txBody>
      </p:sp>
      <p:sp>
        <p:nvSpPr>
          <p:cNvPr id="907" name="&lt;NUM&gt;"/>
          <p:cNvSpPr txBox="1"/>
          <p:nvPr/>
        </p:nvSpPr>
        <p:spPr>
          <a:xfrm>
            <a:off x="14298897" y="9149660"/>
            <a:ext cx="366670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600"/>
            </a:lvl1pPr>
          </a:lstStyle>
          <a:p>
            <a:pPr/>
            <a:r>
              <a:t>&lt;NUM&gt;</a:t>
            </a:r>
          </a:p>
        </p:txBody>
      </p:sp>
      <p:sp>
        <p:nvSpPr>
          <p:cNvPr id="908" name="&lt;P01&gt;"/>
          <p:cNvSpPr txBox="1"/>
          <p:nvPr/>
        </p:nvSpPr>
        <p:spPr>
          <a:xfrm>
            <a:off x="12618695" y="9714745"/>
            <a:ext cx="328719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&lt;P01&gt;</a:t>
            </a:r>
          </a:p>
        </p:txBody>
      </p:sp>
      <p:sp>
        <p:nvSpPr>
          <p:cNvPr id="909" name="&lt;P02&gt;"/>
          <p:cNvSpPr txBox="1"/>
          <p:nvPr/>
        </p:nvSpPr>
        <p:spPr>
          <a:xfrm>
            <a:off x="12601233" y="9864945"/>
            <a:ext cx="328719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&lt;P02&gt;</a:t>
            </a:r>
          </a:p>
        </p:txBody>
      </p:sp>
      <p:sp>
        <p:nvSpPr>
          <p:cNvPr id="910" name="&lt;&lt;logo&gt;&gt;"/>
          <p:cNvSpPr txBox="1"/>
          <p:nvPr/>
        </p:nvSpPr>
        <p:spPr>
          <a:xfrm>
            <a:off x="13422174" y="875552"/>
            <a:ext cx="1054157" cy="3401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0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&lt;&lt;logo&gt;&gt;</a:t>
            </a:r>
          </a:p>
        </p:txBody>
      </p:sp>
      <p:sp>
        <p:nvSpPr>
          <p:cNvPr id="9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23_LTE SNI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8" name="TextBox 66"/>
          <p:cNvSpPr txBox="1"/>
          <p:nvPr/>
        </p:nvSpPr>
        <p:spPr>
          <a:xfrm>
            <a:off x="13525788" y="9201184"/>
            <a:ext cx="130066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SHEET:</a:t>
            </a:r>
          </a:p>
        </p:txBody>
      </p:sp>
      <p:sp>
        <p:nvSpPr>
          <p:cNvPr id="919" name="Freeform 10"/>
          <p:cNvSpPr/>
          <p:nvPr/>
        </p:nvSpPr>
        <p:spPr>
          <a:xfrm flipH="1">
            <a:off x="12234861" y="209548"/>
            <a:ext cx="1" cy="10224004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20" name="Freeform 11"/>
          <p:cNvSpPr/>
          <p:nvPr/>
        </p:nvSpPr>
        <p:spPr>
          <a:xfrm>
            <a:off x="12230100" y="702182"/>
            <a:ext cx="2646003" cy="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21" name="TextBox 15"/>
          <p:cNvSpPr txBox="1"/>
          <p:nvPr/>
        </p:nvSpPr>
        <p:spPr>
          <a:xfrm>
            <a:off x="12339755" y="6726997"/>
            <a:ext cx="2522705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400">
                <a:solidFill>
                  <a:srgbClr val="A6A6A6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RF PREDICTIONS</a:t>
            </a:r>
          </a:p>
        </p:txBody>
      </p:sp>
      <p:sp>
        <p:nvSpPr>
          <p:cNvPr id="922" name="TextBox 17"/>
          <p:cNvSpPr txBox="1"/>
          <p:nvPr/>
        </p:nvSpPr>
        <p:spPr>
          <a:xfrm>
            <a:off x="12253914" y="7872499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STATION</a:t>
            </a:r>
          </a:p>
        </p:txBody>
      </p:sp>
      <p:sp>
        <p:nvSpPr>
          <p:cNvPr id="923" name="Freeform 45"/>
          <p:cNvSpPr/>
          <p:nvPr/>
        </p:nvSpPr>
        <p:spPr>
          <a:xfrm>
            <a:off x="12230100" y="8848334"/>
            <a:ext cx="2646003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24" name="Freeform 67"/>
          <p:cNvSpPr/>
          <p:nvPr/>
        </p:nvSpPr>
        <p:spPr>
          <a:xfrm>
            <a:off x="13545545" y="6970361"/>
            <a:ext cx="3" cy="890405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25" name="TextBox 75"/>
          <p:cNvSpPr txBox="1"/>
          <p:nvPr/>
        </p:nvSpPr>
        <p:spPr>
          <a:xfrm>
            <a:off x="12234160" y="9470638"/>
            <a:ext cx="259229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DRAWING HISTORY</a:t>
            </a:r>
          </a:p>
        </p:txBody>
      </p:sp>
      <p:sp>
        <p:nvSpPr>
          <p:cNvPr id="926" name="Freeform 76"/>
          <p:cNvSpPr/>
          <p:nvPr/>
        </p:nvSpPr>
        <p:spPr>
          <a:xfrm>
            <a:off x="12233492" y="9612058"/>
            <a:ext cx="2636007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27" name="TextBox 77"/>
          <p:cNvSpPr txBox="1"/>
          <p:nvPr/>
        </p:nvSpPr>
        <p:spPr>
          <a:xfrm>
            <a:off x="12507654" y="9632305"/>
            <a:ext cx="51028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DATE</a:t>
            </a:r>
          </a:p>
        </p:txBody>
      </p:sp>
      <p:sp>
        <p:nvSpPr>
          <p:cNvPr id="928" name="Freeform 79"/>
          <p:cNvSpPr/>
          <p:nvPr/>
        </p:nvSpPr>
        <p:spPr>
          <a:xfrm>
            <a:off x="12513692" y="9612117"/>
            <a:ext cx="4" cy="821437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29" name="TextBox 80"/>
          <p:cNvSpPr txBox="1"/>
          <p:nvPr/>
        </p:nvSpPr>
        <p:spPr>
          <a:xfrm>
            <a:off x="12233491" y="9634148"/>
            <a:ext cx="26032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ISSUE</a:t>
            </a:r>
          </a:p>
        </p:txBody>
      </p:sp>
      <p:sp>
        <p:nvSpPr>
          <p:cNvPr id="930" name="Freeform 82"/>
          <p:cNvSpPr/>
          <p:nvPr/>
        </p:nvSpPr>
        <p:spPr>
          <a:xfrm>
            <a:off x="12236067" y="9736835"/>
            <a:ext cx="2636007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31" name="Freeform 83"/>
          <p:cNvSpPr/>
          <p:nvPr/>
        </p:nvSpPr>
        <p:spPr>
          <a:xfrm>
            <a:off x="13052420" y="9614212"/>
            <a:ext cx="4" cy="824700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32" name="TextBox 84"/>
          <p:cNvSpPr txBox="1"/>
          <p:nvPr/>
        </p:nvSpPr>
        <p:spPr>
          <a:xfrm>
            <a:off x="13058443" y="9631360"/>
            <a:ext cx="178161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DESCRIPTION</a:t>
            </a:r>
          </a:p>
        </p:txBody>
      </p:sp>
      <p:sp>
        <p:nvSpPr>
          <p:cNvPr id="933" name="Freeform 86"/>
          <p:cNvSpPr/>
          <p:nvPr/>
        </p:nvSpPr>
        <p:spPr>
          <a:xfrm>
            <a:off x="12237973" y="9877804"/>
            <a:ext cx="2636008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34" name="Freeform 87"/>
          <p:cNvSpPr/>
          <p:nvPr/>
        </p:nvSpPr>
        <p:spPr>
          <a:xfrm>
            <a:off x="12236067" y="9878180"/>
            <a:ext cx="2636007" cy="3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35" name="Freeform 88"/>
          <p:cNvSpPr/>
          <p:nvPr/>
        </p:nvSpPr>
        <p:spPr>
          <a:xfrm>
            <a:off x="12237973" y="10019151"/>
            <a:ext cx="2636008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36" name="Freeform 90"/>
          <p:cNvSpPr/>
          <p:nvPr/>
        </p:nvSpPr>
        <p:spPr>
          <a:xfrm>
            <a:off x="12237973" y="10159355"/>
            <a:ext cx="2636008" cy="5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37" name="Straight Connector 2"/>
          <p:cNvSpPr/>
          <p:nvPr/>
        </p:nvSpPr>
        <p:spPr>
          <a:xfrm>
            <a:off x="12237973" y="6966880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38" name="Straight Connector 71"/>
          <p:cNvSpPr/>
          <p:nvPr/>
        </p:nvSpPr>
        <p:spPr>
          <a:xfrm>
            <a:off x="12237973" y="6678848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39" name="Freeform 90"/>
          <p:cNvSpPr/>
          <p:nvPr/>
        </p:nvSpPr>
        <p:spPr>
          <a:xfrm>
            <a:off x="12237973" y="10298666"/>
            <a:ext cx="2636008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40" name="TextBox 98"/>
          <p:cNvSpPr txBox="1"/>
          <p:nvPr/>
        </p:nvSpPr>
        <p:spPr>
          <a:xfrm>
            <a:off x="13070458" y="9889172"/>
            <a:ext cx="176304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 </a:t>
            </a:r>
          </a:p>
        </p:txBody>
      </p:sp>
      <p:sp>
        <p:nvSpPr>
          <p:cNvPr id="941" name="TextBox 74"/>
          <p:cNvSpPr txBox="1"/>
          <p:nvPr/>
        </p:nvSpPr>
        <p:spPr>
          <a:xfrm>
            <a:off x="12243182" y="9193193"/>
            <a:ext cx="126636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SCALE: </a:t>
            </a:r>
            <a:r>
              <a:rPr>
                <a:solidFill>
                  <a:srgbClr val="000000"/>
                </a:solidFill>
              </a:rPr>
              <a:t>NOT TO SCALE</a:t>
            </a:r>
          </a:p>
        </p:txBody>
      </p:sp>
      <p:sp>
        <p:nvSpPr>
          <p:cNvPr id="942" name="Freeform 47"/>
          <p:cNvSpPr/>
          <p:nvPr/>
        </p:nvSpPr>
        <p:spPr>
          <a:xfrm>
            <a:off x="12226542" y="9184596"/>
            <a:ext cx="2646004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43" name="TextBox 109"/>
          <p:cNvSpPr txBox="1"/>
          <p:nvPr/>
        </p:nvSpPr>
        <p:spPr>
          <a:xfrm>
            <a:off x="12253914" y="8867116"/>
            <a:ext cx="95997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DOCUMENT REFERENCE</a:t>
            </a:r>
          </a:p>
        </p:txBody>
      </p:sp>
      <p:sp>
        <p:nvSpPr>
          <p:cNvPr id="944" name="TextBox 110"/>
          <p:cNvSpPr txBox="1"/>
          <p:nvPr/>
        </p:nvSpPr>
        <p:spPr>
          <a:xfrm>
            <a:off x="12223991" y="8967075"/>
            <a:ext cx="259089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APPENDIX B – RF PREDICTIONS </a:t>
            </a:r>
          </a:p>
        </p:txBody>
      </p:sp>
      <p:sp>
        <p:nvSpPr>
          <p:cNvPr id="945" name="Straight Connector 115"/>
          <p:cNvSpPr/>
          <p:nvPr/>
        </p:nvSpPr>
        <p:spPr>
          <a:xfrm>
            <a:off x="12237973" y="7857455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46" name="Rectangle 118"/>
          <p:cNvSpPr txBox="1"/>
          <p:nvPr/>
        </p:nvSpPr>
        <p:spPr>
          <a:xfrm>
            <a:off x="12292583" y="374373"/>
            <a:ext cx="2524151" cy="243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0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COMMERCIAL MOBILE SERVICES</a:t>
            </a:r>
          </a:p>
        </p:txBody>
      </p:sp>
      <p:sp>
        <p:nvSpPr>
          <p:cNvPr id="947" name="Rectangle 3"/>
          <p:cNvSpPr/>
          <p:nvPr/>
        </p:nvSpPr>
        <p:spPr>
          <a:xfrm>
            <a:off x="0" y="1"/>
            <a:ext cx="15122525" cy="236989"/>
          </a:xfrm>
          <a:prstGeom prst="rect">
            <a:avLst/>
          </a:prstGeom>
          <a:solidFill>
            <a:srgbClr val="D91D49"/>
          </a:solidFill>
          <a:ln w="25400">
            <a:solidFill>
              <a:srgbClr val="D91D49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948" name="Freeform 47"/>
          <p:cNvSpPr/>
          <p:nvPr/>
        </p:nvSpPr>
        <p:spPr>
          <a:xfrm flipV="1">
            <a:off x="13531176" y="9183037"/>
            <a:ext cx="4" cy="124739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49" name="Rectangle 5"/>
          <p:cNvSpPr/>
          <p:nvPr/>
        </p:nvSpPr>
        <p:spPr>
          <a:xfrm>
            <a:off x="223628" y="261258"/>
            <a:ext cx="14646449" cy="10175448"/>
          </a:xfrm>
          <a:prstGeom prst="rect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950" name="TextBox 49"/>
          <p:cNvSpPr txBox="1"/>
          <p:nvPr/>
        </p:nvSpPr>
        <p:spPr>
          <a:xfrm>
            <a:off x="12253914" y="8285091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ADDRESS</a:t>
            </a:r>
          </a:p>
        </p:txBody>
      </p:sp>
      <p:sp>
        <p:nvSpPr>
          <p:cNvPr id="951" name="Freeform 45"/>
          <p:cNvSpPr/>
          <p:nvPr/>
        </p:nvSpPr>
        <p:spPr>
          <a:xfrm>
            <a:off x="12230100" y="8849604"/>
            <a:ext cx="2646003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52" name="Straight Connector 52"/>
          <p:cNvSpPr/>
          <p:nvPr/>
        </p:nvSpPr>
        <p:spPr>
          <a:xfrm>
            <a:off x="12237973" y="8270047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53" name="Freeform 47"/>
          <p:cNvSpPr/>
          <p:nvPr/>
        </p:nvSpPr>
        <p:spPr>
          <a:xfrm>
            <a:off x="12236067" y="9317742"/>
            <a:ext cx="2631525" cy="5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54" name="Freeform 48"/>
          <p:cNvSpPr/>
          <p:nvPr/>
        </p:nvSpPr>
        <p:spPr>
          <a:xfrm>
            <a:off x="12227249" y="9427722"/>
            <a:ext cx="2646003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55" name="Freeform 21"/>
          <p:cNvSpPr/>
          <p:nvPr/>
        </p:nvSpPr>
        <p:spPr>
          <a:xfrm>
            <a:off x="12959990" y="9317742"/>
            <a:ext cx="4" cy="10800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56" name="Freeform 67"/>
          <p:cNvSpPr/>
          <p:nvPr/>
        </p:nvSpPr>
        <p:spPr>
          <a:xfrm>
            <a:off x="13975212" y="9321118"/>
            <a:ext cx="4" cy="10813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57" name="TextBox 1"/>
          <p:cNvSpPr txBox="1"/>
          <p:nvPr/>
        </p:nvSpPr>
        <p:spPr>
          <a:xfrm>
            <a:off x="63497" y="10507980"/>
            <a:ext cx="77312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000000">
                    <a:alpha val="50000"/>
                  </a:srgbClr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[SEC=PROTECTED]</a:t>
            </a:r>
          </a:p>
        </p:txBody>
      </p:sp>
      <p:sp>
        <p:nvSpPr>
          <p:cNvPr id="958" name="Picture Placeholder 2"/>
          <p:cNvSpPr/>
          <p:nvPr/>
        </p:nvSpPr>
        <p:spPr>
          <a:xfrm>
            <a:off x="599800" y="508423"/>
            <a:ext cx="11233730" cy="936439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 defTabSz="1407968">
              <a:spcBef>
                <a:spcPts val="1200"/>
              </a:spcBef>
              <a:defRPr sz="5000"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959" name="TextBox 6"/>
          <p:cNvSpPr txBox="1"/>
          <p:nvPr/>
        </p:nvSpPr>
        <p:spPr>
          <a:xfrm>
            <a:off x="13549306" y="7032755"/>
            <a:ext cx="1284189" cy="63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BOLDYN NETWORKS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</a:t>
            </a:r>
            <a:r>
              <a:rPr baseline="30000"/>
              <a:t>nd</a:t>
            </a:r>
            <a:r>
              <a:t> FLOOR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 KINGDOM STREET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LONDON 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W2 6BD</a:t>
            </a:r>
          </a:p>
        </p:txBody>
      </p:sp>
      <p:sp>
        <p:nvSpPr>
          <p:cNvPr id="960" name="Freeform: Shape 7"/>
          <p:cNvSpPr/>
          <p:nvPr/>
        </p:nvSpPr>
        <p:spPr>
          <a:xfrm>
            <a:off x="12537433" y="7031193"/>
            <a:ext cx="705489" cy="6648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0873"/>
                </a:moveTo>
                <a:lnTo>
                  <a:pt x="21231" y="9061"/>
                </a:lnTo>
                <a:lnTo>
                  <a:pt x="20308" y="7567"/>
                </a:lnTo>
                <a:lnTo>
                  <a:pt x="18900" y="6563"/>
                </a:lnTo>
                <a:lnTo>
                  <a:pt x="17192" y="6196"/>
                </a:lnTo>
                <a:lnTo>
                  <a:pt x="6808" y="6196"/>
                </a:lnTo>
                <a:lnTo>
                  <a:pt x="6808" y="0"/>
                </a:lnTo>
                <a:lnTo>
                  <a:pt x="4131" y="0"/>
                </a:lnTo>
                <a:lnTo>
                  <a:pt x="4131" y="6196"/>
                </a:lnTo>
                <a:lnTo>
                  <a:pt x="0" y="6196"/>
                </a:lnTo>
                <a:lnTo>
                  <a:pt x="0" y="9037"/>
                </a:lnTo>
                <a:lnTo>
                  <a:pt x="4131" y="9037"/>
                </a:lnTo>
                <a:lnTo>
                  <a:pt x="4131" y="6196"/>
                </a:lnTo>
                <a:lnTo>
                  <a:pt x="6808" y="6196"/>
                </a:lnTo>
                <a:lnTo>
                  <a:pt x="6808" y="9037"/>
                </a:lnTo>
                <a:lnTo>
                  <a:pt x="18923" y="9037"/>
                </a:lnTo>
                <a:lnTo>
                  <a:pt x="18923" y="18759"/>
                </a:lnTo>
                <a:lnTo>
                  <a:pt x="6808" y="18759"/>
                </a:lnTo>
                <a:lnTo>
                  <a:pt x="6808" y="9037"/>
                </a:lnTo>
                <a:lnTo>
                  <a:pt x="4131" y="9037"/>
                </a:lnTo>
                <a:lnTo>
                  <a:pt x="4131" y="16922"/>
                </a:lnTo>
                <a:lnTo>
                  <a:pt x="4477" y="18735"/>
                </a:lnTo>
                <a:lnTo>
                  <a:pt x="5423" y="20229"/>
                </a:lnTo>
                <a:lnTo>
                  <a:pt x="6831" y="21233"/>
                </a:lnTo>
                <a:lnTo>
                  <a:pt x="8538" y="21600"/>
                </a:lnTo>
                <a:lnTo>
                  <a:pt x="17192" y="21600"/>
                </a:lnTo>
                <a:lnTo>
                  <a:pt x="18900" y="21233"/>
                </a:lnTo>
                <a:lnTo>
                  <a:pt x="20308" y="20229"/>
                </a:lnTo>
                <a:lnTo>
                  <a:pt x="21231" y="18759"/>
                </a:lnTo>
                <a:lnTo>
                  <a:pt x="21600" y="16922"/>
                </a:lnTo>
                <a:lnTo>
                  <a:pt x="21600" y="10873"/>
                </a:lnTo>
                <a:close/>
              </a:path>
            </a:pathLst>
          </a:custGeom>
          <a:solidFill>
            <a:srgbClr val="F5054F">
              <a:alpha val="29802"/>
            </a:srgb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961" name="TextBox 27"/>
          <p:cNvSpPr txBox="1"/>
          <p:nvPr/>
        </p:nvSpPr>
        <p:spPr>
          <a:xfrm>
            <a:off x="13056406" y="9758240"/>
            <a:ext cx="177709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Original Submission</a:t>
            </a:r>
          </a:p>
        </p:txBody>
      </p:sp>
      <p:sp>
        <p:nvSpPr>
          <p:cNvPr id="962" name="TextBox 28"/>
          <p:cNvSpPr txBox="1"/>
          <p:nvPr/>
        </p:nvSpPr>
        <p:spPr>
          <a:xfrm>
            <a:off x="12247271" y="9758240"/>
            <a:ext cx="22438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P01</a:t>
            </a:r>
          </a:p>
        </p:txBody>
      </p:sp>
      <p:sp>
        <p:nvSpPr>
          <p:cNvPr id="963" name="TextBox 30"/>
          <p:cNvSpPr txBox="1"/>
          <p:nvPr/>
        </p:nvSpPr>
        <p:spPr>
          <a:xfrm>
            <a:off x="12233457" y="8514819"/>
            <a:ext cx="260097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&lt;&lt;ADDRESS&gt;&gt;</a:t>
            </a:r>
          </a:p>
        </p:txBody>
      </p:sp>
      <p:sp>
        <p:nvSpPr>
          <p:cNvPr id="964" name="TextBox 31"/>
          <p:cNvSpPr txBox="1"/>
          <p:nvPr/>
        </p:nvSpPr>
        <p:spPr>
          <a:xfrm>
            <a:off x="12239090" y="7990071"/>
            <a:ext cx="260097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&lt;&lt;STATION_NAME&gt;&gt;</a:t>
            </a:r>
          </a:p>
        </p:txBody>
      </p:sp>
      <p:sp>
        <p:nvSpPr>
          <p:cNvPr id="965" name="TextBox 32"/>
          <p:cNvSpPr txBox="1"/>
          <p:nvPr/>
        </p:nvSpPr>
        <p:spPr>
          <a:xfrm>
            <a:off x="13056406" y="9904169"/>
            <a:ext cx="177709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Updated design</a:t>
            </a:r>
          </a:p>
        </p:txBody>
      </p:sp>
      <p:sp>
        <p:nvSpPr>
          <p:cNvPr id="966" name="TextBox 33"/>
          <p:cNvSpPr txBox="1"/>
          <p:nvPr/>
        </p:nvSpPr>
        <p:spPr>
          <a:xfrm>
            <a:off x="12247271" y="9904169"/>
            <a:ext cx="22438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P02</a:t>
            </a:r>
          </a:p>
        </p:txBody>
      </p:sp>
      <p:pic>
        <p:nvPicPr>
          <p:cNvPr id="967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2233457" y="722526"/>
            <a:ext cx="2633704" cy="646233"/>
          </a:xfrm>
          <a:prstGeom prst="rect">
            <a:avLst/>
          </a:prstGeom>
          <a:ln w="12700">
            <a:miter lim="400000"/>
          </a:ln>
        </p:spPr>
      </p:pic>
      <p:sp>
        <p:nvSpPr>
          <p:cNvPr id="968" name="Rectangle 62"/>
          <p:cNvSpPr txBox="1"/>
          <p:nvPr/>
        </p:nvSpPr>
        <p:spPr>
          <a:xfrm>
            <a:off x="1031881" y="10077207"/>
            <a:ext cx="1398603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LTE</a:t>
            </a:r>
          </a:p>
        </p:txBody>
      </p:sp>
      <p:sp>
        <p:nvSpPr>
          <p:cNvPr id="969" name="Freeform 55"/>
          <p:cNvSpPr/>
          <p:nvPr/>
        </p:nvSpPr>
        <p:spPr>
          <a:xfrm>
            <a:off x="9227818" y="10104121"/>
            <a:ext cx="3" cy="335284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70" name="Freeform 56"/>
          <p:cNvSpPr/>
          <p:nvPr/>
        </p:nvSpPr>
        <p:spPr>
          <a:xfrm>
            <a:off x="6228517" y="10104121"/>
            <a:ext cx="4" cy="335284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71" name="Freeform 57"/>
          <p:cNvSpPr/>
          <p:nvPr/>
        </p:nvSpPr>
        <p:spPr>
          <a:xfrm>
            <a:off x="3204778" y="10104121"/>
            <a:ext cx="4" cy="335284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72" name="Rectangle 4"/>
          <p:cNvSpPr txBox="1"/>
          <p:nvPr/>
        </p:nvSpPr>
        <p:spPr>
          <a:xfrm>
            <a:off x="271007" y="10249420"/>
            <a:ext cx="2888053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Technology </a:t>
            </a:r>
          </a:p>
        </p:txBody>
      </p:sp>
      <p:sp>
        <p:nvSpPr>
          <p:cNvPr id="973" name="Rectangle 5"/>
          <p:cNvSpPr txBox="1"/>
          <p:nvPr/>
        </p:nvSpPr>
        <p:spPr>
          <a:xfrm>
            <a:off x="3250501" y="10249612"/>
            <a:ext cx="2924494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Frequency Band</a:t>
            </a:r>
          </a:p>
        </p:txBody>
      </p:sp>
      <p:sp>
        <p:nvSpPr>
          <p:cNvPr id="974" name="Rectangle 6"/>
          <p:cNvSpPr txBox="1"/>
          <p:nvPr/>
        </p:nvSpPr>
        <p:spPr>
          <a:xfrm>
            <a:off x="6272324" y="10254543"/>
            <a:ext cx="2901971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Plot</a:t>
            </a:r>
          </a:p>
        </p:txBody>
      </p:sp>
      <p:sp>
        <p:nvSpPr>
          <p:cNvPr id="975" name="Rectangle 7"/>
          <p:cNvSpPr txBox="1"/>
          <p:nvPr/>
        </p:nvSpPr>
        <p:spPr>
          <a:xfrm>
            <a:off x="9273537" y="10246400"/>
            <a:ext cx="2912501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Floor Level</a:t>
            </a:r>
          </a:p>
        </p:txBody>
      </p:sp>
      <p:sp>
        <p:nvSpPr>
          <p:cNvPr id="976" name="Rectangle 8"/>
          <p:cNvSpPr/>
          <p:nvPr/>
        </p:nvSpPr>
        <p:spPr>
          <a:xfrm>
            <a:off x="225282" y="10279246"/>
            <a:ext cx="12004820" cy="157181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977" name="Rectangle 9"/>
          <p:cNvSpPr/>
          <p:nvPr/>
        </p:nvSpPr>
        <p:spPr>
          <a:xfrm>
            <a:off x="225282" y="10103973"/>
            <a:ext cx="12004820" cy="174458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978" name="Rectangle 35"/>
          <p:cNvSpPr txBox="1"/>
          <p:nvPr/>
        </p:nvSpPr>
        <p:spPr>
          <a:xfrm>
            <a:off x="12352687" y="1531651"/>
            <a:ext cx="535696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LEGEND</a:t>
            </a:r>
          </a:p>
        </p:txBody>
      </p:sp>
      <p:grpSp>
        <p:nvGrpSpPr>
          <p:cNvPr id="995" name="Group 36"/>
          <p:cNvGrpSpPr/>
          <p:nvPr/>
        </p:nvGrpSpPr>
        <p:grpSpPr>
          <a:xfrm>
            <a:off x="12144183" y="1695397"/>
            <a:ext cx="1269045" cy="1164242"/>
            <a:chOff x="0" y="0"/>
            <a:chExt cx="1269044" cy="1164241"/>
          </a:xfrm>
        </p:grpSpPr>
        <p:grpSp>
          <p:nvGrpSpPr>
            <p:cNvPr id="984" name="Group 37"/>
            <p:cNvGrpSpPr/>
            <p:nvPr/>
          </p:nvGrpSpPr>
          <p:grpSpPr>
            <a:xfrm>
              <a:off x="255734" y="284359"/>
              <a:ext cx="619351" cy="879882"/>
              <a:chOff x="-1" y="0"/>
              <a:chExt cx="619350" cy="879881"/>
            </a:xfrm>
          </p:grpSpPr>
          <p:sp>
            <p:nvSpPr>
              <p:cNvPr id="979" name="Rectangle 48"/>
              <p:cNvSpPr/>
              <p:nvPr/>
            </p:nvSpPr>
            <p:spPr>
              <a:xfrm>
                <a:off x="-2" y="-1"/>
                <a:ext cx="619003" cy="177169"/>
              </a:xfrm>
              <a:prstGeom prst="rect">
                <a:avLst/>
              </a:prstGeom>
              <a:solidFill>
                <a:srgbClr val="28E3FC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980" name="Rectangle 49"/>
              <p:cNvSpPr/>
              <p:nvPr/>
            </p:nvSpPr>
            <p:spPr>
              <a:xfrm>
                <a:off x="-1" y="177166"/>
                <a:ext cx="619003" cy="177169"/>
              </a:xfrm>
              <a:prstGeom prst="rect">
                <a:avLst/>
              </a:prstGeom>
              <a:solidFill>
                <a:srgbClr val="00FF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981" name="Rectangle 50"/>
              <p:cNvSpPr/>
              <p:nvPr/>
            </p:nvSpPr>
            <p:spPr>
              <a:xfrm>
                <a:off x="347" y="354332"/>
                <a:ext cx="619003" cy="177169"/>
              </a:xfrm>
              <a:prstGeom prst="rect">
                <a:avLst/>
              </a:prstGeom>
              <a:solidFill>
                <a:srgbClr val="FFFF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982" name="Rectangle 51"/>
              <p:cNvSpPr/>
              <p:nvPr/>
            </p:nvSpPr>
            <p:spPr>
              <a:xfrm>
                <a:off x="347" y="531499"/>
                <a:ext cx="619003" cy="177169"/>
              </a:xfrm>
              <a:prstGeom prst="rect">
                <a:avLst/>
              </a:prstGeom>
              <a:solidFill>
                <a:srgbClr val="FFC0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983" name="Rectangle 52"/>
              <p:cNvSpPr/>
              <p:nvPr/>
            </p:nvSpPr>
            <p:spPr>
              <a:xfrm>
                <a:off x="347" y="702712"/>
                <a:ext cx="619003" cy="177169"/>
              </a:xfrm>
              <a:prstGeom prst="rect">
                <a:avLst/>
              </a:prstGeom>
              <a:solidFill>
                <a:srgbClr val="FF00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</p:grpSp>
        <p:sp>
          <p:nvSpPr>
            <p:cNvPr id="985" name="Straight Connector 38"/>
            <p:cNvSpPr/>
            <p:nvPr/>
          </p:nvSpPr>
          <p:spPr>
            <a:xfrm>
              <a:off x="811838" y="816671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986" name="Straight Connector 39"/>
            <p:cNvSpPr/>
            <p:nvPr/>
          </p:nvSpPr>
          <p:spPr>
            <a:xfrm>
              <a:off x="812087" y="638693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987" name="Straight Connector 40"/>
            <p:cNvSpPr/>
            <p:nvPr/>
          </p:nvSpPr>
          <p:spPr>
            <a:xfrm>
              <a:off x="812087" y="461528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988" name="Straight Connector 41"/>
            <p:cNvSpPr/>
            <p:nvPr/>
          </p:nvSpPr>
          <p:spPr>
            <a:xfrm>
              <a:off x="830248" y="987070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989" name="TextBox 42"/>
            <p:cNvSpPr txBox="1"/>
            <p:nvPr/>
          </p:nvSpPr>
          <p:spPr>
            <a:xfrm>
              <a:off x="-1" y="-1"/>
              <a:ext cx="1013468" cy="2285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algn="ctr" defTabSz="914371">
                <a:defRPr b="1" sz="1000" u="sng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SNIR (dB)</a:t>
              </a:r>
            </a:p>
          </p:txBody>
        </p:sp>
        <p:sp>
          <p:nvSpPr>
            <p:cNvPr id="990" name="TextBox 43"/>
            <p:cNvSpPr txBox="1"/>
            <p:nvPr/>
          </p:nvSpPr>
          <p:spPr>
            <a:xfrm>
              <a:off x="880765" y="136855"/>
              <a:ext cx="333531" cy="2285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Max</a:t>
              </a:r>
            </a:p>
          </p:txBody>
        </p:sp>
        <p:sp>
          <p:nvSpPr>
            <p:cNvPr id="991" name="TextBox 44"/>
            <p:cNvSpPr txBox="1"/>
            <p:nvPr/>
          </p:nvSpPr>
          <p:spPr>
            <a:xfrm>
              <a:off x="935956" y="339738"/>
              <a:ext cx="324837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 &gt;20</a:t>
              </a:r>
            </a:p>
          </p:txBody>
        </p:sp>
        <p:sp>
          <p:nvSpPr>
            <p:cNvPr id="992" name="TextBox 45"/>
            <p:cNvSpPr txBox="1"/>
            <p:nvPr/>
          </p:nvSpPr>
          <p:spPr>
            <a:xfrm>
              <a:off x="944207" y="523745"/>
              <a:ext cx="324837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 &gt;14</a:t>
              </a:r>
            </a:p>
          </p:txBody>
        </p:sp>
        <p:sp>
          <p:nvSpPr>
            <p:cNvPr id="993" name="TextBox 46"/>
            <p:cNvSpPr txBox="1"/>
            <p:nvPr/>
          </p:nvSpPr>
          <p:spPr>
            <a:xfrm>
              <a:off x="980238" y="695082"/>
              <a:ext cx="260469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6</a:t>
              </a:r>
            </a:p>
          </p:txBody>
        </p:sp>
        <p:sp>
          <p:nvSpPr>
            <p:cNvPr id="994" name="TextBox 47"/>
            <p:cNvSpPr txBox="1"/>
            <p:nvPr/>
          </p:nvSpPr>
          <p:spPr>
            <a:xfrm>
              <a:off x="977068" y="876824"/>
              <a:ext cx="260469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0</a:t>
              </a:r>
            </a:p>
          </p:txBody>
        </p:sp>
      </p:grpSp>
      <p:grpSp>
        <p:nvGrpSpPr>
          <p:cNvPr id="998" name="Rectangle 54"/>
          <p:cNvGrpSpPr/>
          <p:nvPr/>
        </p:nvGrpSpPr>
        <p:grpSpPr>
          <a:xfrm>
            <a:off x="12242777" y="6320589"/>
            <a:ext cx="2627302" cy="392467"/>
            <a:chOff x="-1" y="0"/>
            <a:chExt cx="2627301" cy="392465"/>
          </a:xfrm>
        </p:grpSpPr>
        <p:sp>
          <p:nvSpPr>
            <p:cNvPr id="996" name="Rectangle"/>
            <p:cNvSpPr/>
            <p:nvPr/>
          </p:nvSpPr>
          <p:spPr>
            <a:xfrm>
              <a:off x="-2" y="34217"/>
              <a:ext cx="2627302" cy="324043"/>
            </a:xfrm>
            <a:prstGeom prst="rect">
              <a:avLst/>
            </a:prstGeom>
            <a:solidFill>
              <a:srgbClr val="D91D49"/>
            </a:solidFill>
            <a:ln w="19050" cap="rnd">
              <a:solidFill>
                <a:srgbClr val="D91D49"/>
              </a:solidFill>
              <a:prstDash val="solid"/>
              <a:bevel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997" name="LTE 2300MHz"/>
            <p:cNvSpPr txBox="1"/>
            <p:nvPr/>
          </p:nvSpPr>
          <p:spPr>
            <a:xfrm>
              <a:off x="55243" y="-1"/>
              <a:ext cx="2516811" cy="39246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b="1" sz="24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LTE 2300MHz</a:t>
              </a:r>
            </a:p>
          </p:txBody>
        </p:sp>
      </p:grpSp>
      <p:sp>
        <p:nvSpPr>
          <p:cNvPr id="999" name="Rectangle 56"/>
          <p:cNvSpPr txBox="1"/>
          <p:nvPr/>
        </p:nvSpPr>
        <p:spPr>
          <a:xfrm>
            <a:off x="6274834" y="10083707"/>
            <a:ext cx="2896896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SNIR (dB)</a:t>
            </a:r>
          </a:p>
        </p:txBody>
      </p:sp>
      <p:sp>
        <p:nvSpPr>
          <p:cNvPr id="1000" name="Rectangle 55"/>
          <p:cNvSpPr txBox="1"/>
          <p:nvPr/>
        </p:nvSpPr>
        <p:spPr>
          <a:xfrm>
            <a:off x="3250495" y="10088032"/>
            <a:ext cx="2932902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2300MHz</a:t>
            </a:r>
          </a:p>
        </p:txBody>
      </p:sp>
      <p:sp>
        <p:nvSpPr>
          <p:cNvPr id="1001" name="DRAWN:  &lt;D&gt;"/>
          <p:cNvSpPr txBox="1"/>
          <p:nvPr/>
        </p:nvSpPr>
        <p:spPr>
          <a:xfrm>
            <a:off x="12336953" y="9281572"/>
            <a:ext cx="596721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</a:defRPr>
            </a:pPr>
            <a:r>
              <a:t>DRAWN:  </a:t>
            </a:r>
            <a:r>
              <a:rPr>
                <a:solidFill>
                  <a:srgbClr val="000000"/>
                </a:solidFill>
              </a:rPr>
              <a:t>&lt;D&gt;</a:t>
            </a:r>
          </a:p>
        </p:txBody>
      </p:sp>
      <p:sp>
        <p:nvSpPr>
          <p:cNvPr id="1002" name="CHECKED: &lt;C&gt;"/>
          <p:cNvSpPr txBox="1"/>
          <p:nvPr/>
        </p:nvSpPr>
        <p:spPr>
          <a:xfrm>
            <a:off x="13136050" y="9281572"/>
            <a:ext cx="663098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CHECKED: </a:t>
            </a:r>
            <a:r>
              <a:rPr>
                <a:solidFill>
                  <a:srgbClr val="000000"/>
                </a:solidFill>
              </a:rPr>
              <a:t>&lt;C&gt;</a:t>
            </a:r>
          </a:p>
        </p:txBody>
      </p:sp>
      <p:sp>
        <p:nvSpPr>
          <p:cNvPr id="1003" name="&lt;NUM&gt;"/>
          <p:cNvSpPr txBox="1"/>
          <p:nvPr/>
        </p:nvSpPr>
        <p:spPr>
          <a:xfrm>
            <a:off x="14298897" y="9149660"/>
            <a:ext cx="366670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600"/>
            </a:lvl1pPr>
          </a:lstStyle>
          <a:p>
            <a:pPr/>
            <a:r>
              <a:t>&lt;NUM&gt;</a:t>
            </a:r>
          </a:p>
        </p:txBody>
      </p:sp>
      <p:sp>
        <p:nvSpPr>
          <p:cNvPr id="1004" name="APPROVED: &lt;A&gt;"/>
          <p:cNvSpPr txBox="1"/>
          <p:nvPr/>
        </p:nvSpPr>
        <p:spPr>
          <a:xfrm>
            <a:off x="14001526" y="9284992"/>
            <a:ext cx="709756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APPROVED: </a:t>
            </a:r>
            <a:r>
              <a:rPr>
                <a:solidFill>
                  <a:srgbClr val="000000"/>
                </a:solidFill>
              </a:rPr>
              <a:t>&lt;A&gt;</a:t>
            </a:r>
          </a:p>
        </p:txBody>
      </p:sp>
      <p:sp>
        <p:nvSpPr>
          <p:cNvPr id="1005" name="&lt;P01&gt;"/>
          <p:cNvSpPr txBox="1"/>
          <p:nvPr/>
        </p:nvSpPr>
        <p:spPr>
          <a:xfrm>
            <a:off x="12598435" y="9708097"/>
            <a:ext cx="328719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&lt;P01&gt;</a:t>
            </a:r>
          </a:p>
        </p:txBody>
      </p:sp>
      <p:sp>
        <p:nvSpPr>
          <p:cNvPr id="1006" name="&lt;P02&gt;"/>
          <p:cNvSpPr txBox="1"/>
          <p:nvPr/>
        </p:nvSpPr>
        <p:spPr>
          <a:xfrm>
            <a:off x="12598435" y="9857189"/>
            <a:ext cx="328719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&lt;P02&gt;</a:t>
            </a:r>
          </a:p>
        </p:txBody>
      </p:sp>
      <p:sp>
        <p:nvSpPr>
          <p:cNvPr id="1007" name="&lt;&lt;logo&gt;&gt;"/>
          <p:cNvSpPr txBox="1"/>
          <p:nvPr/>
        </p:nvSpPr>
        <p:spPr>
          <a:xfrm>
            <a:off x="13272912" y="875552"/>
            <a:ext cx="1054156" cy="3401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0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&lt;&lt;logo&gt;&gt;</a:t>
            </a:r>
          </a:p>
        </p:txBody>
      </p:sp>
      <p:sp>
        <p:nvSpPr>
          <p:cNvPr id="100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26_LTE RSR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TextBox 66"/>
          <p:cNvSpPr txBox="1"/>
          <p:nvPr/>
        </p:nvSpPr>
        <p:spPr>
          <a:xfrm>
            <a:off x="13525788" y="9201184"/>
            <a:ext cx="130066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SHEET:</a:t>
            </a:r>
          </a:p>
        </p:txBody>
      </p:sp>
      <p:sp>
        <p:nvSpPr>
          <p:cNvPr id="1016" name="Freeform 10"/>
          <p:cNvSpPr/>
          <p:nvPr/>
        </p:nvSpPr>
        <p:spPr>
          <a:xfrm flipH="1">
            <a:off x="12234861" y="209548"/>
            <a:ext cx="1" cy="10224004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17" name="Freeform 11"/>
          <p:cNvSpPr/>
          <p:nvPr/>
        </p:nvSpPr>
        <p:spPr>
          <a:xfrm>
            <a:off x="12230100" y="702182"/>
            <a:ext cx="2646003" cy="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18" name="TextBox 15"/>
          <p:cNvSpPr txBox="1"/>
          <p:nvPr/>
        </p:nvSpPr>
        <p:spPr>
          <a:xfrm>
            <a:off x="12339755" y="6726997"/>
            <a:ext cx="2522705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400">
                <a:solidFill>
                  <a:srgbClr val="A6A6A6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RF PREDICTIONS</a:t>
            </a:r>
          </a:p>
        </p:txBody>
      </p:sp>
      <p:sp>
        <p:nvSpPr>
          <p:cNvPr id="1019" name="TextBox 17"/>
          <p:cNvSpPr txBox="1"/>
          <p:nvPr/>
        </p:nvSpPr>
        <p:spPr>
          <a:xfrm>
            <a:off x="12253914" y="7872499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STATION</a:t>
            </a:r>
          </a:p>
        </p:txBody>
      </p:sp>
      <p:sp>
        <p:nvSpPr>
          <p:cNvPr id="1020" name="Freeform 45"/>
          <p:cNvSpPr/>
          <p:nvPr/>
        </p:nvSpPr>
        <p:spPr>
          <a:xfrm>
            <a:off x="12230100" y="8848334"/>
            <a:ext cx="2646003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21" name="Freeform 67"/>
          <p:cNvSpPr/>
          <p:nvPr/>
        </p:nvSpPr>
        <p:spPr>
          <a:xfrm>
            <a:off x="13545545" y="6970361"/>
            <a:ext cx="3" cy="890405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22" name="TextBox 75"/>
          <p:cNvSpPr txBox="1"/>
          <p:nvPr/>
        </p:nvSpPr>
        <p:spPr>
          <a:xfrm>
            <a:off x="12234160" y="9470638"/>
            <a:ext cx="259229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DRAWING HISTORY</a:t>
            </a:r>
          </a:p>
        </p:txBody>
      </p:sp>
      <p:sp>
        <p:nvSpPr>
          <p:cNvPr id="1023" name="Freeform 76"/>
          <p:cNvSpPr/>
          <p:nvPr/>
        </p:nvSpPr>
        <p:spPr>
          <a:xfrm>
            <a:off x="12233492" y="9612058"/>
            <a:ext cx="2636007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24" name="TextBox 77"/>
          <p:cNvSpPr txBox="1"/>
          <p:nvPr/>
        </p:nvSpPr>
        <p:spPr>
          <a:xfrm>
            <a:off x="12507654" y="9632305"/>
            <a:ext cx="51028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DATE</a:t>
            </a:r>
          </a:p>
        </p:txBody>
      </p:sp>
      <p:sp>
        <p:nvSpPr>
          <p:cNvPr id="1025" name="Freeform 79"/>
          <p:cNvSpPr/>
          <p:nvPr/>
        </p:nvSpPr>
        <p:spPr>
          <a:xfrm>
            <a:off x="12513692" y="9612117"/>
            <a:ext cx="4" cy="821437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26" name="TextBox 80"/>
          <p:cNvSpPr txBox="1"/>
          <p:nvPr/>
        </p:nvSpPr>
        <p:spPr>
          <a:xfrm>
            <a:off x="12233491" y="9634148"/>
            <a:ext cx="26032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ISSUE</a:t>
            </a:r>
          </a:p>
        </p:txBody>
      </p:sp>
      <p:sp>
        <p:nvSpPr>
          <p:cNvPr id="1027" name="Freeform 82"/>
          <p:cNvSpPr/>
          <p:nvPr/>
        </p:nvSpPr>
        <p:spPr>
          <a:xfrm>
            <a:off x="12236067" y="9736835"/>
            <a:ext cx="2636007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28" name="Freeform 83"/>
          <p:cNvSpPr/>
          <p:nvPr/>
        </p:nvSpPr>
        <p:spPr>
          <a:xfrm>
            <a:off x="13052420" y="9614212"/>
            <a:ext cx="4" cy="824700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29" name="TextBox 84"/>
          <p:cNvSpPr txBox="1"/>
          <p:nvPr/>
        </p:nvSpPr>
        <p:spPr>
          <a:xfrm>
            <a:off x="13058443" y="9631360"/>
            <a:ext cx="178161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DESCRIPTION</a:t>
            </a:r>
          </a:p>
        </p:txBody>
      </p:sp>
      <p:sp>
        <p:nvSpPr>
          <p:cNvPr id="1030" name="Freeform 86"/>
          <p:cNvSpPr/>
          <p:nvPr/>
        </p:nvSpPr>
        <p:spPr>
          <a:xfrm>
            <a:off x="12237973" y="9877804"/>
            <a:ext cx="2636008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31" name="Freeform 87"/>
          <p:cNvSpPr/>
          <p:nvPr/>
        </p:nvSpPr>
        <p:spPr>
          <a:xfrm>
            <a:off x="12236067" y="9878180"/>
            <a:ext cx="2636007" cy="3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32" name="Freeform 88"/>
          <p:cNvSpPr/>
          <p:nvPr/>
        </p:nvSpPr>
        <p:spPr>
          <a:xfrm>
            <a:off x="12237973" y="10019151"/>
            <a:ext cx="2636008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33" name="Freeform 90"/>
          <p:cNvSpPr/>
          <p:nvPr/>
        </p:nvSpPr>
        <p:spPr>
          <a:xfrm>
            <a:off x="12237973" y="10159355"/>
            <a:ext cx="2636008" cy="5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34" name="Straight Connector 2"/>
          <p:cNvSpPr/>
          <p:nvPr/>
        </p:nvSpPr>
        <p:spPr>
          <a:xfrm>
            <a:off x="12237973" y="6966880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35" name="Straight Connector 71"/>
          <p:cNvSpPr/>
          <p:nvPr/>
        </p:nvSpPr>
        <p:spPr>
          <a:xfrm>
            <a:off x="12237973" y="6678848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36" name="Freeform 90"/>
          <p:cNvSpPr/>
          <p:nvPr/>
        </p:nvSpPr>
        <p:spPr>
          <a:xfrm>
            <a:off x="12237973" y="10298666"/>
            <a:ext cx="2636008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37" name="TextBox 98"/>
          <p:cNvSpPr txBox="1"/>
          <p:nvPr/>
        </p:nvSpPr>
        <p:spPr>
          <a:xfrm>
            <a:off x="13070458" y="9889172"/>
            <a:ext cx="176304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 </a:t>
            </a:r>
          </a:p>
        </p:txBody>
      </p:sp>
      <p:sp>
        <p:nvSpPr>
          <p:cNvPr id="1038" name="TextBox 74"/>
          <p:cNvSpPr txBox="1"/>
          <p:nvPr/>
        </p:nvSpPr>
        <p:spPr>
          <a:xfrm>
            <a:off x="12243182" y="9193193"/>
            <a:ext cx="126636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SCALE: </a:t>
            </a:r>
            <a:r>
              <a:rPr>
                <a:solidFill>
                  <a:srgbClr val="000000"/>
                </a:solidFill>
              </a:rPr>
              <a:t>NOT TO SCALE</a:t>
            </a:r>
          </a:p>
        </p:txBody>
      </p:sp>
      <p:sp>
        <p:nvSpPr>
          <p:cNvPr id="1039" name="Freeform 47"/>
          <p:cNvSpPr/>
          <p:nvPr/>
        </p:nvSpPr>
        <p:spPr>
          <a:xfrm>
            <a:off x="12226542" y="9184596"/>
            <a:ext cx="2646004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40" name="TextBox 109"/>
          <p:cNvSpPr txBox="1"/>
          <p:nvPr/>
        </p:nvSpPr>
        <p:spPr>
          <a:xfrm>
            <a:off x="12253914" y="8867116"/>
            <a:ext cx="95997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DOCUMENT REFERENCE</a:t>
            </a:r>
          </a:p>
        </p:txBody>
      </p:sp>
      <p:sp>
        <p:nvSpPr>
          <p:cNvPr id="1041" name="TextBox 110"/>
          <p:cNvSpPr txBox="1"/>
          <p:nvPr/>
        </p:nvSpPr>
        <p:spPr>
          <a:xfrm>
            <a:off x="12223991" y="8967075"/>
            <a:ext cx="259089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APPENDIX B – RF PREDICTIONS </a:t>
            </a:r>
          </a:p>
        </p:txBody>
      </p:sp>
      <p:sp>
        <p:nvSpPr>
          <p:cNvPr id="1042" name="Straight Connector 115"/>
          <p:cNvSpPr/>
          <p:nvPr/>
        </p:nvSpPr>
        <p:spPr>
          <a:xfrm>
            <a:off x="12237973" y="7857455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43" name="Rectangle 118"/>
          <p:cNvSpPr txBox="1"/>
          <p:nvPr/>
        </p:nvSpPr>
        <p:spPr>
          <a:xfrm>
            <a:off x="12292583" y="374373"/>
            <a:ext cx="2524151" cy="243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0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COMMERCIAL MOBILE SERVICES</a:t>
            </a:r>
          </a:p>
        </p:txBody>
      </p:sp>
      <p:sp>
        <p:nvSpPr>
          <p:cNvPr id="1044" name="Rectangle 3"/>
          <p:cNvSpPr/>
          <p:nvPr/>
        </p:nvSpPr>
        <p:spPr>
          <a:xfrm>
            <a:off x="0" y="1"/>
            <a:ext cx="15122525" cy="236989"/>
          </a:xfrm>
          <a:prstGeom prst="rect">
            <a:avLst/>
          </a:prstGeom>
          <a:solidFill>
            <a:srgbClr val="D91D49"/>
          </a:solidFill>
          <a:ln w="25400">
            <a:solidFill>
              <a:srgbClr val="D91D49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045" name="Freeform 47"/>
          <p:cNvSpPr/>
          <p:nvPr/>
        </p:nvSpPr>
        <p:spPr>
          <a:xfrm flipV="1">
            <a:off x="13531176" y="9183037"/>
            <a:ext cx="4" cy="124739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46" name="Rectangle 5"/>
          <p:cNvSpPr/>
          <p:nvPr/>
        </p:nvSpPr>
        <p:spPr>
          <a:xfrm>
            <a:off x="223628" y="261258"/>
            <a:ext cx="14646449" cy="10175448"/>
          </a:xfrm>
          <a:prstGeom prst="rect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047" name="TextBox 49"/>
          <p:cNvSpPr txBox="1"/>
          <p:nvPr/>
        </p:nvSpPr>
        <p:spPr>
          <a:xfrm>
            <a:off x="12253914" y="8285091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ADDRESS</a:t>
            </a:r>
          </a:p>
        </p:txBody>
      </p:sp>
      <p:sp>
        <p:nvSpPr>
          <p:cNvPr id="1048" name="Freeform 45"/>
          <p:cNvSpPr/>
          <p:nvPr/>
        </p:nvSpPr>
        <p:spPr>
          <a:xfrm>
            <a:off x="12230100" y="8849604"/>
            <a:ext cx="2646003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49" name="Straight Connector 52"/>
          <p:cNvSpPr/>
          <p:nvPr/>
        </p:nvSpPr>
        <p:spPr>
          <a:xfrm>
            <a:off x="12237973" y="8270047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50" name="Freeform 47"/>
          <p:cNvSpPr/>
          <p:nvPr/>
        </p:nvSpPr>
        <p:spPr>
          <a:xfrm>
            <a:off x="12236067" y="9317742"/>
            <a:ext cx="2631525" cy="5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51" name="Freeform 48"/>
          <p:cNvSpPr/>
          <p:nvPr/>
        </p:nvSpPr>
        <p:spPr>
          <a:xfrm>
            <a:off x="12227249" y="9427722"/>
            <a:ext cx="2646003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52" name="Freeform 21"/>
          <p:cNvSpPr/>
          <p:nvPr/>
        </p:nvSpPr>
        <p:spPr>
          <a:xfrm>
            <a:off x="12959990" y="9317742"/>
            <a:ext cx="4" cy="10800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53" name="Freeform 67"/>
          <p:cNvSpPr/>
          <p:nvPr/>
        </p:nvSpPr>
        <p:spPr>
          <a:xfrm>
            <a:off x="13975212" y="9321118"/>
            <a:ext cx="4" cy="10813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54" name="TextBox 1"/>
          <p:cNvSpPr txBox="1"/>
          <p:nvPr/>
        </p:nvSpPr>
        <p:spPr>
          <a:xfrm>
            <a:off x="63497" y="10507980"/>
            <a:ext cx="77312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000000">
                    <a:alpha val="50000"/>
                  </a:srgbClr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[SEC=PROTECTED]</a:t>
            </a:r>
          </a:p>
        </p:txBody>
      </p:sp>
      <p:sp>
        <p:nvSpPr>
          <p:cNvPr id="1055" name="Picture Placeholder 2"/>
          <p:cNvSpPr/>
          <p:nvPr/>
        </p:nvSpPr>
        <p:spPr>
          <a:xfrm>
            <a:off x="599800" y="508423"/>
            <a:ext cx="11233730" cy="936439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 defTabSz="1407968">
              <a:spcBef>
                <a:spcPts val="1200"/>
              </a:spcBef>
              <a:defRPr sz="5000"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056" name="TextBox 6"/>
          <p:cNvSpPr txBox="1"/>
          <p:nvPr/>
        </p:nvSpPr>
        <p:spPr>
          <a:xfrm>
            <a:off x="13549306" y="7032755"/>
            <a:ext cx="1284189" cy="63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BOLDYN NETWORKS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</a:t>
            </a:r>
            <a:r>
              <a:rPr baseline="30000"/>
              <a:t>nd</a:t>
            </a:r>
            <a:r>
              <a:t> FLOOR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 KINGDOM STREET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LONDON 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W2 6BD</a:t>
            </a:r>
          </a:p>
        </p:txBody>
      </p:sp>
      <p:sp>
        <p:nvSpPr>
          <p:cNvPr id="1057" name="Freeform: Shape 7"/>
          <p:cNvSpPr/>
          <p:nvPr/>
        </p:nvSpPr>
        <p:spPr>
          <a:xfrm>
            <a:off x="12537433" y="7031193"/>
            <a:ext cx="705489" cy="6648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0873"/>
                </a:moveTo>
                <a:lnTo>
                  <a:pt x="21231" y="9061"/>
                </a:lnTo>
                <a:lnTo>
                  <a:pt x="20308" y="7567"/>
                </a:lnTo>
                <a:lnTo>
                  <a:pt x="18900" y="6563"/>
                </a:lnTo>
                <a:lnTo>
                  <a:pt x="17192" y="6196"/>
                </a:lnTo>
                <a:lnTo>
                  <a:pt x="6808" y="6196"/>
                </a:lnTo>
                <a:lnTo>
                  <a:pt x="6808" y="0"/>
                </a:lnTo>
                <a:lnTo>
                  <a:pt x="4131" y="0"/>
                </a:lnTo>
                <a:lnTo>
                  <a:pt x="4131" y="6196"/>
                </a:lnTo>
                <a:lnTo>
                  <a:pt x="0" y="6196"/>
                </a:lnTo>
                <a:lnTo>
                  <a:pt x="0" y="9037"/>
                </a:lnTo>
                <a:lnTo>
                  <a:pt x="4131" y="9037"/>
                </a:lnTo>
                <a:lnTo>
                  <a:pt x="4131" y="6196"/>
                </a:lnTo>
                <a:lnTo>
                  <a:pt x="6808" y="6196"/>
                </a:lnTo>
                <a:lnTo>
                  <a:pt x="6808" y="9037"/>
                </a:lnTo>
                <a:lnTo>
                  <a:pt x="18923" y="9037"/>
                </a:lnTo>
                <a:lnTo>
                  <a:pt x="18923" y="18759"/>
                </a:lnTo>
                <a:lnTo>
                  <a:pt x="6808" y="18759"/>
                </a:lnTo>
                <a:lnTo>
                  <a:pt x="6808" y="9037"/>
                </a:lnTo>
                <a:lnTo>
                  <a:pt x="4131" y="9037"/>
                </a:lnTo>
                <a:lnTo>
                  <a:pt x="4131" y="16922"/>
                </a:lnTo>
                <a:lnTo>
                  <a:pt x="4477" y="18735"/>
                </a:lnTo>
                <a:lnTo>
                  <a:pt x="5423" y="20229"/>
                </a:lnTo>
                <a:lnTo>
                  <a:pt x="6831" y="21233"/>
                </a:lnTo>
                <a:lnTo>
                  <a:pt x="8538" y="21600"/>
                </a:lnTo>
                <a:lnTo>
                  <a:pt x="17192" y="21600"/>
                </a:lnTo>
                <a:lnTo>
                  <a:pt x="18900" y="21233"/>
                </a:lnTo>
                <a:lnTo>
                  <a:pt x="20308" y="20229"/>
                </a:lnTo>
                <a:lnTo>
                  <a:pt x="21231" y="18759"/>
                </a:lnTo>
                <a:lnTo>
                  <a:pt x="21600" y="16922"/>
                </a:lnTo>
                <a:lnTo>
                  <a:pt x="21600" y="10873"/>
                </a:lnTo>
                <a:close/>
              </a:path>
            </a:pathLst>
          </a:custGeom>
          <a:solidFill>
            <a:srgbClr val="F5054F">
              <a:alpha val="29802"/>
            </a:srgb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058" name="TextBox 27"/>
          <p:cNvSpPr txBox="1"/>
          <p:nvPr/>
        </p:nvSpPr>
        <p:spPr>
          <a:xfrm>
            <a:off x="13056406" y="9758240"/>
            <a:ext cx="177709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Original Submission</a:t>
            </a:r>
          </a:p>
        </p:txBody>
      </p:sp>
      <p:sp>
        <p:nvSpPr>
          <p:cNvPr id="1059" name="TextBox 28"/>
          <p:cNvSpPr txBox="1"/>
          <p:nvPr/>
        </p:nvSpPr>
        <p:spPr>
          <a:xfrm>
            <a:off x="12247271" y="9758240"/>
            <a:ext cx="22438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P01</a:t>
            </a:r>
          </a:p>
        </p:txBody>
      </p:sp>
      <p:sp>
        <p:nvSpPr>
          <p:cNvPr id="1060" name="TextBox 30"/>
          <p:cNvSpPr txBox="1"/>
          <p:nvPr/>
        </p:nvSpPr>
        <p:spPr>
          <a:xfrm>
            <a:off x="12233457" y="8514819"/>
            <a:ext cx="260097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&lt;&lt;ADDRESS&gt;&gt;</a:t>
            </a:r>
          </a:p>
        </p:txBody>
      </p:sp>
      <p:sp>
        <p:nvSpPr>
          <p:cNvPr id="1061" name="TextBox 31"/>
          <p:cNvSpPr txBox="1"/>
          <p:nvPr/>
        </p:nvSpPr>
        <p:spPr>
          <a:xfrm>
            <a:off x="12239090" y="7990071"/>
            <a:ext cx="260097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&lt;&lt;STATION_NAME&gt;&gt;</a:t>
            </a:r>
          </a:p>
        </p:txBody>
      </p:sp>
      <p:sp>
        <p:nvSpPr>
          <p:cNvPr id="1062" name="TextBox 32"/>
          <p:cNvSpPr txBox="1"/>
          <p:nvPr/>
        </p:nvSpPr>
        <p:spPr>
          <a:xfrm>
            <a:off x="13056406" y="9904169"/>
            <a:ext cx="177709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Updated design</a:t>
            </a:r>
          </a:p>
        </p:txBody>
      </p:sp>
      <p:sp>
        <p:nvSpPr>
          <p:cNvPr id="1063" name="TextBox 33"/>
          <p:cNvSpPr txBox="1"/>
          <p:nvPr/>
        </p:nvSpPr>
        <p:spPr>
          <a:xfrm>
            <a:off x="12247271" y="9904169"/>
            <a:ext cx="22438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P02</a:t>
            </a:r>
          </a:p>
        </p:txBody>
      </p:sp>
      <p:pic>
        <p:nvPicPr>
          <p:cNvPr id="1064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2233457" y="722526"/>
            <a:ext cx="2633704" cy="646233"/>
          </a:xfrm>
          <a:prstGeom prst="rect">
            <a:avLst/>
          </a:prstGeom>
          <a:ln w="12700">
            <a:miter lim="400000"/>
          </a:ln>
        </p:spPr>
      </p:pic>
      <p:sp>
        <p:nvSpPr>
          <p:cNvPr id="1065" name="Rectangle 62"/>
          <p:cNvSpPr txBox="1"/>
          <p:nvPr/>
        </p:nvSpPr>
        <p:spPr>
          <a:xfrm>
            <a:off x="1031881" y="10077207"/>
            <a:ext cx="1398603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LTE</a:t>
            </a:r>
          </a:p>
        </p:txBody>
      </p:sp>
      <p:grpSp>
        <p:nvGrpSpPr>
          <p:cNvPr id="1068" name="Rectangle 77"/>
          <p:cNvGrpSpPr/>
          <p:nvPr/>
        </p:nvGrpSpPr>
        <p:grpSpPr>
          <a:xfrm>
            <a:off x="12242777" y="6320589"/>
            <a:ext cx="2627302" cy="392467"/>
            <a:chOff x="-1" y="0"/>
            <a:chExt cx="2627301" cy="392465"/>
          </a:xfrm>
        </p:grpSpPr>
        <p:sp>
          <p:nvSpPr>
            <p:cNvPr id="1066" name="Rectangle"/>
            <p:cNvSpPr/>
            <p:nvPr/>
          </p:nvSpPr>
          <p:spPr>
            <a:xfrm>
              <a:off x="-2" y="34217"/>
              <a:ext cx="2627302" cy="324043"/>
            </a:xfrm>
            <a:prstGeom prst="rect">
              <a:avLst/>
            </a:prstGeom>
            <a:solidFill>
              <a:srgbClr val="D91D49"/>
            </a:solidFill>
            <a:ln w="19050" cap="rnd">
              <a:solidFill>
                <a:srgbClr val="D91D49"/>
              </a:solidFill>
              <a:prstDash val="solid"/>
              <a:bevel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067" name="LTE 2600MHz"/>
            <p:cNvSpPr txBox="1"/>
            <p:nvPr/>
          </p:nvSpPr>
          <p:spPr>
            <a:xfrm>
              <a:off x="55243" y="-1"/>
              <a:ext cx="2516811" cy="39246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b="1" sz="24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LTE 2600MHz</a:t>
              </a:r>
            </a:p>
          </p:txBody>
        </p:sp>
      </p:grpSp>
      <p:sp>
        <p:nvSpPr>
          <p:cNvPr id="1069" name="Freeform 55"/>
          <p:cNvSpPr/>
          <p:nvPr/>
        </p:nvSpPr>
        <p:spPr>
          <a:xfrm>
            <a:off x="9227818" y="10104121"/>
            <a:ext cx="3" cy="335284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70" name="Freeform 56"/>
          <p:cNvSpPr/>
          <p:nvPr/>
        </p:nvSpPr>
        <p:spPr>
          <a:xfrm>
            <a:off x="6228517" y="10104121"/>
            <a:ext cx="4" cy="335284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71" name="Freeform 57"/>
          <p:cNvSpPr/>
          <p:nvPr/>
        </p:nvSpPr>
        <p:spPr>
          <a:xfrm>
            <a:off x="3204778" y="10104121"/>
            <a:ext cx="4" cy="335284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72" name="Rectangle 4"/>
          <p:cNvSpPr txBox="1"/>
          <p:nvPr/>
        </p:nvSpPr>
        <p:spPr>
          <a:xfrm>
            <a:off x="271007" y="10249420"/>
            <a:ext cx="2888053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Technology </a:t>
            </a:r>
          </a:p>
        </p:txBody>
      </p:sp>
      <p:sp>
        <p:nvSpPr>
          <p:cNvPr id="1073" name="Rectangle 5"/>
          <p:cNvSpPr txBox="1"/>
          <p:nvPr/>
        </p:nvSpPr>
        <p:spPr>
          <a:xfrm>
            <a:off x="3250501" y="10249612"/>
            <a:ext cx="2924494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Frequency Band</a:t>
            </a:r>
          </a:p>
        </p:txBody>
      </p:sp>
      <p:sp>
        <p:nvSpPr>
          <p:cNvPr id="1074" name="Rectangle 6"/>
          <p:cNvSpPr txBox="1"/>
          <p:nvPr/>
        </p:nvSpPr>
        <p:spPr>
          <a:xfrm>
            <a:off x="6272324" y="10254543"/>
            <a:ext cx="2901971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Plot</a:t>
            </a:r>
          </a:p>
        </p:txBody>
      </p:sp>
      <p:sp>
        <p:nvSpPr>
          <p:cNvPr id="1075" name="Rectangle 7"/>
          <p:cNvSpPr txBox="1"/>
          <p:nvPr/>
        </p:nvSpPr>
        <p:spPr>
          <a:xfrm>
            <a:off x="9273537" y="10246400"/>
            <a:ext cx="2912501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Floor Level</a:t>
            </a:r>
          </a:p>
        </p:txBody>
      </p:sp>
      <p:sp>
        <p:nvSpPr>
          <p:cNvPr id="1076" name="Rectangle 8"/>
          <p:cNvSpPr/>
          <p:nvPr/>
        </p:nvSpPr>
        <p:spPr>
          <a:xfrm>
            <a:off x="225282" y="10279246"/>
            <a:ext cx="12004820" cy="157181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077" name="Rectangle 9"/>
          <p:cNvSpPr/>
          <p:nvPr/>
        </p:nvSpPr>
        <p:spPr>
          <a:xfrm>
            <a:off x="225282" y="10103973"/>
            <a:ext cx="12004820" cy="174458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078" name="Rectangle 58"/>
          <p:cNvSpPr txBox="1"/>
          <p:nvPr/>
        </p:nvSpPr>
        <p:spPr>
          <a:xfrm>
            <a:off x="6266434" y="10086647"/>
            <a:ext cx="2901971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RSRP (dBm)</a:t>
            </a:r>
          </a:p>
        </p:txBody>
      </p:sp>
      <p:grpSp>
        <p:nvGrpSpPr>
          <p:cNvPr id="1101" name="Group 59"/>
          <p:cNvGrpSpPr/>
          <p:nvPr/>
        </p:nvGrpSpPr>
        <p:grpSpPr>
          <a:xfrm>
            <a:off x="12275816" y="1792967"/>
            <a:ext cx="1308273" cy="2247724"/>
            <a:chOff x="0" y="-1"/>
            <a:chExt cx="1308271" cy="2247723"/>
          </a:xfrm>
        </p:grpSpPr>
        <p:sp>
          <p:nvSpPr>
            <p:cNvPr id="1079" name="Straight Connector 60"/>
            <p:cNvSpPr/>
            <p:nvPr/>
          </p:nvSpPr>
          <p:spPr>
            <a:xfrm>
              <a:off x="654462" y="1946115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080" name="Straight Connector 106"/>
            <p:cNvSpPr/>
            <p:nvPr/>
          </p:nvSpPr>
          <p:spPr>
            <a:xfrm>
              <a:off x="654462" y="1578450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081" name="Straight Connector 107"/>
            <p:cNvSpPr/>
            <p:nvPr/>
          </p:nvSpPr>
          <p:spPr>
            <a:xfrm>
              <a:off x="654462" y="1397475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082" name="Straight Connector 108"/>
            <p:cNvSpPr/>
            <p:nvPr/>
          </p:nvSpPr>
          <p:spPr>
            <a:xfrm>
              <a:off x="654462" y="1214595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083" name="Straight Connector 109"/>
            <p:cNvSpPr/>
            <p:nvPr/>
          </p:nvSpPr>
          <p:spPr>
            <a:xfrm>
              <a:off x="654462" y="1029807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084" name="Straight Connector 110"/>
            <p:cNvSpPr/>
            <p:nvPr/>
          </p:nvSpPr>
          <p:spPr>
            <a:xfrm>
              <a:off x="654462" y="846927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085" name="Straight Connector 111"/>
            <p:cNvSpPr/>
            <p:nvPr/>
          </p:nvSpPr>
          <p:spPr>
            <a:xfrm>
              <a:off x="654462" y="662142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086" name="Straight Connector 112"/>
            <p:cNvSpPr/>
            <p:nvPr/>
          </p:nvSpPr>
          <p:spPr>
            <a:xfrm>
              <a:off x="654462" y="483072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087" name="Straight Connector 113"/>
            <p:cNvSpPr/>
            <p:nvPr/>
          </p:nvSpPr>
          <p:spPr>
            <a:xfrm>
              <a:off x="654462" y="1761330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pic>
          <p:nvPicPr>
            <p:cNvPr id="1088" name="Picture 114" descr="Picture 114"/>
            <p:cNvPicPr>
              <a:picLocks noChangeAspect="1"/>
            </p:cNvPicPr>
            <p:nvPr/>
          </p:nvPicPr>
          <p:blipFill>
            <a:blip r:embed="rId3">
              <a:extLst/>
            </a:blip>
            <a:stretch>
              <a:fillRect/>
            </a:stretch>
          </p:blipFill>
          <p:spPr>
            <a:xfrm>
              <a:off x="119622" y="292572"/>
              <a:ext cx="624846" cy="184404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089" name="TextBox 115"/>
            <p:cNvSpPr txBox="1"/>
            <p:nvPr/>
          </p:nvSpPr>
          <p:spPr>
            <a:xfrm>
              <a:off x="736459" y="2019215"/>
              <a:ext cx="326697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MIN</a:t>
              </a:r>
            </a:p>
          </p:txBody>
        </p:sp>
        <p:sp>
          <p:nvSpPr>
            <p:cNvPr id="1090" name="TextBox 116"/>
            <p:cNvSpPr txBox="1"/>
            <p:nvPr/>
          </p:nvSpPr>
          <p:spPr>
            <a:xfrm>
              <a:off x="880184" y="356154"/>
              <a:ext cx="363718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-65</a:t>
              </a:r>
            </a:p>
          </p:txBody>
        </p:sp>
        <p:sp>
          <p:nvSpPr>
            <p:cNvPr id="1091" name="TextBox 117"/>
            <p:cNvSpPr txBox="1"/>
            <p:nvPr/>
          </p:nvSpPr>
          <p:spPr>
            <a:xfrm>
              <a:off x="880184" y="540935"/>
              <a:ext cx="363718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-80</a:t>
              </a:r>
            </a:p>
          </p:txBody>
        </p:sp>
        <p:sp>
          <p:nvSpPr>
            <p:cNvPr id="1092" name="TextBox 118"/>
            <p:cNvSpPr txBox="1"/>
            <p:nvPr/>
          </p:nvSpPr>
          <p:spPr>
            <a:xfrm>
              <a:off x="880184" y="723818"/>
              <a:ext cx="363718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-95</a:t>
              </a:r>
            </a:p>
          </p:txBody>
        </p:sp>
        <p:sp>
          <p:nvSpPr>
            <p:cNvPr id="1093" name="TextBox 119"/>
            <p:cNvSpPr txBox="1"/>
            <p:nvPr/>
          </p:nvSpPr>
          <p:spPr>
            <a:xfrm>
              <a:off x="880184" y="908602"/>
              <a:ext cx="428086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-105</a:t>
              </a:r>
            </a:p>
          </p:txBody>
        </p:sp>
        <p:sp>
          <p:nvSpPr>
            <p:cNvPr id="1094" name="TextBox 120"/>
            <p:cNvSpPr txBox="1"/>
            <p:nvPr/>
          </p:nvSpPr>
          <p:spPr>
            <a:xfrm>
              <a:off x="880185" y="1089579"/>
              <a:ext cx="428086" cy="2285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-110</a:t>
              </a:r>
            </a:p>
          </p:txBody>
        </p:sp>
        <p:sp>
          <p:nvSpPr>
            <p:cNvPr id="1095" name="TextBox 121"/>
            <p:cNvSpPr txBox="1"/>
            <p:nvPr/>
          </p:nvSpPr>
          <p:spPr>
            <a:xfrm>
              <a:off x="880185" y="1274363"/>
              <a:ext cx="428086" cy="2285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-113</a:t>
              </a:r>
            </a:p>
          </p:txBody>
        </p:sp>
        <p:sp>
          <p:nvSpPr>
            <p:cNvPr id="1096" name="TextBox 122"/>
            <p:cNvSpPr txBox="1"/>
            <p:nvPr/>
          </p:nvSpPr>
          <p:spPr>
            <a:xfrm>
              <a:off x="878782" y="1453437"/>
              <a:ext cx="428086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-116</a:t>
              </a:r>
            </a:p>
          </p:txBody>
        </p:sp>
        <p:sp>
          <p:nvSpPr>
            <p:cNvPr id="1097" name="TextBox 123"/>
            <p:cNvSpPr txBox="1"/>
            <p:nvPr/>
          </p:nvSpPr>
          <p:spPr>
            <a:xfrm>
              <a:off x="878782" y="1638221"/>
              <a:ext cx="428086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-118</a:t>
              </a:r>
            </a:p>
          </p:txBody>
        </p:sp>
        <p:sp>
          <p:nvSpPr>
            <p:cNvPr id="1098" name="TextBox 124"/>
            <p:cNvSpPr txBox="1"/>
            <p:nvPr/>
          </p:nvSpPr>
          <p:spPr>
            <a:xfrm>
              <a:off x="878782" y="1817295"/>
              <a:ext cx="428086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-121</a:t>
              </a:r>
            </a:p>
          </p:txBody>
        </p:sp>
        <p:sp>
          <p:nvSpPr>
            <p:cNvPr id="1099" name="TextBox 125"/>
            <p:cNvSpPr txBox="1"/>
            <p:nvPr/>
          </p:nvSpPr>
          <p:spPr>
            <a:xfrm>
              <a:off x="736459" y="169461"/>
              <a:ext cx="352122" cy="2285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MAX</a:t>
              </a:r>
            </a:p>
          </p:txBody>
        </p:sp>
        <p:sp>
          <p:nvSpPr>
            <p:cNvPr id="1100" name="TextBox 126"/>
            <p:cNvSpPr txBox="1"/>
            <p:nvPr/>
          </p:nvSpPr>
          <p:spPr>
            <a:xfrm>
              <a:off x="-1" y="-2"/>
              <a:ext cx="1076285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algn="ctr">
                <a:defRPr b="1" sz="1000" u="sng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LTE RSRP (dBm)</a:t>
              </a:r>
            </a:p>
          </p:txBody>
        </p:sp>
      </p:grpSp>
      <p:sp>
        <p:nvSpPr>
          <p:cNvPr id="1102" name="Rectangle 127"/>
          <p:cNvSpPr txBox="1"/>
          <p:nvPr/>
        </p:nvSpPr>
        <p:spPr>
          <a:xfrm>
            <a:off x="12352687" y="1531651"/>
            <a:ext cx="535696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LEGEND</a:t>
            </a:r>
          </a:p>
        </p:txBody>
      </p:sp>
      <p:sp>
        <p:nvSpPr>
          <p:cNvPr id="1103" name="Rectangle 41"/>
          <p:cNvSpPr txBox="1"/>
          <p:nvPr/>
        </p:nvSpPr>
        <p:spPr>
          <a:xfrm>
            <a:off x="3250495" y="10088032"/>
            <a:ext cx="2932902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2600MHz</a:t>
            </a:r>
          </a:p>
        </p:txBody>
      </p:sp>
      <p:sp>
        <p:nvSpPr>
          <p:cNvPr id="1104" name="DRAWN:  &lt;D&gt;"/>
          <p:cNvSpPr txBox="1"/>
          <p:nvPr/>
        </p:nvSpPr>
        <p:spPr>
          <a:xfrm>
            <a:off x="12299064" y="9284992"/>
            <a:ext cx="596721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</a:defRPr>
            </a:pPr>
            <a:r>
              <a:t>DRAWN:  </a:t>
            </a:r>
            <a:r>
              <a:rPr>
                <a:solidFill>
                  <a:srgbClr val="000000"/>
                </a:solidFill>
              </a:rPr>
              <a:t>&lt;D&gt;</a:t>
            </a:r>
          </a:p>
        </p:txBody>
      </p:sp>
      <p:sp>
        <p:nvSpPr>
          <p:cNvPr id="1105" name="CHECKED: &lt;C&gt;"/>
          <p:cNvSpPr txBox="1"/>
          <p:nvPr/>
        </p:nvSpPr>
        <p:spPr>
          <a:xfrm>
            <a:off x="13101567" y="9274488"/>
            <a:ext cx="663098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CHECKED: </a:t>
            </a:r>
            <a:r>
              <a:rPr>
                <a:solidFill>
                  <a:srgbClr val="000000"/>
                </a:solidFill>
              </a:rPr>
              <a:t>&lt;C&gt;</a:t>
            </a:r>
          </a:p>
        </p:txBody>
      </p:sp>
      <p:sp>
        <p:nvSpPr>
          <p:cNvPr id="1106" name="APPROVED: &lt;A&gt;"/>
          <p:cNvSpPr txBox="1"/>
          <p:nvPr/>
        </p:nvSpPr>
        <p:spPr>
          <a:xfrm>
            <a:off x="14081688" y="9281572"/>
            <a:ext cx="709756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APPROVED: </a:t>
            </a:r>
            <a:r>
              <a:rPr>
                <a:solidFill>
                  <a:srgbClr val="000000"/>
                </a:solidFill>
              </a:rPr>
              <a:t>&lt;A&gt;</a:t>
            </a:r>
          </a:p>
        </p:txBody>
      </p:sp>
      <p:sp>
        <p:nvSpPr>
          <p:cNvPr id="1107" name="&lt;P01&gt;"/>
          <p:cNvSpPr txBox="1"/>
          <p:nvPr/>
        </p:nvSpPr>
        <p:spPr>
          <a:xfrm>
            <a:off x="12598435" y="9714745"/>
            <a:ext cx="328719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&lt;P01&gt;</a:t>
            </a:r>
          </a:p>
        </p:txBody>
      </p:sp>
      <p:sp>
        <p:nvSpPr>
          <p:cNvPr id="1108" name="&lt;P02&gt;"/>
          <p:cNvSpPr txBox="1"/>
          <p:nvPr/>
        </p:nvSpPr>
        <p:spPr>
          <a:xfrm>
            <a:off x="12592863" y="9854493"/>
            <a:ext cx="328718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&lt;P02&gt;</a:t>
            </a:r>
          </a:p>
        </p:txBody>
      </p:sp>
      <p:sp>
        <p:nvSpPr>
          <p:cNvPr id="1109" name="&lt;NUM&gt;"/>
          <p:cNvSpPr txBox="1"/>
          <p:nvPr/>
        </p:nvSpPr>
        <p:spPr>
          <a:xfrm>
            <a:off x="14324158" y="9149660"/>
            <a:ext cx="366670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600"/>
            </a:lvl1pPr>
          </a:lstStyle>
          <a:p>
            <a:pPr/>
            <a:r>
              <a:t>&lt;NUM&gt;</a:t>
            </a:r>
          </a:p>
        </p:txBody>
      </p:sp>
      <p:sp>
        <p:nvSpPr>
          <p:cNvPr id="1110" name="&lt;&lt;logo&gt;&gt;"/>
          <p:cNvSpPr txBox="1"/>
          <p:nvPr/>
        </p:nvSpPr>
        <p:spPr>
          <a:xfrm>
            <a:off x="13229485" y="875552"/>
            <a:ext cx="1054157" cy="3401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0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&lt;&lt;logo&gt;&gt;</a:t>
            </a:r>
          </a:p>
        </p:txBody>
      </p:sp>
      <p:sp>
        <p:nvSpPr>
          <p:cNvPr id="11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26_LTE SNI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TextBox 66"/>
          <p:cNvSpPr txBox="1"/>
          <p:nvPr/>
        </p:nvSpPr>
        <p:spPr>
          <a:xfrm>
            <a:off x="13525788" y="9201184"/>
            <a:ext cx="130066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SHEET:</a:t>
            </a:r>
          </a:p>
        </p:txBody>
      </p:sp>
      <p:sp>
        <p:nvSpPr>
          <p:cNvPr id="1119" name="Freeform 10"/>
          <p:cNvSpPr/>
          <p:nvPr/>
        </p:nvSpPr>
        <p:spPr>
          <a:xfrm flipH="1">
            <a:off x="12234861" y="209548"/>
            <a:ext cx="1" cy="10224004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20" name="Freeform 11"/>
          <p:cNvSpPr/>
          <p:nvPr/>
        </p:nvSpPr>
        <p:spPr>
          <a:xfrm>
            <a:off x="12230100" y="702182"/>
            <a:ext cx="2646003" cy="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21" name="TextBox 15"/>
          <p:cNvSpPr txBox="1"/>
          <p:nvPr/>
        </p:nvSpPr>
        <p:spPr>
          <a:xfrm>
            <a:off x="12339755" y="6726997"/>
            <a:ext cx="2522705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400">
                <a:solidFill>
                  <a:srgbClr val="A6A6A6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RF PREDICTIONS</a:t>
            </a:r>
          </a:p>
        </p:txBody>
      </p:sp>
      <p:sp>
        <p:nvSpPr>
          <p:cNvPr id="1122" name="TextBox 17"/>
          <p:cNvSpPr txBox="1"/>
          <p:nvPr/>
        </p:nvSpPr>
        <p:spPr>
          <a:xfrm>
            <a:off x="12253914" y="7872499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STATION</a:t>
            </a:r>
          </a:p>
        </p:txBody>
      </p:sp>
      <p:sp>
        <p:nvSpPr>
          <p:cNvPr id="1123" name="Freeform 45"/>
          <p:cNvSpPr/>
          <p:nvPr/>
        </p:nvSpPr>
        <p:spPr>
          <a:xfrm>
            <a:off x="12230100" y="8848334"/>
            <a:ext cx="2646003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24" name="Freeform 67"/>
          <p:cNvSpPr/>
          <p:nvPr/>
        </p:nvSpPr>
        <p:spPr>
          <a:xfrm>
            <a:off x="13545545" y="6970361"/>
            <a:ext cx="3" cy="890405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25" name="TextBox 75"/>
          <p:cNvSpPr txBox="1"/>
          <p:nvPr/>
        </p:nvSpPr>
        <p:spPr>
          <a:xfrm>
            <a:off x="12234160" y="9470638"/>
            <a:ext cx="259229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DRAWING HISTORY</a:t>
            </a:r>
          </a:p>
        </p:txBody>
      </p:sp>
      <p:sp>
        <p:nvSpPr>
          <p:cNvPr id="1126" name="Freeform 76"/>
          <p:cNvSpPr/>
          <p:nvPr/>
        </p:nvSpPr>
        <p:spPr>
          <a:xfrm>
            <a:off x="12233492" y="9612058"/>
            <a:ext cx="2636007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27" name="TextBox 77"/>
          <p:cNvSpPr txBox="1"/>
          <p:nvPr/>
        </p:nvSpPr>
        <p:spPr>
          <a:xfrm>
            <a:off x="12507654" y="9632305"/>
            <a:ext cx="51028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DATE</a:t>
            </a:r>
          </a:p>
        </p:txBody>
      </p:sp>
      <p:sp>
        <p:nvSpPr>
          <p:cNvPr id="1128" name="Freeform 79"/>
          <p:cNvSpPr/>
          <p:nvPr/>
        </p:nvSpPr>
        <p:spPr>
          <a:xfrm>
            <a:off x="12513692" y="9612117"/>
            <a:ext cx="4" cy="821437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29" name="TextBox 80"/>
          <p:cNvSpPr txBox="1"/>
          <p:nvPr/>
        </p:nvSpPr>
        <p:spPr>
          <a:xfrm>
            <a:off x="12233491" y="9634148"/>
            <a:ext cx="26032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ISSUE</a:t>
            </a:r>
          </a:p>
        </p:txBody>
      </p:sp>
      <p:sp>
        <p:nvSpPr>
          <p:cNvPr id="1130" name="Freeform 82"/>
          <p:cNvSpPr/>
          <p:nvPr/>
        </p:nvSpPr>
        <p:spPr>
          <a:xfrm>
            <a:off x="12236067" y="9736835"/>
            <a:ext cx="2636007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31" name="Freeform 83"/>
          <p:cNvSpPr/>
          <p:nvPr/>
        </p:nvSpPr>
        <p:spPr>
          <a:xfrm>
            <a:off x="13052420" y="9614212"/>
            <a:ext cx="4" cy="824700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32" name="TextBox 84"/>
          <p:cNvSpPr txBox="1"/>
          <p:nvPr/>
        </p:nvSpPr>
        <p:spPr>
          <a:xfrm>
            <a:off x="13058443" y="9631360"/>
            <a:ext cx="178161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DESCRIPTION</a:t>
            </a:r>
          </a:p>
        </p:txBody>
      </p:sp>
      <p:sp>
        <p:nvSpPr>
          <p:cNvPr id="1133" name="Freeform 86"/>
          <p:cNvSpPr/>
          <p:nvPr/>
        </p:nvSpPr>
        <p:spPr>
          <a:xfrm>
            <a:off x="12237973" y="9877804"/>
            <a:ext cx="2636008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34" name="Freeform 87"/>
          <p:cNvSpPr/>
          <p:nvPr/>
        </p:nvSpPr>
        <p:spPr>
          <a:xfrm>
            <a:off x="12236067" y="9878180"/>
            <a:ext cx="2636007" cy="3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35" name="Freeform 88"/>
          <p:cNvSpPr/>
          <p:nvPr/>
        </p:nvSpPr>
        <p:spPr>
          <a:xfrm>
            <a:off x="12237973" y="10019151"/>
            <a:ext cx="2636008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36" name="Freeform 90"/>
          <p:cNvSpPr/>
          <p:nvPr/>
        </p:nvSpPr>
        <p:spPr>
          <a:xfrm>
            <a:off x="12237973" y="10159355"/>
            <a:ext cx="2636008" cy="5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37" name="Straight Connector 2"/>
          <p:cNvSpPr/>
          <p:nvPr/>
        </p:nvSpPr>
        <p:spPr>
          <a:xfrm>
            <a:off x="12237973" y="6966880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38" name="Straight Connector 71"/>
          <p:cNvSpPr/>
          <p:nvPr/>
        </p:nvSpPr>
        <p:spPr>
          <a:xfrm>
            <a:off x="12237973" y="6678848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39" name="Freeform 90"/>
          <p:cNvSpPr/>
          <p:nvPr/>
        </p:nvSpPr>
        <p:spPr>
          <a:xfrm>
            <a:off x="12237973" y="10298666"/>
            <a:ext cx="2636008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40" name="TextBox 98"/>
          <p:cNvSpPr txBox="1"/>
          <p:nvPr/>
        </p:nvSpPr>
        <p:spPr>
          <a:xfrm>
            <a:off x="13070458" y="9889172"/>
            <a:ext cx="176304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 </a:t>
            </a:r>
          </a:p>
        </p:txBody>
      </p:sp>
      <p:sp>
        <p:nvSpPr>
          <p:cNvPr id="1141" name="TextBox 74"/>
          <p:cNvSpPr txBox="1"/>
          <p:nvPr/>
        </p:nvSpPr>
        <p:spPr>
          <a:xfrm>
            <a:off x="12243182" y="9193193"/>
            <a:ext cx="126636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SCALE: </a:t>
            </a:r>
            <a:r>
              <a:rPr>
                <a:solidFill>
                  <a:srgbClr val="000000"/>
                </a:solidFill>
              </a:rPr>
              <a:t>NOT TO SCALE</a:t>
            </a:r>
          </a:p>
        </p:txBody>
      </p:sp>
      <p:sp>
        <p:nvSpPr>
          <p:cNvPr id="1142" name="Freeform 47"/>
          <p:cNvSpPr/>
          <p:nvPr/>
        </p:nvSpPr>
        <p:spPr>
          <a:xfrm>
            <a:off x="12226542" y="9184596"/>
            <a:ext cx="2646004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43" name="TextBox 109"/>
          <p:cNvSpPr txBox="1"/>
          <p:nvPr/>
        </p:nvSpPr>
        <p:spPr>
          <a:xfrm>
            <a:off x="12253914" y="8867116"/>
            <a:ext cx="95997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DOCUMENT REFERENCE</a:t>
            </a:r>
          </a:p>
        </p:txBody>
      </p:sp>
      <p:sp>
        <p:nvSpPr>
          <p:cNvPr id="1144" name="TextBox 110"/>
          <p:cNvSpPr txBox="1"/>
          <p:nvPr/>
        </p:nvSpPr>
        <p:spPr>
          <a:xfrm>
            <a:off x="12223991" y="8967075"/>
            <a:ext cx="259089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APPENDIX B – RF PREDICTIONS </a:t>
            </a:r>
          </a:p>
        </p:txBody>
      </p:sp>
      <p:sp>
        <p:nvSpPr>
          <p:cNvPr id="1145" name="Straight Connector 115"/>
          <p:cNvSpPr/>
          <p:nvPr/>
        </p:nvSpPr>
        <p:spPr>
          <a:xfrm>
            <a:off x="12237973" y="7857455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46" name="Rectangle 118"/>
          <p:cNvSpPr txBox="1"/>
          <p:nvPr/>
        </p:nvSpPr>
        <p:spPr>
          <a:xfrm>
            <a:off x="12292583" y="374373"/>
            <a:ext cx="2524151" cy="243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0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COMMERCIAL MOBILE SERVICES</a:t>
            </a:r>
          </a:p>
        </p:txBody>
      </p:sp>
      <p:sp>
        <p:nvSpPr>
          <p:cNvPr id="1147" name="Rectangle 3"/>
          <p:cNvSpPr/>
          <p:nvPr/>
        </p:nvSpPr>
        <p:spPr>
          <a:xfrm>
            <a:off x="0" y="1"/>
            <a:ext cx="15122525" cy="236989"/>
          </a:xfrm>
          <a:prstGeom prst="rect">
            <a:avLst/>
          </a:prstGeom>
          <a:solidFill>
            <a:srgbClr val="D91D49"/>
          </a:solidFill>
          <a:ln w="25400">
            <a:solidFill>
              <a:srgbClr val="D91D49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148" name="Freeform 47"/>
          <p:cNvSpPr/>
          <p:nvPr/>
        </p:nvSpPr>
        <p:spPr>
          <a:xfrm flipV="1">
            <a:off x="13531176" y="9183037"/>
            <a:ext cx="4" cy="124739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49" name="Rectangle 5"/>
          <p:cNvSpPr/>
          <p:nvPr/>
        </p:nvSpPr>
        <p:spPr>
          <a:xfrm>
            <a:off x="223628" y="261258"/>
            <a:ext cx="14646449" cy="10175448"/>
          </a:xfrm>
          <a:prstGeom prst="rect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150" name="TextBox 49"/>
          <p:cNvSpPr txBox="1"/>
          <p:nvPr/>
        </p:nvSpPr>
        <p:spPr>
          <a:xfrm>
            <a:off x="12253914" y="8285091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ADDRESS</a:t>
            </a:r>
          </a:p>
        </p:txBody>
      </p:sp>
      <p:sp>
        <p:nvSpPr>
          <p:cNvPr id="1151" name="Freeform 45"/>
          <p:cNvSpPr/>
          <p:nvPr/>
        </p:nvSpPr>
        <p:spPr>
          <a:xfrm>
            <a:off x="12230100" y="8849604"/>
            <a:ext cx="2646003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52" name="Straight Connector 52"/>
          <p:cNvSpPr/>
          <p:nvPr/>
        </p:nvSpPr>
        <p:spPr>
          <a:xfrm>
            <a:off x="12237973" y="8270047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53" name="Freeform 47"/>
          <p:cNvSpPr/>
          <p:nvPr/>
        </p:nvSpPr>
        <p:spPr>
          <a:xfrm>
            <a:off x="12236067" y="9317742"/>
            <a:ext cx="2631525" cy="5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54" name="Freeform 48"/>
          <p:cNvSpPr/>
          <p:nvPr/>
        </p:nvSpPr>
        <p:spPr>
          <a:xfrm>
            <a:off x="12227249" y="9427722"/>
            <a:ext cx="2646003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55" name="Freeform 21"/>
          <p:cNvSpPr/>
          <p:nvPr/>
        </p:nvSpPr>
        <p:spPr>
          <a:xfrm>
            <a:off x="12959990" y="9317742"/>
            <a:ext cx="4" cy="10800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56" name="Freeform 67"/>
          <p:cNvSpPr/>
          <p:nvPr/>
        </p:nvSpPr>
        <p:spPr>
          <a:xfrm>
            <a:off x="13975212" y="9321118"/>
            <a:ext cx="4" cy="10813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57" name="TextBox 1"/>
          <p:cNvSpPr txBox="1"/>
          <p:nvPr/>
        </p:nvSpPr>
        <p:spPr>
          <a:xfrm>
            <a:off x="63497" y="10507980"/>
            <a:ext cx="77312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000000">
                    <a:alpha val="50000"/>
                  </a:srgbClr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[SEC=PROTECTED]</a:t>
            </a:r>
          </a:p>
        </p:txBody>
      </p:sp>
      <p:sp>
        <p:nvSpPr>
          <p:cNvPr id="1158" name="Picture Placeholder 2"/>
          <p:cNvSpPr/>
          <p:nvPr/>
        </p:nvSpPr>
        <p:spPr>
          <a:xfrm>
            <a:off x="599800" y="508423"/>
            <a:ext cx="11233730" cy="936439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 defTabSz="1407968">
              <a:spcBef>
                <a:spcPts val="1200"/>
              </a:spcBef>
              <a:defRPr sz="5000"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159" name="TextBox 6"/>
          <p:cNvSpPr txBox="1"/>
          <p:nvPr/>
        </p:nvSpPr>
        <p:spPr>
          <a:xfrm>
            <a:off x="13549306" y="7032755"/>
            <a:ext cx="1284189" cy="63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BOLDYN NETWORKS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</a:t>
            </a:r>
            <a:r>
              <a:rPr baseline="30000"/>
              <a:t>nd</a:t>
            </a:r>
            <a:r>
              <a:t> FLOOR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 KINGDOM STREET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LONDON 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W2 6BD</a:t>
            </a:r>
          </a:p>
        </p:txBody>
      </p:sp>
      <p:sp>
        <p:nvSpPr>
          <p:cNvPr id="1160" name="Freeform: Shape 7"/>
          <p:cNvSpPr/>
          <p:nvPr/>
        </p:nvSpPr>
        <p:spPr>
          <a:xfrm>
            <a:off x="12537433" y="7031193"/>
            <a:ext cx="705489" cy="6648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0873"/>
                </a:moveTo>
                <a:lnTo>
                  <a:pt x="21231" y="9061"/>
                </a:lnTo>
                <a:lnTo>
                  <a:pt x="20308" y="7567"/>
                </a:lnTo>
                <a:lnTo>
                  <a:pt x="18900" y="6563"/>
                </a:lnTo>
                <a:lnTo>
                  <a:pt x="17192" y="6196"/>
                </a:lnTo>
                <a:lnTo>
                  <a:pt x="6808" y="6196"/>
                </a:lnTo>
                <a:lnTo>
                  <a:pt x="6808" y="0"/>
                </a:lnTo>
                <a:lnTo>
                  <a:pt x="4131" y="0"/>
                </a:lnTo>
                <a:lnTo>
                  <a:pt x="4131" y="6196"/>
                </a:lnTo>
                <a:lnTo>
                  <a:pt x="0" y="6196"/>
                </a:lnTo>
                <a:lnTo>
                  <a:pt x="0" y="9037"/>
                </a:lnTo>
                <a:lnTo>
                  <a:pt x="4131" y="9037"/>
                </a:lnTo>
                <a:lnTo>
                  <a:pt x="4131" y="6196"/>
                </a:lnTo>
                <a:lnTo>
                  <a:pt x="6808" y="6196"/>
                </a:lnTo>
                <a:lnTo>
                  <a:pt x="6808" y="9037"/>
                </a:lnTo>
                <a:lnTo>
                  <a:pt x="18923" y="9037"/>
                </a:lnTo>
                <a:lnTo>
                  <a:pt x="18923" y="18759"/>
                </a:lnTo>
                <a:lnTo>
                  <a:pt x="6808" y="18759"/>
                </a:lnTo>
                <a:lnTo>
                  <a:pt x="6808" y="9037"/>
                </a:lnTo>
                <a:lnTo>
                  <a:pt x="4131" y="9037"/>
                </a:lnTo>
                <a:lnTo>
                  <a:pt x="4131" y="16922"/>
                </a:lnTo>
                <a:lnTo>
                  <a:pt x="4477" y="18735"/>
                </a:lnTo>
                <a:lnTo>
                  <a:pt x="5423" y="20229"/>
                </a:lnTo>
                <a:lnTo>
                  <a:pt x="6831" y="21233"/>
                </a:lnTo>
                <a:lnTo>
                  <a:pt x="8538" y="21600"/>
                </a:lnTo>
                <a:lnTo>
                  <a:pt x="17192" y="21600"/>
                </a:lnTo>
                <a:lnTo>
                  <a:pt x="18900" y="21233"/>
                </a:lnTo>
                <a:lnTo>
                  <a:pt x="20308" y="20229"/>
                </a:lnTo>
                <a:lnTo>
                  <a:pt x="21231" y="18759"/>
                </a:lnTo>
                <a:lnTo>
                  <a:pt x="21600" y="16922"/>
                </a:lnTo>
                <a:lnTo>
                  <a:pt x="21600" y="10873"/>
                </a:lnTo>
                <a:close/>
              </a:path>
            </a:pathLst>
          </a:custGeom>
          <a:solidFill>
            <a:srgbClr val="F5054F">
              <a:alpha val="29802"/>
            </a:srgb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161" name="TextBox 27"/>
          <p:cNvSpPr txBox="1"/>
          <p:nvPr/>
        </p:nvSpPr>
        <p:spPr>
          <a:xfrm>
            <a:off x="13056406" y="9758240"/>
            <a:ext cx="177709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Original Submission</a:t>
            </a:r>
          </a:p>
        </p:txBody>
      </p:sp>
      <p:sp>
        <p:nvSpPr>
          <p:cNvPr id="1162" name="TextBox 28"/>
          <p:cNvSpPr txBox="1"/>
          <p:nvPr/>
        </p:nvSpPr>
        <p:spPr>
          <a:xfrm>
            <a:off x="12247271" y="9758240"/>
            <a:ext cx="22438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P01</a:t>
            </a:r>
          </a:p>
        </p:txBody>
      </p:sp>
      <p:sp>
        <p:nvSpPr>
          <p:cNvPr id="1163" name="TextBox 30"/>
          <p:cNvSpPr txBox="1"/>
          <p:nvPr/>
        </p:nvSpPr>
        <p:spPr>
          <a:xfrm>
            <a:off x="12233457" y="8514819"/>
            <a:ext cx="260097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&lt;&lt;ADDRESS&gt;&gt;</a:t>
            </a:r>
          </a:p>
        </p:txBody>
      </p:sp>
      <p:sp>
        <p:nvSpPr>
          <p:cNvPr id="1164" name="TextBox 31"/>
          <p:cNvSpPr txBox="1"/>
          <p:nvPr/>
        </p:nvSpPr>
        <p:spPr>
          <a:xfrm>
            <a:off x="12239090" y="7990071"/>
            <a:ext cx="260097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&lt;&lt;STATION_NAME&gt;&gt;</a:t>
            </a:r>
          </a:p>
        </p:txBody>
      </p:sp>
      <p:sp>
        <p:nvSpPr>
          <p:cNvPr id="1165" name="TextBox 32"/>
          <p:cNvSpPr txBox="1"/>
          <p:nvPr/>
        </p:nvSpPr>
        <p:spPr>
          <a:xfrm>
            <a:off x="13056406" y="9904169"/>
            <a:ext cx="177709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Updated design</a:t>
            </a:r>
          </a:p>
        </p:txBody>
      </p:sp>
      <p:sp>
        <p:nvSpPr>
          <p:cNvPr id="1166" name="TextBox 33"/>
          <p:cNvSpPr txBox="1"/>
          <p:nvPr/>
        </p:nvSpPr>
        <p:spPr>
          <a:xfrm>
            <a:off x="12247271" y="9904169"/>
            <a:ext cx="22438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P02</a:t>
            </a:r>
          </a:p>
        </p:txBody>
      </p:sp>
      <p:pic>
        <p:nvPicPr>
          <p:cNvPr id="1167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2233457" y="722526"/>
            <a:ext cx="2633704" cy="646233"/>
          </a:xfrm>
          <a:prstGeom prst="rect">
            <a:avLst/>
          </a:prstGeom>
          <a:ln w="12700">
            <a:miter lim="400000"/>
          </a:ln>
        </p:spPr>
      </p:pic>
      <p:sp>
        <p:nvSpPr>
          <p:cNvPr id="1168" name="Rectangle 62"/>
          <p:cNvSpPr txBox="1"/>
          <p:nvPr/>
        </p:nvSpPr>
        <p:spPr>
          <a:xfrm>
            <a:off x="1031881" y="10077207"/>
            <a:ext cx="1398603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LTE</a:t>
            </a:r>
          </a:p>
        </p:txBody>
      </p:sp>
      <p:sp>
        <p:nvSpPr>
          <p:cNvPr id="1169" name="Freeform 55"/>
          <p:cNvSpPr/>
          <p:nvPr/>
        </p:nvSpPr>
        <p:spPr>
          <a:xfrm>
            <a:off x="9227818" y="10104121"/>
            <a:ext cx="3" cy="335284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70" name="Freeform 56"/>
          <p:cNvSpPr/>
          <p:nvPr/>
        </p:nvSpPr>
        <p:spPr>
          <a:xfrm>
            <a:off x="6228517" y="10104121"/>
            <a:ext cx="4" cy="335284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71" name="Freeform 57"/>
          <p:cNvSpPr/>
          <p:nvPr/>
        </p:nvSpPr>
        <p:spPr>
          <a:xfrm>
            <a:off x="3204778" y="10104121"/>
            <a:ext cx="4" cy="335284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72" name="Rectangle 4"/>
          <p:cNvSpPr txBox="1"/>
          <p:nvPr/>
        </p:nvSpPr>
        <p:spPr>
          <a:xfrm>
            <a:off x="271007" y="10249420"/>
            <a:ext cx="2888053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Technology </a:t>
            </a:r>
          </a:p>
        </p:txBody>
      </p:sp>
      <p:sp>
        <p:nvSpPr>
          <p:cNvPr id="1173" name="Rectangle 5"/>
          <p:cNvSpPr txBox="1"/>
          <p:nvPr/>
        </p:nvSpPr>
        <p:spPr>
          <a:xfrm>
            <a:off x="3250501" y="10249612"/>
            <a:ext cx="2924494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Frequency Band</a:t>
            </a:r>
          </a:p>
        </p:txBody>
      </p:sp>
      <p:sp>
        <p:nvSpPr>
          <p:cNvPr id="1174" name="Rectangle 6"/>
          <p:cNvSpPr txBox="1"/>
          <p:nvPr/>
        </p:nvSpPr>
        <p:spPr>
          <a:xfrm>
            <a:off x="6272324" y="10254543"/>
            <a:ext cx="2901971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Plot</a:t>
            </a:r>
          </a:p>
        </p:txBody>
      </p:sp>
      <p:sp>
        <p:nvSpPr>
          <p:cNvPr id="1175" name="Rectangle 7"/>
          <p:cNvSpPr txBox="1"/>
          <p:nvPr/>
        </p:nvSpPr>
        <p:spPr>
          <a:xfrm>
            <a:off x="9273537" y="10246400"/>
            <a:ext cx="2912501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Floor Level</a:t>
            </a:r>
          </a:p>
        </p:txBody>
      </p:sp>
      <p:sp>
        <p:nvSpPr>
          <p:cNvPr id="1176" name="Rectangle 8"/>
          <p:cNvSpPr/>
          <p:nvPr/>
        </p:nvSpPr>
        <p:spPr>
          <a:xfrm>
            <a:off x="225282" y="10279246"/>
            <a:ext cx="12004820" cy="157181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177" name="Rectangle 9"/>
          <p:cNvSpPr/>
          <p:nvPr/>
        </p:nvSpPr>
        <p:spPr>
          <a:xfrm>
            <a:off x="225282" y="10103973"/>
            <a:ext cx="12004820" cy="174458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178" name="Rectangle 35"/>
          <p:cNvSpPr txBox="1"/>
          <p:nvPr/>
        </p:nvSpPr>
        <p:spPr>
          <a:xfrm>
            <a:off x="12352687" y="1531651"/>
            <a:ext cx="535696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LEGEND</a:t>
            </a:r>
          </a:p>
        </p:txBody>
      </p:sp>
      <p:grpSp>
        <p:nvGrpSpPr>
          <p:cNvPr id="1195" name="Group 36"/>
          <p:cNvGrpSpPr/>
          <p:nvPr/>
        </p:nvGrpSpPr>
        <p:grpSpPr>
          <a:xfrm>
            <a:off x="12144183" y="1695397"/>
            <a:ext cx="1269045" cy="1164242"/>
            <a:chOff x="0" y="0"/>
            <a:chExt cx="1269044" cy="1164241"/>
          </a:xfrm>
        </p:grpSpPr>
        <p:grpSp>
          <p:nvGrpSpPr>
            <p:cNvPr id="1184" name="Group 37"/>
            <p:cNvGrpSpPr/>
            <p:nvPr/>
          </p:nvGrpSpPr>
          <p:grpSpPr>
            <a:xfrm>
              <a:off x="255734" y="284359"/>
              <a:ext cx="619351" cy="879882"/>
              <a:chOff x="-1" y="0"/>
              <a:chExt cx="619350" cy="879881"/>
            </a:xfrm>
          </p:grpSpPr>
          <p:sp>
            <p:nvSpPr>
              <p:cNvPr id="1179" name="Rectangle 48"/>
              <p:cNvSpPr/>
              <p:nvPr/>
            </p:nvSpPr>
            <p:spPr>
              <a:xfrm>
                <a:off x="-2" y="-1"/>
                <a:ext cx="619003" cy="177169"/>
              </a:xfrm>
              <a:prstGeom prst="rect">
                <a:avLst/>
              </a:prstGeom>
              <a:solidFill>
                <a:srgbClr val="28E3FC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1180" name="Rectangle 49"/>
              <p:cNvSpPr/>
              <p:nvPr/>
            </p:nvSpPr>
            <p:spPr>
              <a:xfrm>
                <a:off x="-1" y="177166"/>
                <a:ext cx="619003" cy="177169"/>
              </a:xfrm>
              <a:prstGeom prst="rect">
                <a:avLst/>
              </a:prstGeom>
              <a:solidFill>
                <a:srgbClr val="00FF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1181" name="Rectangle 50"/>
              <p:cNvSpPr/>
              <p:nvPr/>
            </p:nvSpPr>
            <p:spPr>
              <a:xfrm>
                <a:off x="347" y="354332"/>
                <a:ext cx="619003" cy="177169"/>
              </a:xfrm>
              <a:prstGeom prst="rect">
                <a:avLst/>
              </a:prstGeom>
              <a:solidFill>
                <a:srgbClr val="FFFF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1182" name="Rectangle 51"/>
              <p:cNvSpPr/>
              <p:nvPr/>
            </p:nvSpPr>
            <p:spPr>
              <a:xfrm>
                <a:off x="347" y="531499"/>
                <a:ext cx="619003" cy="177169"/>
              </a:xfrm>
              <a:prstGeom prst="rect">
                <a:avLst/>
              </a:prstGeom>
              <a:solidFill>
                <a:srgbClr val="FFC0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1183" name="Rectangle 52"/>
              <p:cNvSpPr/>
              <p:nvPr/>
            </p:nvSpPr>
            <p:spPr>
              <a:xfrm>
                <a:off x="347" y="702712"/>
                <a:ext cx="619003" cy="177169"/>
              </a:xfrm>
              <a:prstGeom prst="rect">
                <a:avLst/>
              </a:prstGeom>
              <a:solidFill>
                <a:srgbClr val="FF00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</p:grpSp>
        <p:sp>
          <p:nvSpPr>
            <p:cNvPr id="1185" name="Straight Connector 38"/>
            <p:cNvSpPr/>
            <p:nvPr/>
          </p:nvSpPr>
          <p:spPr>
            <a:xfrm>
              <a:off x="811838" y="816671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186" name="Straight Connector 39"/>
            <p:cNvSpPr/>
            <p:nvPr/>
          </p:nvSpPr>
          <p:spPr>
            <a:xfrm>
              <a:off x="812087" y="638693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187" name="Straight Connector 40"/>
            <p:cNvSpPr/>
            <p:nvPr/>
          </p:nvSpPr>
          <p:spPr>
            <a:xfrm>
              <a:off x="812087" y="461528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188" name="Straight Connector 41"/>
            <p:cNvSpPr/>
            <p:nvPr/>
          </p:nvSpPr>
          <p:spPr>
            <a:xfrm>
              <a:off x="830248" y="987070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189" name="TextBox 42"/>
            <p:cNvSpPr txBox="1"/>
            <p:nvPr/>
          </p:nvSpPr>
          <p:spPr>
            <a:xfrm>
              <a:off x="-1" y="-1"/>
              <a:ext cx="1013468" cy="2285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algn="ctr" defTabSz="914371">
                <a:defRPr b="1" sz="1000" u="sng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SNIR (dB)</a:t>
              </a:r>
            </a:p>
          </p:txBody>
        </p:sp>
        <p:sp>
          <p:nvSpPr>
            <p:cNvPr id="1190" name="TextBox 43"/>
            <p:cNvSpPr txBox="1"/>
            <p:nvPr/>
          </p:nvSpPr>
          <p:spPr>
            <a:xfrm>
              <a:off x="880765" y="136855"/>
              <a:ext cx="333531" cy="2285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Max</a:t>
              </a:r>
            </a:p>
          </p:txBody>
        </p:sp>
        <p:sp>
          <p:nvSpPr>
            <p:cNvPr id="1191" name="TextBox 44"/>
            <p:cNvSpPr txBox="1"/>
            <p:nvPr/>
          </p:nvSpPr>
          <p:spPr>
            <a:xfrm>
              <a:off x="935956" y="339738"/>
              <a:ext cx="324837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 &gt;20</a:t>
              </a:r>
            </a:p>
          </p:txBody>
        </p:sp>
        <p:sp>
          <p:nvSpPr>
            <p:cNvPr id="1192" name="TextBox 45"/>
            <p:cNvSpPr txBox="1"/>
            <p:nvPr/>
          </p:nvSpPr>
          <p:spPr>
            <a:xfrm>
              <a:off x="944207" y="523745"/>
              <a:ext cx="324837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 &gt;14</a:t>
              </a:r>
            </a:p>
          </p:txBody>
        </p:sp>
        <p:sp>
          <p:nvSpPr>
            <p:cNvPr id="1193" name="TextBox 46"/>
            <p:cNvSpPr txBox="1"/>
            <p:nvPr/>
          </p:nvSpPr>
          <p:spPr>
            <a:xfrm>
              <a:off x="980238" y="695082"/>
              <a:ext cx="260469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6</a:t>
              </a:r>
            </a:p>
          </p:txBody>
        </p:sp>
        <p:sp>
          <p:nvSpPr>
            <p:cNvPr id="1194" name="TextBox 47"/>
            <p:cNvSpPr txBox="1"/>
            <p:nvPr/>
          </p:nvSpPr>
          <p:spPr>
            <a:xfrm>
              <a:off x="977068" y="876824"/>
              <a:ext cx="260469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0</a:t>
              </a:r>
            </a:p>
          </p:txBody>
        </p:sp>
      </p:grpSp>
      <p:grpSp>
        <p:nvGrpSpPr>
          <p:cNvPr id="1198" name="Rectangle 54"/>
          <p:cNvGrpSpPr/>
          <p:nvPr/>
        </p:nvGrpSpPr>
        <p:grpSpPr>
          <a:xfrm>
            <a:off x="12242777" y="6320589"/>
            <a:ext cx="2627302" cy="392467"/>
            <a:chOff x="-1" y="0"/>
            <a:chExt cx="2627301" cy="392465"/>
          </a:xfrm>
        </p:grpSpPr>
        <p:sp>
          <p:nvSpPr>
            <p:cNvPr id="1196" name="Rectangle"/>
            <p:cNvSpPr/>
            <p:nvPr/>
          </p:nvSpPr>
          <p:spPr>
            <a:xfrm>
              <a:off x="-2" y="34217"/>
              <a:ext cx="2627302" cy="324043"/>
            </a:xfrm>
            <a:prstGeom prst="rect">
              <a:avLst/>
            </a:prstGeom>
            <a:solidFill>
              <a:srgbClr val="D91D49"/>
            </a:solidFill>
            <a:ln w="19050" cap="rnd">
              <a:solidFill>
                <a:srgbClr val="D91D49"/>
              </a:solidFill>
              <a:prstDash val="solid"/>
              <a:bevel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197" name="LTE 2600MHz"/>
            <p:cNvSpPr txBox="1"/>
            <p:nvPr/>
          </p:nvSpPr>
          <p:spPr>
            <a:xfrm>
              <a:off x="55243" y="-1"/>
              <a:ext cx="2516811" cy="39246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b="1" sz="24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LTE 2600MHz</a:t>
              </a:r>
            </a:p>
          </p:txBody>
        </p:sp>
      </p:grpSp>
      <p:sp>
        <p:nvSpPr>
          <p:cNvPr id="1199" name="Rectangle 56"/>
          <p:cNvSpPr txBox="1"/>
          <p:nvPr/>
        </p:nvSpPr>
        <p:spPr>
          <a:xfrm>
            <a:off x="6274834" y="10083707"/>
            <a:ext cx="2896896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SNIR (dB)</a:t>
            </a:r>
          </a:p>
        </p:txBody>
      </p:sp>
      <p:sp>
        <p:nvSpPr>
          <p:cNvPr id="1200" name="Rectangle 55"/>
          <p:cNvSpPr txBox="1"/>
          <p:nvPr/>
        </p:nvSpPr>
        <p:spPr>
          <a:xfrm>
            <a:off x="3250495" y="10088032"/>
            <a:ext cx="2932902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2600MHz</a:t>
            </a:r>
          </a:p>
        </p:txBody>
      </p:sp>
      <p:sp>
        <p:nvSpPr>
          <p:cNvPr id="1201" name="DRAWN:  &lt;D&gt;"/>
          <p:cNvSpPr txBox="1"/>
          <p:nvPr/>
        </p:nvSpPr>
        <p:spPr>
          <a:xfrm>
            <a:off x="12322172" y="9281572"/>
            <a:ext cx="596721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</a:defRPr>
            </a:pPr>
            <a:r>
              <a:t>DRAWN:  </a:t>
            </a:r>
            <a:r>
              <a:rPr>
                <a:solidFill>
                  <a:srgbClr val="000000"/>
                </a:solidFill>
              </a:rPr>
              <a:t>&lt;D&gt;</a:t>
            </a:r>
          </a:p>
        </p:txBody>
      </p:sp>
      <p:sp>
        <p:nvSpPr>
          <p:cNvPr id="1202" name="CHECKED: &lt;C&gt;"/>
          <p:cNvSpPr txBox="1"/>
          <p:nvPr/>
        </p:nvSpPr>
        <p:spPr>
          <a:xfrm>
            <a:off x="13113121" y="9281572"/>
            <a:ext cx="663099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CHECKED: </a:t>
            </a:r>
            <a:r>
              <a:rPr>
                <a:solidFill>
                  <a:srgbClr val="000000"/>
                </a:solidFill>
              </a:rPr>
              <a:t>&lt;C&gt;</a:t>
            </a:r>
          </a:p>
        </p:txBody>
      </p:sp>
      <p:sp>
        <p:nvSpPr>
          <p:cNvPr id="1203" name="APPROVED: &lt;A&gt;"/>
          <p:cNvSpPr txBox="1"/>
          <p:nvPr/>
        </p:nvSpPr>
        <p:spPr>
          <a:xfrm>
            <a:off x="14081688" y="9288988"/>
            <a:ext cx="709756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APPROVED: </a:t>
            </a:r>
            <a:r>
              <a:rPr>
                <a:solidFill>
                  <a:srgbClr val="000000"/>
                </a:solidFill>
              </a:rPr>
              <a:t>&lt;A&gt;</a:t>
            </a:r>
          </a:p>
        </p:txBody>
      </p:sp>
      <p:sp>
        <p:nvSpPr>
          <p:cNvPr id="1204" name="&lt;P01&gt;"/>
          <p:cNvSpPr txBox="1"/>
          <p:nvPr/>
        </p:nvSpPr>
        <p:spPr>
          <a:xfrm>
            <a:off x="12614346" y="9708097"/>
            <a:ext cx="328719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&lt;P01&gt;</a:t>
            </a:r>
          </a:p>
        </p:txBody>
      </p:sp>
      <p:sp>
        <p:nvSpPr>
          <p:cNvPr id="1205" name="&lt;P02&gt;"/>
          <p:cNvSpPr txBox="1"/>
          <p:nvPr/>
        </p:nvSpPr>
        <p:spPr>
          <a:xfrm>
            <a:off x="12614346" y="9877500"/>
            <a:ext cx="328719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&lt;P02&gt;</a:t>
            </a:r>
          </a:p>
        </p:txBody>
      </p:sp>
      <p:sp>
        <p:nvSpPr>
          <p:cNvPr id="1206" name="&lt;NUM&gt;"/>
          <p:cNvSpPr txBox="1"/>
          <p:nvPr/>
        </p:nvSpPr>
        <p:spPr>
          <a:xfrm>
            <a:off x="14290619" y="9141614"/>
            <a:ext cx="366670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600"/>
            </a:lvl1pPr>
          </a:lstStyle>
          <a:p>
            <a:pPr/>
            <a:r>
              <a:t>&lt;NUM&gt;</a:t>
            </a:r>
          </a:p>
        </p:txBody>
      </p:sp>
      <p:sp>
        <p:nvSpPr>
          <p:cNvPr id="1207" name="&lt;&lt;logo&gt;&gt;"/>
          <p:cNvSpPr txBox="1"/>
          <p:nvPr/>
        </p:nvSpPr>
        <p:spPr>
          <a:xfrm>
            <a:off x="13422174" y="875552"/>
            <a:ext cx="1054157" cy="3401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0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&lt;&lt;logo&gt;&gt;</a:t>
            </a:r>
          </a:p>
        </p:txBody>
      </p:sp>
      <p:sp>
        <p:nvSpPr>
          <p:cNvPr id="120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NR3500_SS-RSR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TextBox 66"/>
          <p:cNvSpPr txBox="1"/>
          <p:nvPr/>
        </p:nvSpPr>
        <p:spPr>
          <a:xfrm>
            <a:off x="13525788" y="9201184"/>
            <a:ext cx="130066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SHEET:</a:t>
            </a:r>
          </a:p>
        </p:txBody>
      </p:sp>
      <p:sp>
        <p:nvSpPr>
          <p:cNvPr id="1216" name="Freeform 10"/>
          <p:cNvSpPr/>
          <p:nvPr/>
        </p:nvSpPr>
        <p:spPr>
          <a:xfrm flipH="1">
            <a:off x="12234861" y="209548"/>
            <a:ext cx="1" cy="10224004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17" name="Freeform 11"/>
          <p:cNvSpPr/>
          <p:nvPr/>
        </p:nvSpPr>
        <p:spPr>
          <a:xfrm>
            <a:off x="12230100" y="702182"/>
            <a:ext cx="2646003" cy="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18" name="TextBox 15"/>
          <p:cNvSpPr txBox="1"/>
          <p:nvPr/>
        </p:nvSpPr>
        <p:spPr>
          <a:xfrm>
            <a:off x="12339755" y="6726997"/>
            <a:ext cx="2522705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400">
                <a:solidFill>
                  <a:srgbClr val="A6A6A6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RF PREDICTIONS</a:t>
            </a:r>
          </a:p>
        </p:txBody>
      </p:sp>
      <p:sp>
        <p:nvSpPr>
          <p:cNvPr id="1219" name="TextBox 17"/>
          <p:cNvSpPr txBox="1"/>
          <p:nvPr/>
        </p:nvSpPr>
        <p:spPr>
          <a:xfrm>
            <a:off x="12253914" y="7872499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STATION</a:t>
            </a:r>
          </a:p>
        </p:txBody>
      </p:sp>
      <p:sp>
        <p:nvSpPr>
          <p:cNvPr id="1220" name="Freeform 45"/>
          <p:cNvSpPr/>
          <p:nvPr/>
        </p:nvSpPr>
        <p:spPr>
          <a:xfrm>
            <a:off x="12230100" y="8848334"/>
            <a:ext cx="2646003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21" name="Freeform 67"/>
          <p:cNvSpPr/>
          <p:nvPr/>
        </p:nvSpPr>
        <p:spPr>
          <a:xfrm>
            <a:off x="13545545" y="6970361"/>
            <a:ext cx="3" cy="890405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22" name="TextBox 75"/>
          <p:cNvSpPr txBox="1"/>
          <p:nvPr/>
        </p:nvSpPr>
        <p:spPr>
          <a:xfrm>
            <a:off x="12234160" y="9470638"/>
            <a:ext cx="259229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DRAWING HISTORY</a:t>
            </a:r>
          </a:p>
        </p:txBody>
      </p:sp>
      <p:sp>
        <p:nvSpPr>
          <p:cNvPr id="1223" name="Freeform 76"/>
          <p:cNvSpPr/>
          <p:nvPr/>
        </p:nvSpPr>
        <p:spPr>
          <a:xfrm>
            <a:off x="12233492" y="9612058"/>
            <a:ext cx="2636007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24" name="TextBox 77"/>
          <p:cNvSpPr txBox="1"/>
          <p:nvPr/>
        </p:nvSpPr>
        <p:spPr>
          <a:xfrm>
            <a:off x="12507654" y="9632305"/>
            <a:ext cx="51028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DATE</a:t>
            </a:r>
          </a:p>
        </p:txBody>
      </p:sp>
      <p:sp>
        <p:nvSpPr>
          <p:cNvPr id="1225" name="Freeform 79"/>
          <p:cNvSpPr/>
          <p:nvPr/>
        </p:nvSpPr>
        <p:spPr>
          <a:xfrm>
            <a:off x="12513692" y="9612117"/>
            <a:ext cx="4" cy="821437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26" name="TextBox 80"/>
          <p:cNvSpPr txBox="1"/>
          <p:nvPr/>
        </p:nvSpPr>
        <p:spPr>
          <a:xfrm>
            <a:off x="12233491" y="9634148"/>
            <a:ext cx="26032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ISSUE</a:t>
            </a:r>
          </a:p>
        </p:txBody>
      </p:sp>
      <p:sp>
        <p:nvSpPr>
          <p:cNvPr id="1227" name="Freeform 82"/>
          <p:cNvSpPr/>
          <p:nvPr/>
        </p:nvSpPr>
        <p:spPr>
          <a:xfrm>
            <a:off x="12236067" y="9736835"/>
            <a:ext cx="2636007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28" name="Freeform 83"/>
          <p:cNvSpPr/>
          <p:nvPr/>
        </p:nvSpPr>
        <p:spPr>
          <a:xfrm>
            <a:off x="13052420" y="9614212"/>
            <a:ext cx="4" cy="824700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29" name="TextBox 84"/>
          <p:cNvSpPr txBox="1"/>
          <p:nvPr/>
        </p:nvSpPr>
        <p:spPr>
          <a:xfrm>
            <a:off x="13058443" y="9631360"/>
            <a:ext cx="178161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DESCRIPTION</a:t>
            </a:r>
          </a:p>
        </p:txBody>
      </p:sp>
      <p:sp>
        <p:nvSpPr>
          <p:cNvPr id="1230" name="Freeform 86"/>
          <p:cNvSpPr/>
          <p:nvPr/>
        </p:nvSpPr>
        <p:spPr>
          <a:xfrm>
            <a:off x="12237973" y="9877804"/>
            <a:ext cx="2636008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31" name="Freeform 87"/>
          <p:cNvSpPr/>
          <p:nvPr/>
        </p:nvSpPr>
        <p:spPr>
          <a:xfrm>
            <a:off x="12236067" y="9878180"/>
            <a:ext cx="2636007" cy="3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32" name="Freeform 88"/>
          <p:cNvSpPr/>
          <p:nvPr/>
        </p:nvSpPr>
        <p:spPr>
          <a:xfrm>
            <a:off x="12237973" y="10019151"/>
            <a:ext cx="2636008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33" name="Freeform 90"/>
          <p:cNvSpPr/>
          <p:nvPr/>
        </p:nvSpPr>
        <p:spPr>
          <a:xfrm>
            <a:off x="12237973" y="10159355"/>
            <a:ext cx="2636008" cy="5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34" name="Straight Connector 2"/>
          <p:cNvSpPr/>
          <p:nvPr/>
        </p:nvSpPr>
        <p:spPr>
          <a:xfrm>
            <a:off x="12237973" y="6966880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35" name="Straight Connector 71"/>
          <p:cNvSpPr/>
          <p:nvPr/>
        </p:nvSpPr>
        <p:spPr>
          <a:xfrm>
            <a:off x="12237973" y="6678848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36" name="Freeform 90"/>
          <p:cNvSpPr/>
          <p:nvPr/>
        </p:nvSpPr>
        <p:spPr>
          <a:xfrm>
            <a:off x="12237973" y="10298666"/>
            <a:ext cx="2636008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37" name="TextBox 98"/>
          <p:cNvSpPr txBox="1"/>
          <p:nvPr/>
        </p:nvSpPr>
        <p:spPr>
          <a:xfrm>
            <a:off x="13070458" y="9889172"/>
            <a:ext cx="176304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 </a:t>
            </a:r>
          </a:p>
        </p:txBody>
      </p:sp>
      <p:sp>
        <p:nvSpPr>
          <p:cNvPr id="1238" name="TextBox 74"/>
          <p:cNvSpPr txBox="1"/>
          <p:nvPr/>
        </p:nvSpPr>
        <p:spPr>
          <a:xfrm>
            <a:off x="12243182" y="9193193"/>
            <a:ext cx="126636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SCALE: </a:t>
            </a:r>
            <a:r>
              <a:rPr>
                <a:solidFill>
                  <a:srgbClr val="000000"/>
                </a:solidFill>
              </a:rPr>
              <a:t>NOT TO SCALE</a:t>
            </a:r>
          </a:p>
        </p:txBody>
      </p:sp>
      <p:sp>
        <p:nvSpPr>
          <p:cNvPr id="1239" name="Freeform 47"/>
          <p:cNvSpPr/>
          <p:nvPr/>
        </p:nvSpPr>
        <p:spPr>
          <a:xfrm>
            <a:off x="12226542" y="9184596"/>
            <a:ext cx="2646004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40" name="TextBox 109"/>
          <p:cNvSpPr txBox="1"/>
          <p:nvPr/>
        </p:nvSpPr>
        <p:spPr>
          <a:xfrm>
            <a:off x="12253914" y="8867116"/>
            <a:ext cx="95997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DOCUMENT REFERENCE</a:t>
            </a:r>
          </a:p>
        </p:txBody>
      </p:sp>
      <p:sp>
        <p:nvSpPr>
          <p:cNvPr id="1241" name="TextBox 110"/>
          <p:cNvSpPr txBox="1"/>
          <p:nvPr/>
        </p:nvSpPr>
        <p:spPr>
          <a:xfrm>
            <a:off x="12223991" y="8967075"/>
            <a:ext cx="259089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APPENDIX B – RF PREDICTIONS </a:t>
            </a:r>
          </a:p>
        </p:txBody>
      </p:sp>
      <p:sp>
        <p:nvSpPr>
          <p:cNvPr id="1242" name="Straight Connector 115"/>
          <p:cNvSpPr/>
          <p:nvPr/>
        </p:nvSpPr>
        <p:spPr>
          <a:xfrm>
            <a:off x="12237973" y="7857455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43" name="Rectangle 118"/>
          <p:cNvSpPr txBox="1"/>
          <p:nvPr/>
        </p:nvSpPr>
        <p:spPr>
          <a:xfrm>
            <a:off x="12292583" y="374373"/>
            <a:ext cx="2524151" cy="243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0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COMMERCIAL MOBILE SERVICES</a:t>
            </a:r>
          </a:p>
        </p:txBody>
      </p:sp>
      <p:sp>
        <p:nvSpPr>
          <p:cNvPr id="1244" name="Rectangle 3"/>
          <p:cNvSpPr/>
          <p:nvPr/>
        </p:nvSpPr>
        <p:spPr>
          <a:xfrm>
            <a:off x="0" y="1"/>
            <a:ext cx="15122525" cy="236989"/>
          </a:xfrm>
          <a:prstGeom prst="rect">
            <a:avLst/>
          </a:prstGeom>
          <a:solidFill>
            <a:srgbClr val="D91D49"/>
          </a:solidFill>
          <a:ln w="25400">
            <a:solidFill>
              <a:srgbClr val="D91D49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245" name="Freeform 47"/>
          <p:cNvSpPr/>
          <p:nvPr/>
        </p:nvSpPr>
        <p:spPr>
          <a:xfrm flipV="1">
            <a:off x="13531176" y="9183037"/>
            <a:ext cx="4" cy="124739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46" name="Rectangle 5"/>
          <p:cNvSpPr/>
          <p:nvPr/>
        </p:nvSpPr>
        <p:spPr>
          <a:xfrm>
            <a:off x="223628" y="261258"/>
            <a:ext cx="14646449" cy="10175448"/>
          </a:xfrm>
          <a:prstGeom prst="rect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247" name="TextBox 49"/>
          <p:cNvSpPr txBox="1"/>
          <p:nvPr/>
        </p:nvSpPr>
        <p:spPr>
          <a:xfrm>
            <a:off x="12253914" y="8285091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ADDRESS</a:t>
            </a:r>
          </a:p>
        </p:txBody>
      </p:sp>
      <p:sp>
        <p:nvSpPr>
          <p:cNvPr id="1248" name="Freeform 45"/>
          <p:cNvSpPr/>
          <p:nvPr/>
        </p:nvSpPr>
        <p:spPr>
          <a:xfrm>
            <a:off x="12230100" y="8849604"/>
            <a:ext cx="2646003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49" name="Straight Connector 52"/>
          <p:cNvSpPr/>
          <p:nvPr/>
        </p:nvSpPr>
        <p:spPr>
          <a:xfrm>
            <a:off x="12237973" y="8270047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50" name="Freeform 47"/>
          <p:cNvSpPr/>
          <p:nvPr/>
        </p:nvSpPr>
        <p:spPr>
          <a:xfrm>
            <a:off x="12236067" y="9317742"/>
            <a:ext cx="2631525" cy="5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51" name="Freeform 48"/>
          <p:cNvSpPr/>
          <p:nvPr/>
        </p:nvSpPr>
        <p:spPr>
          <a:xfrm>
            <a:off x="12227249" y="9427722"/>
            <a:ext cx="2646003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52" name="Freeform 21"/>
          <p:cNvSpPr/>
          <p:nvPr/>
        </p:nvSpPr>
        <p:spPr>
          <a:xfrm>
            <a:off x="12959990" y="9317742"/>
            <a:ext cx="4" cy="10800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53" name="Freeform 67"/>
          <p:cNvSpPr/>
          <p:nvPr/>
        </p:nvSpPr>
        <p:spPr>
          <a:xfrm>
            <a:off x="13975212" y="9321118"/>
            <a:ext cx="4" cy="10813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54" name="TextBox 1"/>
          <p:cNvSpPr txBox="1"/>
          <p:nvPr/>
        </p:nvSpPr>
        <p:spPr>
          <a:xfrm>
            <a:off x="63497" y="10507980"/>
            <a:ext cx="77312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000000">
                    <a:alpha val="50000"/>
                  </a:srgbClr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[SEC=PROTECTED]</a:t>
            </a:r>
          </a:p>
        </p:txBody>
      </p:sp>
      <p:sp>
        <p:nvSpPr>
          <p:cNvPr id="1255" name="Picture Placeholder 2"/>
          <p:cNvSpPr/>
          <p:nvPr/>
        </p:nvSpPr>
        <p:spPr>
          <a:xfrm>
            <a:off x="599800" y="508423"/>
            <a:ext cx="11233730" cy="936439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 defTabSz="1407968">
              <a:spcBef>
                <a:spcPts val="1200"/>
              </a:spcBef>
              <a:defRPr sz="5000"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256" name="TextBox 6"/>
          <p:cNvSpPr txBox="1"/>
          <p:nvPr/>
        </p:nvSpPr>
        <p:spPr>
          <a:xfrm>
            <a:off x="13549306" y="7032755"/>
            <a:ext cx="1284189" cy="63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BOLDYN NETWORKS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</a:t>
            </a:r>
            <a:r>
              <a:rPr baseline="30000"/>
              <a:t>nd</a:t>
            </a:r>
            <a:r>
              <a:t> FLOOR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 KINGDOM STREET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LONDON 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W2 6BD</a:t>
            </a:r>
          </a:p>
        </p:txBody>
      </p:sp>
      <p:sp>
        <p:nvSpPr>
          <p:cNvPr id="1257" name="Freeform: Shape 7"/>
          <p:cNvSpPr/>
          <p:nvPr/>
        </p:nvSpPr>
        <p:spPr>
          <a:xfrm>
            <a:off x="12537433" y="7031193"/>
            <a:ext cx="705489" cy="6648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0873"/>
                </a:moveTo>
                <a:lnTo>
                  <a:pt x="21231" y="9061"/>
                </a:lnTo>
                <a:lnTo>
                  <a:pt x="20308" y="7567"/>
                </a:lnTo>
                <a:lnTo>
                  <a:pt x="18900" y="6563"/>
                </a:lnTo>
                <a:lnTo>
                  <a:pt x="17192" y="6196"/>
                </a:lnTo>
                <a:lnTo>
                  <a:pt x="6808" y="6196"/>
                </a:lnTo>
                <a:lnTo>
                  <a:pt x="6808" y="0"/>
                </a:lnTo>
                <a:lnTo>
                  <a:pt x="4131" y="0"/>
                </a:lnTo>
                <a:lnTo>
                  <a:pt x="4131" y="6196"/>
                </a:lnTo>
                <a:lnTo>
                  <a:pt x="0" y="6196"/>
                </a:lnTo>
                <a:lnTo>
                  <a:pt x="0" y="9037"/>
                </a:lnTo>
                <a:lnTo>
                  <a:pt x="4131" y="9037"/>
                </a:lnTo>
                <a:lnTo>
                  <a:pt x="4131" y="6196"/>
                </a:lnTo>
                <a:lnTo>
                  <a:pt x="6808" y="6196"/>
                </a:lnTo>
                <a:lnTo>
                  <a:pt x="6808" y="9037"/>
                </a:lnTo>
                <a:lnTo>
                  <a:pt x="18923" y="9037"/>
                </a:lnTo>
                <a:lnTo>
                  <a:pt x="18923" y="18759"/>
                </a:lnTo>
                <a:lnTo>
                  <a:pt x="6808" y="18759"/>
                </a:lnTo>
                <a:lnTo>
                  <a:pt x="6808" y="9037"/>
                </a:lnTo>
                <a:lnTo>
                  <a:pt x="4131" y="9037"/>
                </a:lnTo>
                <a:lnTo>
                  <a:pt x="4131" y="16922"/>
                </a:lnTo>
                <a:lnTo>
                  <a:pt x="4477" y="18735"/>
                </a:lnTo>
                <a:lnTo>
                  <a:pt x="5423" y="20229"/>
                </a:lnTo>
                <a:lnTo>
                  <a:pt x="6831" y="21233"/>
                </a:lnTo>
                <a:lnTo>
                  <a:pt x="8538" y="21600"/>
                </a:lnTo>
                <a:lnTo>
                  <a:pt x="17192" y="21600"/>
                </a:lnTo>
                <a:lnTo>
                  <a:pt x="18900" y="21233"/>
                </a:lnTo>
                <a:lnTo>
                  <a:pt x="20308" y="20229"/>
                </a:lnTo>
                <a:lnTo>
                  <a:pt x="21231" y="18759"/>
                </a:lnTo>
                <a:lnTo>
                  <a:pt x="21600" y="16922"/>
                </a:lnTo>
                <a:lnTo>
                  <a:pt x="21600" y="10873"/>
                </a:lnTo>
                <a:close/>
              </a:path>
            </a:pathLst>
          </a:custGeom>
          <a:solidFill>
            <a:srgbClr val="F5054F">
              <a:alpha val="29802"/>
            </a:srgb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258" name="TextBox 27"/>
          <p:cNvSpPr txBox="1"/>
          <p:nvPr/>
        </p:nvSpPr>
        <p:spPr>
          <a:xfrm>
            <a:off x="13056406" y="9758240"/>
            <a:ext cx="177709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Original Submission</a:t>
            </a:r>
          </a:p>
        </p:txBody>
      </p:sp>
      <p:sp>
        <p:nvSpPr>
          <p:cNvPr id="1259" name="TextBox 28"/>
          <p:cNvSpPr txBox="1"/>
          <p:nvPr/>
        </p:nvSpPr>
        <p:spPr>
          <a:xfrm>
            <a:off x="12247271" y="9758240"/>
            <a:ext cx="22438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P01</a:t>
            </a:r>
          </a:p>
        </p:txBody>
      </p:sp>
      <p:sp>
        <p:nvSpPr>
          <p:cNvPr id="1260" name="TextBox 30"/>
          <p:cNvSpPr txBox="1"/>
          <p:nvPr/>
        </p:nvSpPr>
        <p:spPr>
          <a:xfrm>
            <a:off x="12233457" y="8514819"/>
            <a:ext cx="260097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&lt;&lt;ADDRESS&gt;&gt;</a:t>
            </a:r>
          </a:p>
        </p:txBody>
      </p:sp>
      <p:sp>
        <p:nvSpPr>
          <p:cNvPr id="1261" name="TextBox 31"/>
          <p:cNvSpPr txBox="1"/>
          <p:nvPr/>
        </p:nvSpPr>
        <p:spPr>
          <a:xfrm>
            <a:off x="12239090" y="7990071"/>
            <a:ext cx="260097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&lt;&lt;STATION_NAME&gt;&gt;</a:t>
            </a:r>
          </a:p>
        </p:txBody>
      </p:sp>
      <p:sp>
        <p:nvSpPr>
          <p:cNvPr id="1262" name="TextBox 32"/>
          <p:cNvSpPr txBox="1"/>
          <p:nvPr/>
        </p:nvSpPr>
        <p:spPr>
          <a:xfrm>
            <a:off x="13056406" y="9904169"/>
            <a:ext cx="177709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Updated design</a:t>
            </a:r>
          </a:p>
        </p:txBody>
      </p:sp>
      <p:sp>
        <p:nvSpPr>
          <p:cNvPr id="1263" name="TextBox 33"/>
          <p:cNvSpPr txBox="1"/>
          <p:nvPr/>
        </p:nvSpPr>
        <p:spPr>
          <a:xfrm>
            <a:off x="12247271" y="9904169"/>
            <a:ext cx="22438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P02</a:t>
            </a:r>
          </a:p>
        </p:txBody>
      </p:sp>
      <p:pic>
        <p:nvPicPr>
          <p:cNvPr id="1264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2233457" y="722526"/>
            <a:ext cx="2633704" cy="646233"/>
          </a:xfrm>
          <a:prstGeom prst="rect">
            <a:avLst/>
          </a:prstGeom>
          <a:ln w="12700">
            <a:miter lim="400000"/>
          </a:ln>
        </p:spPr>
      </p:pic>
      <p:sp>
        <p:nvSpPr>
          <p:cNvPr id="1265" name="Rectangle 62"/>
          <p:cNvSpPr txBox="1"/>
          <p:nvPr/>
        </p:nvSpPr>
        <p:spPr>
          <a:xfrm>
            <a:off x="1031881" y="10077207"/>
            <a:ext cx="1398603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5GNR</a:t>
            </a:r>
          </a:p>
        </p:txBody>
      </p:sp>
      <p:grpSp>
        <p:nvGrpSpPr>
          <p:cNvPr id="1268" name="Rectangle 77"/>
          <p:cNvGrpSpPr/>
          <p:nvPr/>
        </p:nvGrpSpPr>
        <p:grpSpPr>
          <a:xfrm>
            <a:off x="12242777" y="6320589"/>
            <a:ext cx="2627302" cy="392467"/>
            <a:chOff x="-1" y="0"/>
            <a:chExt cx="2627301" cy="392465"/>
          </a:xfrm>
        </p:grpSpPr>
        <p:sp>
          <p:nvSpPr>
            <p:cNvPr id="1266" name="Rectangle"/>
            <p:cNvSpPr/>
            <p:nvPr/>
          </p:nvSpPr>
          <p:spPr>
            <a:xfrm>
              <a:off x="-2" y="34217"/>
              <a:ext cx="2627302" cy="324043"/>
            </a:xfrm>
            <a:prstGeom prst="rect">
              <a:avLst/>
            </a:prstGeom>
            <a:solidFill>
              <a:srgbClr val="D91D49"/>
            </a:solidFill>
            <a:ln w="19050" cap="rnd">
              <a:solidFill>
                <a:srgbClr val="D91D49"/>
              </a:solidFill>
              <a:prstDash val="solid"/>
              <a:bevel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267" name="NR 3500MHz"/>
            <p:cNvSpPr txBox="1"/>
            <p:nvPr/>
          </p:nvSpPr>
          <p:spPr>
            <a:xfrm>
              <a:off x="55243" y="-1"/>
              <a:ext cx="2516811" cy="39246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b="1" sz="24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NR 3500MHz</a:t>
              </a:r>
            </a:p>
          </p:txBody>
        </p:sp>
      </p:grpSp>
      <p:sp>
        <p:nvSpPr>
          <p:cNvPr id="1269" name="Freeform 55"/>
          <p:cNvSpPr/>
          <p:nvPr/>
        </p:nvSpPr>
        <p:spPr>
          <a:xfrm>
            <a:off x="9227818" y="10104121"/>
            <a:ext cx="3" cy="335284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70" name="Freeform 56"/>
          <p:cNvSpPr/>
          <p:nvPr/>
        </p:nvSpPr>
        <p:spPr>
          <a:xfrm>
            <a:off x="6228517" y="10104121"/>
            <a:ext cx="4" cy="335284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71" name="Freeform 57"/>
          <p:cNvSpPr/>
          <p:nvPr/>
        </p:nvSpPr>
        <p:spPr>
          <a:xfrm>
            <a:off x="3204778" y="10104121"/>
            <a:ext cx="4" cy="335284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72" name="Rectangle 4"/>
          <p:cNvSpPr txBox="1"/>
          <p:nvPr/>
        </p:nvSpPr>
        <p:spPr>
          <a:xfrm>
            <a:off x="271007" y="10249420"/>
            <a:ext cx="2888053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Technology </a:t>
            </a:r>
          </a:p>
        </p:txBody>
      </p:sp>
      <p:sp>
        <p:nvSpPr>
          <p:cNvPr id="1273" name="Rectangle 5"/>
          <p:cNvSpPr txBox="1"/>
          <p:nvPr/>
        </p:nvSpPr>
        <p:spPr>
          <a:xfrm>
            <a:off x="3250501" y="10249612"/>
            <a:ext cx="2924494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Frequency Band</a:t>
            </a:r>
          </a:p>
        </p:txBody>
      </p:sp>
      <p:sp>
        <p:nvSpPr>
          <p:cNvPr id="1274" name="Rectangle 6"/>
          <p:cNvSpPr txBox="1"/>
          <p:nvPr/>
        </p:nvSpPr>
        <p:spPr>
          <a:xfrm>
            <a:off x="6272324" y="10254543"/>
            <a:ext cx="2901971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Plot</a:t>
            </a:r>
          </a:p>
        </p:txBody>
      </p:sp>
      <p:sp>
        <p:nvSpPr>
          <p:cNvPr id="1275" name="Rectangle 7"/>
          <p:cNvSpPr txBox="1"/>
          <p:nvPr/>
        </p:nvSpPr>
        <p:spPr>
          <a:xfrm>
            <a:off x="9273537" y="10246400"/>
            <a:ext cx="2912501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Floor Level</a:t>
            </a:r>
          </a:p>
        </p:txBody>
      </p:sp>
      <p:sp>
        <p:nvSpPr>
          <p:cNvPr id="1276" name="Rectangle 8"/>
          <p:cNvSpPr/>
          <p:nvPr/>
        </p:nvSpPr>
        <p:spPr>
          <a:xfrm>
            <a:off x="225282" y="10279246"/>
            <a:ext cx="12004820" cy="157181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277" name="Rectangle 9"/>
          <p:cNvSpPr/>
          <p:nvPr/>
        </p:nvSpPr>
        <p:spPr>
          <a:xfrm>
            <a:off x="225282" y="10103973"/>
            <a:ext cx="12004820" cy="174458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278" name="Rectangle 58"/>
          <p:cNvSpPr txBox="1"/>
          <p:nvPr/>
        </p:nvSpPr>
        <p:spPr>
          <a:xfrm>
            <a:off x="6266434" y="10086647"/>
            <a:ext cx="2901971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SS-RSRP (dBm)</a:t>
            </a:r>
          </a:p>
        </p:txBody>
      </p:sp>
      <p:grpSp>
        <p:nvGrpSpPr>
          <p:cNvPr id="1301" name="Group 59"/>
          <p:cNvGrpSpPr/>
          <p:nvPr/>
        </p:nvGrpSpPr>
        <p:grpSpPr>
          <a:xfrm>
            <a:off x="12275818" y="1792967"/>
            <a:ext cx="1308271" cy="2247724"/>
            <a:chOff x="0" y="-1"/>
            <a:chExt cx="1308270" cy="2247723"/>
          </a:xfrm>
        </p:grpSpPr>
        <p:sp>
          <p:nvSpPr>
            <p:cNvPr id="1279" name="Straight Connector 60"/>
            <p:cNvSpPr/>
            <p:nvPr/>
          </p:nvSpPr>
          <p:spPr>
            <a:xfrm>
              <a:off x="654461" y="1946115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280" name="Straight Connector 106"/>
            <p:cNvSpPr/>
            <p:nvPr/>
          </p:nvSpPr>
          <p:spPr>
            <a:xfrm>
              <a:off x="654461" y="1578450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281" name="Straight Connector 107"/>
            <p:cNvSpPr/>
            <p:nvPr/>
          </p:nvSpPr>
          <p:spPr>
            <a:xfrm>
              <a:off x="654461" y="1397475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282" name="Straight Connector 108"/>
            <p:cNvSpPr/>
            <p:nvPr/>
          </p:nvSpPr>
          <p:spPr>
            <a:xfrm>
              <a:off x="654461" y="1214595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283" name="Straight Connector 109"/>
            <p:cNvSpPr/>
            <p:nvPr/>
          </p:nvSpPr>
          <p:spPr>
            <a:xfrm>
              <a:off x="654461" y="1029807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284" name="Straight Connector 110"/>
            <p:cNvSpPr/>
            <p:nvPr/>
          </p:nvSpPr>
          <p:spPr>
            <a:xfrm>
              <a:off x="654461" y="846927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285" name="Straight Connector 111"/>
            <p:cNvSpPr/>
            <p:nvPr/>
          </p:nvSpPr>
          <p:spPr>
            <a:xfrm>
              <a:off x="654461" y="662142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286" name="Straight Connector 112"/>
            <p:cNvSpPr/>
            <p:nvPr/>
          </p:nvSpPr>
          <p:spPr>
            <a:xfrm>
              <a:off x="654461" y="483072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287" name="Straight Connector 113"/>
            <p:cNvSpPr/>
            <p:nvPr/>
          </p:nvSpPr>
          <p:spPr>
            <a:xfrm>
              <a:off x="654461" y="1761330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pic>
          <p:nvPicPr>
            <p:cNvPr id="1288" name="Picture 114" descr="Picture 114"/>
            <p:cNvPicPr>
              <a:picLocks noChangeAspect="1"/>
            </p:cNvPicPr>
            <p:nvPr/>
          </p:nvPicPr>
          <p:blipFill>
            <a:blip r:embed="rId3">
              <a:extLst/>
            </a:blip>
            <a:stretch>
              <a:fillRect/>
            </a:stretch>
          </p:blipFill>
          <p:spPr>
            <a:xfrm>
              <a:off x="119621" y="292572"/>
              <a:ext cx="624847" cy="184404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289" name="TextBox 115"/>
            <p:cNvSpPr txBox="1"/>
            <p:nvPr/>
          </p:nvSpPr>
          <p:spPr>
            <a:xfrm>
              <a:off x="736459" y="2019215"/>
              <a:ext cx="326697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MIN</a:t>
              </a:r>
            </a:p>
          </p:txBody>
        </p:sp>
        <p:sp>
          <p:nvSpPr>
            <p:cNvPr id="1290" name="TextBox 116"/>
            <p:cNvSpPr txBox="1"/>
            <p:nvPr/>
          </p:nvSpPr>
          <p:spPr>
            <a:xfrm>
              <a:off x="880184" y="356154"/>
              <a:ext cx="363718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-65</a:t>
              </a:r>
            </a:p>
          </p:txBody>
        </p:sp>
        <p:sp>
          <p:nvSpPr>
            <p:cNvPr id="1291" name="TextBox 117"/>
            <p:cNvSpPr txBox="1"/>
            <p:nvPr/>
          </p:nvSpPr>
          <p:spPr>
            <a:xfrm>
              <a:off x="880184" y="540935"/>
              <a:ext cx="363718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-80</a:t>
              </a:r>
            </a:p>
          </p:txBody>
        </p:sp>
        <p:sp>
          <p:nvSpPr>
            <p:cNvPr id="1292" name="TextBox 118"/>
            <p:cNvSpPr txBox="1"/>
            <p:nvPr/>
          </p:nvSpPr>
          <p:spPr>
            <a:xfrm>
              <a:off x="880184" y="723818"/>
              <a:ext cx="363718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-95</a:t>
              </a:r>
            </a:p>
          </p:txBody>
        </p:sp>
        <p:sp>
          <p:nvSpPr>
            <p:cNvPr id="1293" name="TextBox 119"/>
            <p:cNvSpPr txBox="1"/>
            <p:nvPr/>
          </p:nvSpPr>
          <p:spPr>
            <a:xfrm>
              <a:off x="880184" y="908602"/>
              <a:ext cx="428086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-105</a:t>
              </a:r>
            </a:p>
          </p:txBody>
        </p:sp>
        <p:sp>
          <p:nvSpPr>
            <p:cNvPr id="1294" name="TextBox 120"/>
            <p:cNvSpPr txBox="1"/>
            <p:nvPr/>
          </p:nvSpPr>
          <p:spPr>
            <a:xfrm>
              <a:off x="880185" y="1089579"/>
              <a:ext cx="428086" cy="2285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-110</a:t>
              </a:r>
            </a:p>
          </p:txBody>
        </p:sp>
        <p:sp>
          <p:nvSpPr>
            <p:cNvPr id="1295" name="TextBox 121"/>
            <p:cNvSpPr txBox="1"/>
            <p:nvPr/>
          </p:nvSpPr>
          <p:spPr>
            <a:xfrm>
              <a:off x="880185" y="1274363"/>
              <a:ext cx="428086" cy="2285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-113</a:t>
              </a:r>
            </a:p>
          </p:txBody>
        </p:sp>
        <p:sp>
          <p:nvSpPr>
            <p:cNvPr id="1296" name="TextBox 122"/>
            <p:cNvSpPr txBox="1"/>
            <p:nvPr/>
          </p:nvSpPr>
          <p:spPr>
            <a:xfrm>
              <a:off x="878782" y="1453437"/>
              <a:ext cx="428086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-116</a:t>
              </a:r>
            </a:p>
          </p:txBody>
        </p:sp>
        <p:sp>
          <p:nvSpPr>
            <p:cNvPr id="1297" name="TextBox 123"/>
            <p:cNvSpPr txBox="1"/>
            <p:nvPr/>
          </p:nvSpPr>
          <p:spPr>
            <a:xfrm>
              <a:off x="878782" y="1638221"/>
              <a:ext cx="428086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-118</a:t>
              </a:r>
            </a:p>
          </p:txBody>
        </p:sp>
        <p:sp>
          <p:nvSpPr>
            <p:cNvPr id="1298" name="TextBox 124"/>
            <p:cNvSpPr txBox="1"/>
            <p:nvPr/>
          </p:nvSpPr>
          <p:spPr>
            <a:xfrm>
              <a:off x="878782" y="1817295"/>
              <a:ext cx="428086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-121</a:t>
              </a:r>
            </a:p>
          </p:txBody>
        </p:sp>
        <p:sp>
          <p:nvSpPr>
            <p:cNvPr id="1299" name="TextBox 125"/>
            <p:cNvSpPr txBox="1"/>
            <p:nvPr/>
          </p:nvSpPr>
          <p:spPr>
            <a:xfrm>
              <a:off x="736459" y="169461"/>
              <a:ext cx="352122" cy="2285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MAX</a:t>
              </a:r>
            </a:p>
          </p:txBody>
        </p:sp>
        <p:sp>
          <p:nvSpPr>
            <p:cNvPr id="1300" name="TextBox 126"/>
            <p:cNvSpPr txBox="1"/>
            <p:nvPr/>
          </p:nvSpPr>
          <p:spPr>
            <a:xfrm>
              <a:off x="-1" y="-2"/>
              <a:ext cx="1237910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algn="ctr">
                <a:defRPr b="1" sz="1000" u="sng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5GNR SS-RSRP (dBm)</a:t>
              </a:r>
            </a:p>
          </p:txBody>
        </p:sp>
      </p:grpSp>
      <p:sp>
        <p:nvSpPr>
          <p:cNvPr id="1302" name="Rectangle 127"/>
          <p:cNvSpPr txBox="1"/>
          <p:nvPr/>
        </p:nvSpPr>
        <p:spPr>
          <a:xfrm>
            <a:off x="12352687" y="1531651"/>
            <a:ext cx="535696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LEGEND</a:t>
            </a:r>
          </a:p>
        </p:txBody>
      </p:sp>
      <p:sp>
        <p:nvSpPr>
          <p:cNvPr id="1303" name="Rectangle 41"/>
          <p:cNvSpPr txBox="1"/>
          <p:nvPr/>
        </p:nvSpPr>
        <p:spPr>
          <a:xfrm>
            <a:off x="3250495" y="10088032"/>
            <a:ext cx="2932902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3500MHz</a:t>
            </a:r>
          </a:p>
        </p:txBody>
      </p:sp>
      <p:sp>
        <p:nvSpPr>
          <p:cNvPr id="1304" name="DRAWN:  &lt;D&gt;"/>
          <p:cNvSpPr txBox="1"/>
          <p:nvPr/>
        </p:nvSpPr>
        <p:spPr>
          <a:xfrm>
            <a:off x="12299064" y="9274488"/>
            <a:ext cx="596721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</a:defRPr>
            </a:pPr>
            <a:r>
              <a:t>DRAWN:  </a:t>
            </a:r>
            <a:r>
              <a:rPr>
                <a:solidFill>
                  <a:srgbClr val="000000"/>
                </a:solidFill>
              </a:rPr>
              <a:t>&lt;D&gt;</a:t>
            </a:r>
          </a:p>
        </p:txBody>
      </p:sp>
      <p:sp>
        <p:nvSpPr>
          <p:cNvPr id="1305" name="CHECKED: &lt;C&gt;"/>
          <p:cNvSpPr txBox="1"/>
          <p:nvPr/>
        </p:nvSpPr>
        <p:spPr>
          <a:xfrm>
            <a:off x="13101567" y="9281572"/>
            <a:ext cx="663098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CHECKED: </a:t>
            </a:r>
            <a:r>
              <a:rPr>
                <a:solidFill>
                  <a:srgbClr val="000000"/>
                </a:solidFill>
              </a:rPr>
              <a:t>&lt;C&gt;</a:t>
            </a:r>
          </a:p>
        </p:txBody>
      </p:sp>
      <p:sp>
        <p:nvSpPr>
          <p:cNvPr id="1306" name="APPROVED: &lt;A&gt;"/>
          <p:cNvSpPr txBox="1"/>
          <p:nvPr/>
        </p:nvSpPr>
        <p:spPr>
          <a:xfrm>
            <a:off x="14081688" y="9282393"/>
            <a:ext cx="709756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APPROVED: </a:t>
            </a:r>
            <a:r>
              <a:rPr>
                <a:solidFill>
                  <a:srgbClr val="000000"/>
                </a:solidFill>
              </a:rPr>
              <a:t>&lt;A&gt;</a:t>
            </a:r>
          </a:p>
        </p:txBody>
      </p:sp>
      <p:sp>
        <p:nvSpPr>
          <p:cNvPr id="1307" name="&lt;P01&gt;"/>
          <p:cNvSpPr txBox="1"/>
          <p:nvPr/>
        </p:nvSpPr>
        <p:spPr>
          <a:xfrm>
            <a:off x="12598435" y="9717430"/>
            <a:ext cx="328719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&lt;P01&gt;</a:t>
            </a:r>
          </a:p>
        </p:txBody>
      </p:sp>
      <p:sp>
        <p:nvSpPr>
          <p:cNvPr id="1308" name="&lt;P02&gt;"/>
          <p:cNvSpPr txBox="1"/>
          <p:nvPr/>
        </p:nvSpPr>
        <p:spPr>
          <a:xfrm>
            <a:off x="12597425" y="9857189"/>
            <a:ext cx="328718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&lt;P02&gt;</a:t>
            </a:r>
          </a:p>
        </p:txBody>
      </p:sp>
      <p:sp>
        <p:nvSpPr>
          <p:cNvPr id="1309" name="&lt;NUM&gt;"/>
          <p:cNvSpPr txBox="1"/>
          <p:nvPr/>
        </p:nvSpPr>
        <p:spPr>
          <a:xfrm>
            <a:off x="14298897" y="9141614"/>
            <a:ext cx="366670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600"/>
            </a:lvl1pPr>
          </a:lstStyle>
          <a:p>
            <a:pPr/>
            <a:r>
              <a:t>&lt;NUM&gt;</a:t>
            </a:r>
          </a:p>
        </p:txBody>
      </p:sp>
      <p:sp>
        <p:nvSpPr>
          <p:cNvPr id="1310" name="&lt;&lt;logo&gt;&gt;"/>
          <p:cNvSpPr txBox="1"/>
          <p:nvPr/>
        </p:nvSpPr>
        <p:spPr>
          <a:xfrm>
            <a:off x="13422174" y="875552"/>
            <a:ext cx="1054157" cy="3401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0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&lt;&lt;logo&gt;&gt;</a:t>
            </a:r>
          </a:p>
        </p:txBody>
      </p:sp>
      <p:sp>
        <p:nvSpPr>
          <p:cNvPr id="13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NR3500_SS-SNI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8" name="TextBox 66"/>
          <p:cNvSpPr txBox="1"/>
          <p:nvPr/>
        </p:nvSpPr>
        <p:spPr>
          <a:xfrm>
            <a:off x="13525788" y="9201184"/>
            <a:ext cx="130066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SHEET:</a:t>
            </a:r>
          </a:p>
        </p:txBody>
      </p:sp>
      <p:sp>
        <p:nvSpPr>
          <p:cNvPr id="1319" name="Freeform 10"/>
          <p:cNvSpPr/>
          <p:nvPr/>
        </p:nvSpPr>
        <p:spPr>
          <a:xfrm flipH="1">
            <a:off x="12234861" y="209548"/>
            <a:ext cx="1" cy="10224004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20" name="Freeform 11"/>
          <p:cNvSpPr/>
          <p:nvPr/>
        </p:nvSpPr>
        <p:spPr>
          <a:xfrm>
            <a:off x="12230100" y="702182"/>
            <a:ext cx="2646003" cy="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21" name="TextBox 15"/>
          <p:cNvSpPr txBox="1"/>
          <p:nvPr/>
        </p:nvSpPr>
        <p:spPr>
          <a:xfrm>
            <a:off x="12339755" y="6726997"/>
            <a:ext cx="2522705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400">
                <a:solidFill>
                  <a:srgbClr val="A6A6A6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RF PREDICTIONS</a:t>
            </a:r>
          </a:p>
        </p:txBody>
      </p:sp>
      <p:sp>
        <p:nvSpPr>
          <p:cNvPr id="1322" name="TextBox 17"/>
          <p:cNvSpPr txBox="1"/>
          <p:nvPr/>
        </p:nvSpPr>
        <p:spPr>
          <a:xfrm>
            <a:off x="12253914" y="7872499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STATION</a:t>
            </a:r>
          </a:p>
        </p:txBody>
      </p:sp>
      <p:sp>
        <p:nvSpPr>
          <p:cNvPr id="1323" name="Freeform 45"/>
          <p:cNvSpPr/>
          <p:nvPr/>
        </p:nvSpPr>
        <p:spPr>
          <a:xfrm>
            <a:off x="12230100" y="8848334"/>
            <a:ext cx="2646003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24" name="Freeform 67"/>
          <p:cNvSpPr/>
          <p:nvPr/>
        </p:nvSpPr>
        <p:spPr>
          <a:xfrm>
            <a:off x="13545545" y="6970361"/>
            <a:ext cx="3" cy="890405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25" name="TextBox 75"/>
          <p:cNvSpPr txBox="1"/>
          <p:nvPr/>
        </p:nvSpPr>
        <p:spPr>
          <a:xfrm>
            <a:off x="12234160" y="9470638"/>
            <a:ext cx="259229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DRAWING HISTORY</a:t>
            </a:r>
          </a:p>
        </p:txBody>
      </p:sp>
      <p:sp>
        <p:nvSpPr>
          <p:cNvPr id="1326" name="Freeform 76"/>
          <p:cNvSpPr/>
          <p:nvPr/>
        </p:nvSpPr>
        <p:spPr>
          <a:xfrm>
            <a:off x="12233492" y="9612058"/>
            <a:ext cx="2636007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27" name="TextBox 77"/>
          <p:cNvSpPr txBox="1"/>
          <p:nvPr/>
        </p:nvSpPr>
        <p:spPr>
          <a:xfrm>
            <a:off x="12507654" y="9632305"/>
            <a:ext cx="51028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DATE</a:t>
            </a:r>
          </a:p>
        </p:txBody>
      </p:sp>
      <p:sp>
        <p:nvSpPr>
          <p:cNvPr id="1328" name="Freeform 79"/>
          <p:cNvSpPr/>
          <p:nvPr/>
        </p:nvSpPr>
        <p:spPr>
          <a:xfrm>
            <a:off x="12513692" y="9612117"/>
            <a:ext cx="4" cy="821437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29" name="TextBox 80"/>
          <p:cNvSpPr txBox="1"/>
          <p:nvPr/>
        </p:nvSpPr>
        <p:spPr>
          <a:xfrm>
            <a:off x="12233491" y="9634148"/>
            <a:ext cx="26032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ISSUE</a:t>
            </a:r>
          </a:p>
        </p:txBody>
      </p:sp>
      <p:sp>
        <p:nvSpPr>
          <p:cNvPr id="1330" name="Freeform 82"/>
          <p:cNvSpPr/>
          <p:nvPr/>
        </p:nvSpPr>
        <p:spPr>
          <a:xfrm>
            <a:off x="12236067" y="9736835"/>
            <a:ext cx="2636007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31" name="Freeform 83"/>
          <p:cNvSpPr/>
          <p:nvPr/>
        </p:nvSpPr>
        <p:spPr>
          <a:xfrm>
            <a:off x="13052420" y="9614212"/>
            <a:ext cx="4" cy="824700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32" name="TextBox 84"/>
          <p:cNvSpPr txBox="1"/>
          <p:nvPr/>
        </p:nvSpPr>
        <p:spPr>
          <a:xfrm>
            <a:off x="13058443" y="9631360"/>
            <a:ext cx="178161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DESCRIPTION</a:t>
            </a:r>
          </a:p>
        </p:txBody>
      </p:sp>
      <p:sp>
        <p:nvSpPr>
          <p:cNvPr id="1333" name="Freeform 86"/>
          <p:cNvSpPr/>
          <p:nvPr/>
        </p:nvSpPr>
        <p:spPr>
          <a:xfrm>
            <a:off x="12237973" y="9877804"/>
            <a:ext cx="2636008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34" name="Freeform 87"/>
          <p:cNvSpPr/>
          <p:nvPr/>
        </p:nvSpPr>
        <p:spPr>
          <a:xfrm>
            <a:off x="12236067" y="9878180"/>
            <a:ext cx="2636007" cy="3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35" name="Freeform 88"/>
          <p:cNvSpPr/>
          <p:nvPr/>
        </p:nvSpPr>
        <p:spPr>
          <a:xfrm>
            <a:off x="12237973" y="10019151"/>
            <a:ext cx="2636008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36" name="Freeform 90"/>
          <p:cNvSpPr/>
          <p:nvPr/>
        </p:nvSpPr>
        <p:spPr>
          <a:xfrm>
            <a:off x="12237973" y="10159355"/>
            <a:ext cx="2636008" cy="5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37" name="Straight Connector 2"/>
          <p:cNvSpPr/>
          <p:nvPr/>
        </p:nvSpPr>
        <p:spPr>
          <a:xfrm>
            <a:off x="12237973" y="6966880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38" name="Straight Connector 71"/>
          <p:cNvSpPr/>
          <p:nvPr/>
        </p:nvSpPr>
        <p:spPr>
          <a:xfrm>
            <a:off x="12237973" y="6678848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39" name="Freeform 90"/>
          <p:cNvSpPr/>
          <p:nvPr/>
        </p:nvSpPr>
        <p:spPr>
          <a:xfrm>
            <a:off x="12237973" y="10298666"/>
            <a:ext cx="2636008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40" name="TextBox 98"/>
          <p:cNvSpPr txBox="1"/>
          <p:nvPr/>
        </p:nvSpPr>
        <p:spPr>
          <a:xfrm>
            <a:off x="13070458" y="9889172"/>
            <a:ext cx="176304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 </a:t>
            </a:r>
          </a:p>
        </p:txBody>
      </p:sp>
      <p:sp>
        <p:nvSpPr>
          <p:cNvPr id="1341" name="TextBox 74"/>
          <p:cNvSpPr txBox="1"/>
          <p:nvPr/>
        </p:nvSpPr>
        <p:spPr>
          <a:xfrm>
            <a:off x="12243182" y="9193193"/>
            <a:ext cx="126636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SCALE: </a:t>
            </a:r>
            <a:r>
              <a:rPr>
                <a:solidFill>
                  <a:srgbClr val="000000"/>
                </a:solidFill>
              </a:rPr>
              <a:t>NOT TO SCALE</a:t>
            </a:r>
          </a:p>
        </p:txBody>
      </p:sp>
      <p:sp>
        <p:nvSpPr>
          <p:cNvPr id="1342" name="Freeform 47"/>
          <p:cNvSpPr/>
          <p:nvPr/>
        </p:nvSpPr>
        <p:spPr>
          <a:xfrm>
            <a:off x="12226542" y="9184596"/>
            <a:ext cx="2646004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43" name="TextBox 109"/>
          <p:cNvSpPr txBox="1"/>
          <p:nvPr/>
        </p:nvSpPr>
        <p:spPr>
          <a:xfrm>
            <a:off x="12253914" y="8867116"/>
            <a:ext cx="95997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DOCUMENT REFERENCE</a:t>
            </a:r>
          </a:p>
        </p:txBody>
      </p:sp>
      <p:sp>
        <p:nvSpPr>
          <p:cNvPr id="1344" name="TextBox 110"/>
          <p:cNvSpPr txBox="1"/>
          <p:nvPr/>
        </p:nvSpPr>
        <p:spPr>
          <a:xfrm>
            <a:off x="12223991" y="8967075"/>
            <a:ext cx="259089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APPENDIX B – RF PREDICTIONS </a:t>
            </a:r>
          </a:p>
        </p:txBody>
      </p:sp>
      <p:sp>
        <p:nvSpPr>
          <p:cNvPr id="1345" name="Straight Connector 115"/>
          <p:cNvSpPr/>
          <p:nvPr/>
        </p:nvSpPr>
        <p:spPr>
          <a:xfrm>
            <a:off x="12237973" y="7857455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46" name="Rectangle 118"/>
          <p:cNvSpPr txBox="1"/>
          <p:nvPr/>
        </p:nvSpPr>
        <p:spPr>
          <a:xfrm>
            <a:off x="12292583" y="374373"/>
            <a:ext cx="2524151" cy="243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0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COMMERCIAL MOBILE SERVICES</a:t>
            </a:r>
          </a:p>
        </p:txBody>
      </p:sp>
      <p:sp>
        <p:nvSpPr>
          <p:cNvPr id="1347" name="Rectangle 3"/>
          <p:cNvSpPr/>
          <p:nvPr/>
        </p:nvSpPr>
        <p:spPr>
          <a:xfrm>
            <a:off x="0" y="1"/>
            <a:ext cx="15122525" cy="236989"/>
          </a:xfrm>
          <a:prstGeom prst="rect">
            <a:avLst/>
          </a:prstGeom>
          <a:solidFill>
            <a:srgbClr val="D91D49"/>
          </a:solidFill>
          <a:ln w="25400">
            <a:solidFill>
              <a:srgbClr val="D91D49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348" name="Freeform 47"/>
          <p:cNvSpPr/>
          <p:nvPr/>
        </p:nvSpPr>
        <p:spPr>
          <a:xfrm flipV="1">
            <a:off x="13531176" y="9183037"/>
            <a:ext cx="4" cy="124739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49" name="Rectangle 5"/>
          <p:cNvSpPr/>
          <p:nvPr/>
        </p:nvSpPr>
        <p:spPr>
          <a:xfrm>
            <a:off x="223628" y="261258"/>
            <a:ext cx="14646449" cy="10175448"/>
          </a:xfrm>
          <a:prstGeom prst="rect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350" name="TextBox 49"/>
          <p:cNvSpPr txBox="1"/>
          <p:nvPr/>
        </p:nvSpPr>
        <p:spPr>
          <a:xfrm>
            <a:off x="12253914" y="8285091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ADDRESS</a:t>
            </a:r>
          </a:p>
        </p:txBody>
      </p:sp>
      <p:sp>
        <p:nvSpPr>
          <p:cNvPr id="1351" name="Freeform 45"/>
          <p:cNvSpPr/>
          <p:nvPr/>
        </p:nvSpPr>
        <p:spPr>
          <a:xfrm>
            <a:off x="12230100" y="8849604"/>
            <a:ext cx="2646003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52" name="Straight Connector 52"/>
          <p:cNvSpPr/>
          <p:nvPr/>
        </p:nvSpPr>
        <p:spPr>
          <a:xfrm>
            <a:off x="12237973" y="8270047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53" name="Freeform 47"/>
          <p:cNvSpPr/>
          <p:nvPr/>
        </p:nvSpPr>
        <p:spPr>
          <a:xfrm>
            <a:off x="12236067" y="9317742"/>
            <a:ext cx="2631525" cy="5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54" name="Freeform 48"/>
          <p:cNvSpPr/>
          <p:nvPr/>
        </p:nvSpPr>
        <p:spPr>
          <a:xfrm>
            <a:off x="12227249" y="9427722"/>
            <a:ext cx="2646003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55" name="Freeform 21"/>
          <p:cNvSpPr/>
          <p:nvPr/>
        </p:nvSpPr>
        <p:spPr>
          <a:xfrm>
            <a:off x="12959990" y="9317742"/>
            <a:ext cx="4" cy="10800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56" name="Freeform 67"/>
          <p:cNvSpPr/>
          <p:nvPr/>
        </p:nvSpPr>
        <p:spPr>
          <a:xfrm>
            <a:off x="13975212" y="9321118"/>
            <a:ext cx="4" cy="10813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57" name="TextBox 1"/>
          <p:cNvSpPr txBox="1"/>
          <p:nvPr/>
        </p:nvSpPr>
        <p:spPr>
          <a:xfrm>
            <a:off x="63497" y="10507980"/>
            <a:ext cx="77312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000000">
                    <a:alpha val="50000"/>
                  </a:srgbClr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[SEC=PROTECTED]</a:t>
            </a:r>
          </a:p>
        </p:txBody>
      </p:sp>
      <p:sp>
        <p:nvSpPr>
          <p:cNvPr id="1358" name="Picture Placeholder 2"/>
          <p:cNvSpPr/>
          <p:nvPr/>
        </p:nvSpPr>
        <p:spPr>
          <a:xfrm>
            <a:off x="599800" y="508423"/>
            <a:ext cx="11233730" cy="936439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 defTabSz="1407968">
              <a:spcBef>
                <a:spcPts val="1200"/>
              </a:spcBef>
              <a:defRPr sz="5000"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359" name="TextBox 6"/>
          <p:cNvSpPr txBox="1"/>
          <p:nvPr/>
        </p:nvSpPr>
        <p:spPr>
          <a:xfrm>
            <a:off x="13549306" y="7032755"/>
            <a:ext cx="1284189" cy="63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BOLDYN NETWORKS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</a:t>
            </a:r>
            <a:r>
              <a:rPr baseline="30000"/>
              <a:t>nd</a:t>
            </a:r>
            <a:r>
              <a:t> FLOOR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 KINGDOM STREET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LONDON 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W2 6BD</a:t>
            </a:r>
          </a:p>
        </p:txBody>
      </p:sp>
      <p:sp>
        <p:nvSpPr>
          <p:cNvPr id="1360" name="Freeform: Shape 7"/>
          <p:cNvSpPr/>
          <p:nvPr/>
        </p:nvSpPr>
        <p:spPr>
          <a:xfrm>
            <a:off x="12537433" y="7031193"/>
            <a:ext cx="705489" cy="6648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0873"/>
                </a:moveTo>
                <a:lnTo>
                  <a:pt x="21231" y="9061"/>
                </a:lnTo>
                <a:lnTo>
                  <a:pt x="20308" y="7567"/>
                </a:lnTo>
                <a:lnTo>
                  <a:pt x="18900" y="6563"/>
                </a:lnTo>
                <a:lnTo>
                  <a:pt x="17192" y="6196"/>
                </a:lnTo>
                <a:lnTo>
                  <a:pt x="6808" y="6196"/>
                </a:lnTo>
                <a:lnTo>
                  <a:pt x="6808" y="0"/>
                </a:lnTo>
                <a:lnTo>
                  <a:pt x="4131" y="0"/>
                </a:lnTo>
                <a:lnTo>
                  <a:pt x="4131" y="6196"/>
                </a:lnTo>
                <a:lnTo>
                  <a:pt x="0" y="6196"/>
                </a:lnTo>
                <a:lnTo>
                  <a:pt x="0" y="9037"/>
                </a:lnTo>
                <a:lnTo>
                  <a:pt x="4131" y="9037"/>
                </a:lnTo>
                <a:lnTo>
                  <a:pt x="4131" y="6196"/>
                </a:lnTo>
                <a:lnTo>
                  <a:pt x="6808" y="6196"/>
                </a:lnTo>
                <a:lnTo>
                  <a:pt x="6808" y="9037"/>
                </a:lnTo>
                <a:lnTo>
                  <a:pt x="18923" y="9037"/>
                </a:lnTo>
                <a:lnTo>
                  <a:pt x="18923" y="18759"/>
                </a:lnTo>
                <a:lnTo>
                  <a:pt x="6808" y="18759"/>
                </a:lnTo>
                <a:lnTo>
                  <a:pt x="6808" y="9037"/>
                </a:lnTo>
                <a:lnTo>
                  <a:pt x="4131" y="9037"/>
                </a:lnTo>
                <a:lnTo>
                  <a:pt x="4131" y="16922"/>
                </a:lnTo>
                <a:lnTo>
                  <a:pt x="4477" y="18735"/>
                </a:lnTo>
                <a:lnTo>
                  <a:pt x="5423" y="20229"/>
                </a:lnTo>
                <a:lnTo>
                  <a:pt x="6831" y="21233"/>
                </a:lnTo>
                <a:lnTo>
                  <a:pt x="8538" y="21600"/>
                </a:lnTo>
                <a:lnTo>
                  <a:pt x="17192" y="21600"/>
                </a:lnTo>
                <a:lnTo>
                  <a:pt x="18900" y="21233"/>
                </a:lnTo>
                <a:lnTo>
                  <a:pt x="20308" y="20229"/>
                </a:lnTo>
                <a:lnTo>
                  <a:pt x="21231" y="18759"/>
                </a:lnTo>
                <a:lnTo>
                  <a:pt x="21600" y="16922"/>
                </a:lnTo>
                <a:lnTo>
                  <a:pt x="21600" y="10873"/>
                </a:lnTo>
                <a:close/>
              </a:path>
            </a:pathLst>
          </a:custGeom>
          <a:solidFill>
            <a:srgbClr val="F5054F">
              <a:alpha val="29802"/>
            </a:srgb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361" name="TextBox 27"/>
          <p:cNvSpPr txBox="1"/>
          <p:nvPr/>
        </p:nvSpPr>
        <p:spPr>
          <a:xfrm>
            <a:off x="13056406" y="9758240"/>
            <a:ext cx="177709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Original Submission</a:t>
            </a:r>
          </a:p>
        </p:txBody>
      </p:sp>
      <p:sp>
        <p:nvSpPr>
          <p:cNvPr id="1362" name="TextBox 28"/>
          <p:cNvSpPr txBox="1"/>
          <p:nvPr/>
        </p:nvSpPr>
        <p:spPr>
          <a:xfrm>
            <a:off x="12247271" y="9758240"/>
            <a:ext cx="22438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P01</a:t>
            </a:r>
          </a:p>
        </p:txBody>
      </p:sp>
      <p:sp>
        <p:nvSpPr>
          <p:cNvPr id="1363" name="TextBox 30"/>
          <p:cNvSpPr txBox="1"/>
          <p:nvPr/>
        </p:nvSpPr>
        <p:spPr>
          <a:xfrm>
            <a:off x="12233457" y="8514819"/>
            <a:ext cx="260097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&lt;&lt;ADDRESS&gt;&gt;</a:t>
            </a:r>
          </a:p>
        </p:txBody>
      </p:sp>
      <p:sp>
        <p:nvSpPr>
          <p:cNvPr id="1364" name="TextBox 31"/>
          <p:cNvSpPr txBox="1"/>
          <p:nvPr/>
        </p:nvSpPr>
        <p:spPr>
          <a:xfrm>
            <a:off x="12239090" y="7990071"/>
            <a:ext cx="260097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&lt;&lt;STATION_NAME&gt;&gt;</a:t>
            </a:r>
          </a:p>
        </p:txBody>
      </p:sp>
      <p:sp>
        <p:nvSpPr>
          <p:cNvPr id="1365" name="TextBox 32"/>
          <p:cNvSpPr txBox="1"/>
          <p:nvPr/>
        </p:nvSpPr>
        <p:spPr>
          <a:xfrm>
            <a:off x="13056406" y="9904169"/>
            <a:ext cx="177709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Updated design</a:t>
            </a:r>
          </a:p>
        </p:txBody>
      </p:sp>
      <p:sp>
        <p:nvSpPr>
          <p:cNvPr id="1366" name="TextBox 33"/>
          <p:cNvSpPr txBox="1"/>
          <p:nvPr/>
        </p:nvSpPr>
        <p:spPr>
          <a:xfrm>
            <a:off x="12247271" y="9904169"/>
            <a:ext cx="22438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P02</a:t>
            </a:r>
          </a:p>
        </p:txBody>
      </p:sp>
      <p:pic>
        <p:nvPicPr>
          <p:cNvPr id="1367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2233457" y="722526"/>
            <a:ext cx="2633704" cy="646233"/>
          </a:xfrm>
          <a:prstGeom prst="rect">
            <a:avLst/>
          </a:prstGeom>
          <a:ln w="12700">
            <a:miter lim="400000"/>
          </a:ln>
        </p:spPr>
      </p:pic>
      <p:sp>
        <p:nvSpPr>
          <p:cNvPr id="1368" name="Rectangle 62"/>
          <p:cNvSpPr txBox="1"/>
          <p:nvPr/>
        </p:nvSpPr>
        <p:spPr>
          <a:xfrm>
            <a:off x="1031881" y="10077207"/>
            <a:ext cx="1398603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5GNR</a:t>
            </a:r>
          </a:p>
        </p:txBody>
      </p:sp>
      <p:grpSp>
        <p:nvGrpSpPr>
          <p:cNvPr id="1371" name="Rectangle 77"/>
          <p:cNvGrpSpPr/>
          <p:nvPr/>
        </p:nvGrpSpPr>
        <p:grpSpPr>
          <a:xfrm>
            <a:off x="12242777" y="6320589"/>
            <a:ext cx="2627302" cy="392467"/>
            <a:chOff x="-1" y="0"/>
            <a:chExt cx="2627301" cy="392465"/>
          </a:xfrm>
        </p:grpSpPr>
        <p:sp>
          <p:nvSpPr>
            <p:cNvPr id="1369" name="Rectangle"/>
            <p:cNvSpPr/>
            <p:nvPr/>
          </p:nvSpPr>
          <p:spPr>
            <a:xfrm>
              <a:off x="-2" y="34217"/>
              <a:ext cx="2627302" cy="324043"/>
            </a:xfrm>
            <a:prstGeom prst="rect">
              <a:avLst/>
            </a:prstGeom>
            <a:solidFill>
              <a:srgbClr val="D91D49"/>
            </a:solidFill>
            <a:ln w="19050" cap="rnd">
              <a:solidFill>
                <a:srgbClr val="D91D49"/>
              </a:solidFill>
              <a:prstDash val="solid"/>
              <a:bevel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370" name="NR 3500MHz"/>
            <p:cNvSpPr txBox="1"/>
            <p:nvPr/>
          </p:nvSpPr>
          <p:spPr>
            <a:xfrm>
              <a:off x="55243" y="-1"/>
              <a:ext cx="2516811" cy="39246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b="1" sz="24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NR 3500MHz</a:t>
              </a:r>
            </a:p>
          </p:txBody>
        </p:sp>
      </p:grpSp>
      <p:sp>
        <p:nvSpPr>
          <p:cNvPr id="1372" name="Freeform 55"/>
          <p:cNvSpPr/>
          <p:nvPr/>
        </p:nvSpPr>
        <p:spPr>
          <a:xfrm>
            <a:off x="9227818" y="10104121"/>
            <a:ext cx="3" cy="335284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73" name="Freeform 56"/>
          <p:cNvSpPr/>
          <p:nvPr/>
        </p:nvSpPr>
        <p:spPr>
          <a:xfrm>
            <a:off x="6228517" y="10104121"/>
            <a:ext cx="4" cy="335284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74" name="Freeform 57"/>
          <p:cNvSpPr/>
          <p:nvPr/>
        </p:nvSpPr>
        <p:spPr>
          <a:xfrm>
            <a:off x="3204778" y="10104121"/>
            <a:ext cx="4" cy="335284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75" name="Rectangle 4"/>
          <p:cNvSpPr txBox="1"/>
          <p:nvPr/>
        </p:nvSpPr>
        <p:spPr>
          <a:xfrm>
            <a:off x="271007" y="10249420"/>
            <a:ext cx="2888053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Technology </a:t>
            </a:r>
          </a:p>
        </p:txBody>
      </p:sp>
      <p:sp>
        <p:nvSpPr>
          <p:cNvPr id="1376" name="Rectangle 5"/>
          <p:cNvSpPr txBox="1"/>
          <p:nvPr/>
        </p:nvSpPr>
        <p:spPr>
          <a:xfrm>
            <a:off x="3250501" y="10249612"/>
            <a:ext cx="2924494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Frequency Band</a:t>
            </a:r>
          </a:p>
        </p:txBody>
      </p:sp>
      <p:sp>
        <p:nvSpPr>
          <p:cNvPr id="1377" name="Rectangle 6"/>
          <p:cNvSpPr txBox="1"/>
          <p:nvPr/>
        </p:nvSpPr>
        <p:spPr>
          <a:xfrm>
            <a:off x="6272324" y="10254543"/>
            <a:ext cx="2901971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Plot</a:t>
            </a:r>
          </a:p>
        </p:txBody>
      </p:sp>
      <p:sp>
        <p:nvSpPr>
          <p:cNvPr id="1378" name="Rectangle 7"/>
          <p:cNvSpPr txBox="1"/>
          <p:nvPr/>
        </p:nvSpPr>
        <p:spPr>
          <a:xfrm>
            <a:off x="9273537" y="10246400"/>
            <a:ext cx="2912501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Floor Level</a:t>
            </a:r>
          </a:p>
        </p:txBody>
      </p:sp>
      <p:sp>
        <p:nvSpPr>
          <p:cNvPr id="1379" name="Rectangle 8"/>
          <p:cNvSpPr/>
          <p:nvPr/>
        </p:nvSpPr>
        <p:spPr>
          <a:xfrm>
            <a:off x="225282" y="10279246"/>
            <a:ext cx="12004820" cy="157181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380" name="Rectangle 9"/>
          <p:cNvSpPr/>
          <p:nvPr/>
        </p:nvSpPr>
        <p:spPr>
          <a:xfrm>
            <a:off x="225282" y="10103973"/>
            <a:ext cx="12004820" cy="174458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381" name="Rectangle 58"/>
          <p:cNvSpPr txBox="1"/>
          <p:nvPr/>
        </p:nvSpPr>
        <p:spPr>
          <a:xfrm>
            <a:off x="6266434" y="10086647"/>
            <a:ext cx="2901971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SS-SNIR (dB)</a:t>
            </a:r>
          </a:p>
        </p:txBody>
      </p:sp>
      <p:sp>
        <p:nvSpPr>
          <p:cNvPr id="1382" name="Rectangle 127"/>
          <p:cNvSpPr txBox="1"/>
          <p:nvPr/>
        </p:nvSpPr>
        <p:spPr>
          <a:xfrm>
            <a:off x="12352687" y="1531651"/>
            <a:ext cx="535696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LEGEND</a:t>
            </a:r>
          </a:p>
        </p:txBody>
      </p:sp>
      <p:sp>
        <p:nvSpPr>
          <p:cNvPr id="1383" name="Rectangle 41"/>
          <p:cNvSpPr txBox="1"/>
          <p:nvPr/>
        </p:nvSpPr>
        <p:spPr>
          <a:xfrm>
            <a:off x="3250495" y="10088032"/>
            <a:ext cx="2932902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3500MHz</a:t>
            </a:r>
          </a:p>
        </p:txBody>
      </p:sp>
      <p:sp>
        <p:nvSpPr>
          <p:cNvPr id="1384" name="Rectangle 43"/>
          <p:cNvSpPr txBox="1"/>
          <p:nvPr/>
        </p:nvSpPr>
        <p:spPr>
          <a:xfrm>
            <a:off x="12352687" y="1531651"/>
            <a:ext cx="535696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LEGEND</a:t>
            </a:r>
          </a:p>
        </p:txBody>
      </p:sp>
      <p:grpSp>
        <p:nvGrpSpPr>
          <p:cNvPr id="1401" name="Group 44"/>
          <p:cNvGrpSpPr/>
          <p:nvPr/>
        </p:nvGrpSpPr>
        <p:grpSpPr>
          <a:xfrm>
            <a:off x="12288498" y="1694982"/>
            <a:ext cx="1214296" cy="1164657"/>
            <a:chOff x="0" y="0"/>
            <a:chExt cx="1214295" cy="1164656"/>
          </a:xfrm>
        </p:grpSpPr>
        <p:grpSp>
          <p:nvGrpSpPr>
            <p:cNvPr id="1390" name="Group 45"/>
            <p:cNvGrpSpPr/>
            <p:nvPr/>
          </p:nvGrpSpPr>
          <p:grpSpPr>
            <a:xfrm>
              <a:off x="111420" y="284775"/>
              <a:ext cx="619351" cy="879882"/>
              <a:chOff x="0" y="-1"/>
              <a:chExt cx="619350" cy="879881"/>
            </a:xfrm>
          </p:grpSpPr>
          <p:sp>
            <p:nvSpPr>
              <p:cNvPr id="1385" name="Rectangle 56"/>
              <p:cNvSpPr/>
              <p:nvPr/>
            </p:nvSpPr>
            <p:spPr>
              <a:xfrm>
                <a:off x="-1" y="-2"/>
                <a:ext cx="619003" cy="177171"/>
              </a:xfrm>
              <a:prstGeom prst="rect">
                <a:avLst/>
              </a:prstGeom>
              <a:solidFill>
                <a:srgbClr val="28E3FC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1386" name="Rectangle 57"/>
              <p:cNvSpPr/>
              <p:nvPr/>
            </p:nvSpPr>
            <p:spPr>
              <a:xfrm>
                <a:off x="0" y="177166"/>
                <a:ext cx="619003" cy="177169"/>
              </a:xfrm>
              <a:prstGeom prst="rect">
                <a:avLst/>
              </a:prstGeom>
              <a:solidFill>
                <a:srgbClr val="00FF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1387" name="Rectangle 61"/>
              <p:cNvSpPr/>
              <p:nvPr/>
            </p:nvSpPr>
            <p:spPr>
              <a:xfrm>
                <a:off x="348" y="354333"/>
                <a:ext cx="619003" cy="177169"/>
              </a:xfrm>
              <a:prstGeom prst="rect">
                <a:avLst/>
              </a:prstGeom>
              <a:solidFill>
                <a:srgbClr val="FFFF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1388" name="Rectangle 63"/>
              <p:cNvSpPr/>
              <p:nvPr/>
            </p:nvSpPr>
            <p:spPr>
              <a:xfrm>
                <a:off x="348" y="531499"/>
                <a:ext cx="619003" cy="177169"/>
              </a:xfrm>
              <a:prstGeom prst="rect">
                <a:avLst/>
              </a:prstGeom>
              <a:solidFill>
                <a:srgbClr val="FFC0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1389" name="Rectangle 64"/>
              <p:cNvSpPr/>
              <p:nvPr/>
            </p:nvSpPr>
            <p:spPr>
              <a:xfrm>
                <a:off x="348" y="702712"/>
                <a:ext cx="619003" cy="177169"/>
              </a:xfrm>
              <a:prstGeom prst="rect">
                <a:avLst/>
              </a:prstGeom>
              <a:solidFill>
                <a:srgbClr val="FF00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</p:grpSp>
        <p:sp>
          <p:nvSpPr>
            <p:cNvPr id="1391" name="Straight Connector 46"/>
            <p:cNvSpPr/>
            <p:nvPr/>
          </p:nvSpPr>
          <p:spPr>
            <a:xfrm>
              <a:off x="667522" y="817088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392" name="Straight Connector 47"/>
            <p:cNvSpPr/>
            <p:nvPr/>
          </p:nvSpPr>
          <p:spPr>
            <a:xfrm>
              <a:off x="667772" y="639109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393" name="Straight Connector 48"/>
            <p:cNvSpPr/>
            <p:nvPr/>
          </p:nvSpPr>
          <p:spPr>
            <a:xfrm>
              <a:off x="667772" y="461943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394" name="Straight Connector 49"/>
            <p:cNvSpPr/>
            <p:nvPr/>
          </p:nvSpPr>
          <p:spPr>
            <a:xfrm>
              <a:off x="685933" y="987487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395" name="TextBox 50"/>
            <p:cNvSpPr txBox="1"/>
            <p:nvPr/>
          </p:nvSpPr>
          <p:spPr>
            <a:xfrm>
              <a:off x="0" y="-1"/>
              <a:ext cx="1214296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algn="ctr" defTabSz="914371">
                <a:defRPr b="1" sz="1000" u="sng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5GNR SS-SNIR (dB)</a:t>
              </a:r>
            </a:p>
          </p:txBody>
        </p:sp>
        <p:sp>
          <p:nvSpPr>
            <p:cNvPr id="1396" name="TextBox 51"/>
            <p:cNvSpPr txBox="1"/>
            <p:nvPr/>
          </p:nvSpPr>
          <p:spPr>
            <a:xfrm>
              <a:off x="736449" y="137270"/>
              <a:ext cx="333531" cy="2285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Max</a:t>
              </a:r>
            </a:p>
          </p:txBody>
        </p:sp>
        <p:sp>
          <p:nvSpPr>
            <p:cNvPr id="1397" name="TextBox 52"/>
            <p:cNvSpPr txBox="1"/>
            <p:nvPr/>
          </p:nvSpPr>
          <p:spPr>
            <a:xfrm>
              <a:off x="791640" y="340153"/>
              <a:ext cx="324837" cy="2285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 &gt;20</a:t>
              </a:r>
            </a:p>
          </p:txBody>
        </p:sp>
        <p:sp>
          <p:nvSpPr>
            <p:cNvPr id="1398" name="TextBox 53"/>
            <p:cNvSpPr txBox="1"/>
            <p:nvPr/>
          </p:nvSpPr>
          <p:spPr>
            <a:xfrm>
              <a:off x="799891" y="524160"/>
              <a:ext cx="324837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 &gt;14</a:t>
              </a:r>
            </a:p>
          </p:txBody>
        </p:sp>
        <p:sp>
          <p:nvSpPr>
            <p:cNvPr id="1399" name="TextBox 54"/>
            <p:cNvSpPr txBox="1"/>
            <p:nvPr/>
          </p:nvSpPr>
          <p:spPr>
            <a:xfrm>
              <a:off x="835923" y="695498"/>
              <a:ext cx="260469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6</a:t>
              </a:r>
            </a:p>
          </p:txBody>
        </p:sp>
        <p:sp>
          <p:nvSpPr>
            <p:cNvPr id="1400" name="TextBox 55"/>
            <p:cNvSpPr txBox="1"/>
            <p:nvPr/>
          </p:nvSpPr>
          <p:spPr>
            <a:xfrm>
              <a:off x="832752" y="877241"/>
              <a:ext cx="260469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0</a:t>
              </a:r>
            </a:p>
          </p:txBody>
        </p:sp>
      </p:grpSp>
      <p:sp>
        <p:nvSpPr>
          <p:cNvPr id="1402" name="DRAWN:  &lt;D&gt;"/>
          <p:cNvSpPr txBox="1"/>
          <p:nvPr/>
        </p:nvSpPr>
        <p:spPr>
          <a:xfrm>
            <a:off x="12322172" y="9281572"/>
            <a:ext cx="596721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</a:defRPr>
            </a:pPr>
            <a:r>
              <a:t>DRAWN:  </a:t>
            </a:r>
            <a:r>
              <a:rPr>
                <a:solidFill>
                  <a:srgbClr val="000000"/>
                </a:solidFill>
              </a:rPr>
              <a:t>&lt;D&gt;</a:t>
            </a:r>
          </a:p>
        </p:txBody>
      </p:sp>
      <p:sp>
        <p:nvSpPr>
          <p:cNvPr id="1403" name="CHECKED: &lt;C&gt;"/>
          <p:cNvSpPr txBox="1"/>
          <p:nvPr/>
        </p:nvSpPr>
        <p:spPr>
          <a:xfrm>
            <a:off x="13113121" y="9284992"/>
            <a:ext cx="663099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CHECKED: </a:t>
            </a:r>
            <a:r>
              <a:rPr>
                <a:solidFill>
                  <a:srgbClr val="000000"/>
                </a:solidFill>
              </a:rPr>
              <a:t>&lt;C&gt;</a:t>
            </a:r>
          </a:p>
        </p:txBody>
      </p:sp>
      <p:sp>
        <p:nvSpPr>
          <p:cNvPr id="1404" name="APPROVED: &lt;A&gt;"/>
          <p:cNvSpPr txBox="1"/>
          <p:nvPr/>
        </p:nvSpPr>
        <p:spPr>
          <a:xfrm>
            <a:off x="14081688" y="9281572"/>
            <a:ext cx="709756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APPROVED: </a:t>
            </a:r>
            <a:r>
              <a:rPr>
                <a:solidFill>
                  <a:srgbClr val="000000"/>
                </a:solidFill>
              </a:rPr>
              <a:t>&lt;A&gt;</a:t>
            </a:r>
          </a:p>
        </p:txBody>
      </p:sp>
      <p:sp>
        <p:nvSpPr>
          <p:cNvPr id="1405" name="&lt;P01&gt;"/>
          <p:cNvSpPr txBox="1"/>
          <p:nvPr/>
        </p:nvSpPr>
        <p:spPr>
          <a:xfrm>
            <a:off x="12598435" y="9717430"/>
            <a:ext cx="328719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&lt;P01&gt;</a:t>
            </a:r>
          </a:p>
        </p:txBody>
      </p:sp>
      <p:sp>
        <p:nvSpPr>
          <p:cNvPr id="1406" name="&lt;P02&gt;"/>
          <p:cNvSpPr txBox="1"/>
          <p:nvPr/>
        </p:nvSpPr>
        <p:spPr>
          <a:xfrm>
            <a:off x="12592863" y="9862504"/>
            <a:ext cx="328718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&lt;P02&gt;</a:t>
            </a:r>
          </a:p>
        </p:txBody>
      </p:sp>
      <p:sp>
        <p:nvSpPr>
          <p:cNvPr id="1407" name="&lt;NUM&gt;"/>
          <p:cNvSpPr txBox="1"/>
          <p:nvPr/>
        </p:nvSpPr>
        <p:spPr>
          <a:xfrm>
            <a:off x="14298897" y="9141614"/>
            <a:ext cx="366670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600"/>
            </a:lvl1pPr>
          </a:lstStyle>
          <a:p>
            <a:pPr/>
            <a:r>
              <a:t>&lt;NUM&gt;</a:t>
            </a:r>
          </a:p>
        </p:txBody>
      </p:sp>
      <p:sp>
        <p:nvSpPr>
          <p:cNvPr id="1408" name="&lt;&lt;logo&gt;&gt;"/>
          <p:cNvSpPr txBox="1"/>
          <p:nvPr/>
        </p:nvSpPr>
        <p:spPr>
          <a:xfrm>
            <a:off x="13422174" y="875552"/>
            <a:ext cx="1054157" cy="3401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0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&lt;&lt;logo&gt;&gt;</a:t>
            </a:r>
          </a:p>
        </p:txBody>
      </p:sp>
      <p:sp>
        <p:nvSpPr>
          <p:cNvPr id="140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L21_LTE RSR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6" name="TextBox 66"/>
          <p:cNvSpPr txBox="1"/>
          <p:nvPr/>
        </p:nvSpPr>
        <p:spPr>
          <a:xfrm>
            <a:off x="13525788" y="9201184"/>
            <a:ext cx="130066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SHEET:</a:t>
            </a:r>
          </a:p>
        </p:txBody>
      </p:sp>
      <p:sp>
        <p:nvSpPr>
          <p:cNvPr id="1417" name="Freeform 10"/>
          <p:cNvSpPr/>
          <p:nvPr/>
        </p:nvSpPr>
        <p:spPr>
          <a:xfrm flipH="1">
            <a:off x="12234861" y="209548"/>
            <a:ext cx="1" cy="10224004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18" name="Freeform 11"/>
          <p:cNvSpPr/>
          <p:nvPr/>
        </p:nvSpPr>
        <p:spPr>
          <a:xfrm>
            <a:off x="12230100" y="702182"/>
            <a:ext cx="2646003" cy="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19" name="TextBox 15"/>
          <p:cNvSpPr txBox="1"/>
          <p:nvPr/>
        </p:nvSpPr>
        <p:spPr>
          <a:xfrm>
            <a:off x="12339755" y="6726997"/>
            <a:ext cx="2522705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400">
                <a:solidFill>
                  <a:srgbClr val="A6A6A6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RF PREDICTIONS</a:t>
            </a:r>
          </a:p>
        </p:txBody>
      </p:sp>
      <p:sp>
        <p:nvSpPr>
          <p:cNvPr id="1420" name="TextBox 17"/>
          <p:cNvSpPr txBox="1"/>
          <p:nvPr/>
        </p:nvSpPr>
        <p:spPr>
          <a:xfrm>
            <a:off x="12253914" y="7872499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STATION</a:t>
            </a:r>
          </a:p>
        </p:txBody>
      </p:sp>
      <p:sp>
        <p:nvSpPr>
          <p:cNvPr id="1421" name="Freeform 45"/>
          <p:cNvSpPr/>
          <p:nvPr/>
        </p:nvSpPr>
        <p:spPr>
          <a:xfrm>
            <a:off x="12230100" y="8848334"/>
            <a:ext cx="2646003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22" name="Freeform 67"/>
          <p:cNvSpPr/>
          <p:nvPr/>
        </p:nvSpPr>
        <p:spPr>
          <a:xfrm>
            <a:off x="13545545" y="6970361"/>
            <a:ext cx="3" cy="890405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23" name="TextBox 75"/>
          <p:cNvSpPr txBox="1"/>
          <p:nvPr/>
        </p:nvSpPr>
        <p:spPr>
          <a:xfrm>
            <a:off x="12234160" y="9470638"/>
            <a:ext cx="259229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DRAWING HISTORY</a:t>
            </a:r>
          </a:p>
        </p:txBody>
      </p:sp>
      <p:sp>
        <p:nvSpPr>
          <p:cNvPr id="1424" name="Freeform 76"/>
          <p:cNvSpPr/>
          <p:nvPr/>
        </p:nvSpPr>
        <p:spPr>
          <a:xfrm>
            <a:off x="12233492" y="9612058"/>
            <a:ext cx="2636007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25" name="TextBox 77"/>
          <p:cNvSpPr txBox="1"/>
          <p:nvPr/>
        </p:nvSpPr>
        <p:spPr>
          <a:xfrm>
            <a:off x="12507654" y="9632305"/>
            <a:ext cx="51028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DATE</a:t>
            </a:r>
          </a:p>
        </p:txBody>
      </p:sp>
      <p:sp>
        <p:nvSpPr>
          <p:cNvPr id="1426" name="Freeform 79"/>
          <p:cNvSpPr/>
          <p:nvPr/>
        </p:nvSpPr>
        <p:spPr>
          <a:xfrm>
            <a:off x="12513692" y="9612117"/>
            <a:ext cx="4" cy="821437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27" name="TextBox 80"/>
          <p:cNvSpPr txBox="1"/>
          <p:nvPr/>
        </p:nvSpPr>
        <p:spPr>
          <a:xfrm>
            <a:off x="12233491" y="9634148"/>
            <a:ext cx="26032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ISSUE</a:t>
            </a:r>
          </a:p>
        </p:txBody>
      </p:sp>
      <p:sp>
        <p:nvSpPr>
          <p:cNvPr id="1428" name="Freeform 82"/>
          <p:cNvSpPr/>
          <p:nvPr/>
        </p:nvSpPr>
        <p:spPr>
          <a:xfrm>
            <a:off x="12236067" y="9736835"/>
            <a:ext cx="2636007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29" name="Freeform 83"/>
          <p:cNvSpPr/>
          <p:nvPr/>
        </p:nvSpPr>
        <p:spPr>
          <a:xfrm>
            <a:off x="13052420" y="9614212"/>
            <a:ext cx="4" cy="824700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30" name="TextBox 84"/>
          <p:cNvSpPr txBox="1"/>
          <p:nvPr/>
        </p:nvSpPr>
        <p:spPr>
          <a:xfrm>
            <a:off x="13058443" y="9631360"/>
            <a:ext cx="178161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DESCRIPTION</a:t>
            </a:r>
          </a:p>
        </p:txBody>
      </p:sp>
      <p:sp>
        <p:nvSpPr>
          <p:cNvPr id="1431" name="Freeform 86"/>
          <p:cNvSpPr/>
          <p:nvPr/>
        </p:nvSpPr>
        <p:spPr>
          <a:xfrm>
            <a:off x="12237973" y="9877804"/>
            <a:ext cx="2636008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32" name="Freeform 87"/>
          <p:cNvSpPr/>
          <p:nvPr/>
        </p:nvSpPr>
        <p:spPr>
          <a:xfrm>
            <a:off x="12236067" y="9878180"/>
            <a:ext cx="2636007" cy="3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33" name="Freeform 88"/>
          <p:cNvSpPr/>
          <p:nvPr/>
        </p:nvSpPr>
        <p:spPr>
          <a:xfrm>
            <a:off x="12237973" y="10019151"/>
            <a:ext cx="2636008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34" name="Freeform 90"/>
          <p:cNvSpPr/>
          <p:nvPr/>
        </p:nvSpPr>
        <p:spPr>
          <a:xfrm>
            <a:off x="12237973" y="10159355"/>
            <a:ext cx="2636008" cy="5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35" name="Straight Connector 2"/>
          <p:cNvSpPr/>
          <p:nvPr/>
        </p:nvSpPr>
        <p:spPr>
          <a:xfrm>
            <a:off x="12237973" y="6966880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36" name="Straight Connector 71"/>
          <p:cNvSpPr/>
          <p:nvPr/>
        </p:nvSpPr>
        <p:spPr>
          <a:xfrm>
            <a:off x="12237973" y="6678848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37" name="Freeform 90"/>
          <p:cNvSpPr/>
          <p:nvPr/>
        </p:nvSpPr>
        <p:spPr>
          <a:xfrm>
            <a:off x="12237973" y="10298666"/>
            <a:ext cx="2636008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38" name="TextBox 98"/>
          <p:cNvSpPr txBox="1"/>
          <p:nvPr/>
        </p:nvSpPr>
        <p:spPr>
          <a:xfrm>
            <a:off x="13070458" y="9889172"/>
            <a:ext cx="176304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 </a:t>
            </a:r>
          </a:p>
        </p:txBody>
      </p:sp>
      <p:sp>
        <p:nvSpPr>
          <p:cNvPr id="1439" name="TextBox 74"/>
          <p:cNvSpPr txBox="1"/>
          <p:nvPr/>
        </p:nvSpPr>
        <p:spPr>
          <a:xfrm>
            <a:off x="12243182" y="9193193"/>
            <a:ext cx="126636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SCALE: </a:t>
            </a:r>
            <a:r>
              <a:rPr>
                <a:solidFill>
                  <a:srgbClr val="000000"/>
                </a:solidFill>
              </a:rPr>
              <a:t>NOT TO SCALE</a:t>
            </a:r>
          </a:p>
        </p:txBody>
      </p:sp>
      <p:sp>
        <p:nvSpPr>
          <p:cNvPr id="1440" name="Freeform 47"/>
          <p:cNvSpPr/>
          <p:nvPr/>
        </p:nvSpPr>
        <p:spPr>
          <a:xfrm>
            <a:off x="12226542" y="9184596"/>
            <a:ext cx="2646004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41" name="TextBox 109"/>
          <p:cNvSpPr txBox="1"/>
          <p:nvPr/>
        </p:nvSpPr>
        <p:spPr>
          <a:xfrm>
            <a:off x="12253914" y="8867116"/>
            <a:ext cx="95997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DOCUMENT REFERENCE</a:t>
            </a:r>
          </a:p>
        </p:txBody>
      </p:sp>
      <p:sp>
        <p:nvSpPr>
          <p:cNvPr id="1442" name="TextBox 110"/>
          <p:cNvSpPr txBox="1"/>
          <p:nvPr/>
        </p:nvSpPr>
        <p:spPr>
          <a:xfrm>
            <a:off x="12223991" y="8967075"/>
            <a:ext cx="259089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APPENDIX B – RF PREDICTIONS </a:t>
            </a:r>
          </a:p>
        </p:txBody>
      </p:sp>
      <p:sp>
        <p:nvSpPr>
          <p:cNvPr id="1443" name="Straight Connector 115"/>
          <p:cNvSpPr/>
          <p:nvPr/>
        </p:nvSpPr>
        <p:spPr>
          <a:xfrm>
            <a:off x="12237973" y="7857455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44" name="Rectangle 118"/>
          <p:cNvSpPr txBox="1"/>
          <p:nvPr/>
        </p:nvSpPr>
        <p:spPr>
          <a:xfrm>
            <a:off x="12292583" y="374373"/>
            <a:ext cx="2524151" cy="243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0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COMMERCIAL MOBILE SERVICES</a:t>
            </a:r>
          </a:p>
        </p:txBody>
      </p:sp>
      <p:sp>
        <p:nvSpPr>
          <p:cNvPr id="1445" name="Rectangle 3"/>
          <p:cNvSpPr/>
          <p:nvPr/>
        </p:nvSpPr>
        <p:spPr>
          <a:xfrm>
            <a:off x="0" y="1"/>
            <a:ext cx="15122525" cy="236989"/>
          </a:xfrm>
          <a:prstGeom prst="rect">
            <a:avLst/>
          </a:prstGeom>
          <a:solidFill>
            <a:srgbClr val="D91D49"/>
          </a:solidFill>
          <a:ln w="25400">
            <a:solidFill>
              <a:srgbClr val="D91D49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446" name="Freeform 47"/>
          <p:cNvSpPr/>
          <p:nvPr/>
        </p:nvSpPr>
        <p:spPr>
          <a:xfrm flipV="1">
            <a:off x="13531176" y="9183037"/>
            <a:ext cx="4" cy="124739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47" name="Rectangle 5"/>
          <p:cNvSpPr/>
          <p:nvPr/>
        </p:nvSpPr>
        <p:spPr>
          <a:xfrm>
            <a:off x="223628" y="261258"/>
            <a:ext cx="14646449" cy="10175448"/>
          </a:xfrm>
          <a:prstGeom prst="rect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448" name="TextBox 49"/>
          <p:cNvSpPr txBox="1"/>
          <p:nvPr/>
        </p:nvSpPr>
        <p:spPr>
          <a:xfrm>
            <a:off x="12253914" y="8285091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ADDRESS</a:t>
            </a:r>
          </a:p>
        </p:txBody>
      </p:sp>
      <p:sp>
        <p:nvSpPr>
          <p:cNvPr id="1449" name="Freeform 45"/>
          <p:cNvSpPr/>
          <p:nvPr/>
        </p:nvSpPr>
        <p:spPr>
          <a:xfrm>
            <a:off x="12230100" y="8849604"/>
            <a:ext cx="2646003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50" name="Straight Connector 52"/>
          <p:cNvSpPr/>
          <p:nvPr/>
        </p:nvSpPr>
        <p:spPr>
          <a:xfrm>
            <a:off x="12237973" y="8270047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51" name="Freeform 47"/>
          <p:cNvSpPr/>
          <p:nvPr/>
        </p:nvSpPr>
        <p:spPr>
          <a:xfrm>
            <a:off x="12236067" y="9317742"/>
            <a:ext cx="2631525" cy="5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52" name="Freeform 48"/>
          <p:cNvSpPr/>
          <p:nvPr/>
        </p:nvSpPr>
        <p:spPr>
          <a:xfrm>
            <a:off x="12227249" y="9427722"/>
            <a:ext cx="2646003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53" name="Freeform 21"/>
          <p:cNvSpPr/>
          <p:nvPr/>
        </p:nvSpPr>
        <p:spPr>
          <a:xfrm>
            <a:off x="12959990" y="9317742"/>
            <a:ext cx="4" cy="10800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54" name="Freeform 67"/>
          <p:cNvSpPr/>
          <p:nvPr/>
        </p:nvSpPr>
        <p:spPr>
          <a:xfrm>
            <a:off x="13975212" y="9321118"/>
            <a:ext cx="4" cy="10813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55" name="TextBox 1"/>
          <p:cNvSpPr txBox="1"/>
          <p:nvPr/>
        </p:nvSpPr>
        <p:spPr>
          <a:xfrm>
            <a:off x="63497" y="10507980"/>
            <a:ext cx="77312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000000">
                    <a:alpha val="50000"/>
                  </a:srgbClr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[SEC=PROTECTED]</a:t>
            </a:r>
          </a:p>
        </p:txBody>
      </p:sp>
      <p:sp>
        <p:nvSpPr>
          <p:cNvPr id="1456" name="Picture Placeholder 2"/>
          <p:cNvSpPr/>
          <p:nvPr/>
        </p:nvSpPr>
        <p:spPr>
          <a:xfrm>
            <a:off x="599800" y="508423"/>
            <a:ext cx="11233730" cy="936439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 defTabSz="1407968">
              <a:spcBef>
                <a:spcPts val="1200"/>
              </a:spcBef>
              <a:defRPr sz="5000"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457" name="TextBox 6"/>
          <p:cNvSpPr txBox="1"/>
          <p:nvPr/>
        </p:nvSpPr>
        <p:spPr>
          <a:xfrm>
            <a:off x="13549306" y="7032755"/>
            <a:ext cx="1284189" cy="63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BOLDYN NETWORKS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</a:t>
            </a:r>
            <a:r>
              <a:rPr baseline="30000"/>
              <a:t>nd</a:t>
            </a:r>
            <a:r>
              <a:t> FLOOR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 KINGDOM STREET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LONDON 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W2 6BD</a:t>
            </a:r>
          </a:p>
        </p:txBody>
      </p:sp>
      <p:sp>
        <p:nvSpPr>
          <p:cNvPr id="1458" name="Freeform: Shape 7"/>
          <p:cNvSpPr/>
          <p:nvPr/>
        </p:nvSpPr>
        <p:spPr>
          <a:xfrm>
            <a:off x="12537433" y="7031193"/>
            <a:ext cx="705489" cy="6648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0873"/>
                </a:moveTo>
                <a:lnTo>
                  <a:pt x="21231" y="9061"/>
                </a:lnTo>
                <a:lnTo>
                  <a:pt x="20308" y="7567"/>
                </a:lnTo>
                <a:lnTo>
                  <a:pt x="18900" y="6563"/>
                </a:lnTo>
                <a:lnTo>
                  <a:pt x="17192" y="6196"/>
                </a:lnTo>
                <a:lnTo>
                  <a:pt x="6808" y="6196"/>
                </a:lnTo>
                <a:lnTo>
                  <a:pt x="6808" y="0"/>
                </a:lnTo>
                <a:lnTo>
                  <a:pt x="4131" y="0"/>
                </a:lnTo>
                <a:lnTo>
                  <a:pt x="4131" y="6196"/>
                </a:lnTo>
                <a:lnTo>
                  <a:pt x="0" y="6196"/>
                </a:lnTo>
                <a:lnTo>
                  <a:pt x="0" y="9037"/>
                </a:lnTo>
                <a:lnTo>
                  <a:pt x="4131" y="9037"/>
                </a:lnTo>
                <a:lnTo>
                  <a:pt x="4131" y="6196"/>
                </a:lnTo>
                <a:lnTo>
                  <a:pt x="6808" y="6196"/>
                </a:lnTo>
                <a:lnTo>
                  <a:pt x="6808" y="9037"/>
                </a:lnTo>
                <a:lnTo>
                  <a:pt x="18923" y="9037"/>
                </a:lnTo>
                <a:lnTo>
                  <a:pt x="18923" y="18759"/>
                </a:lnTo>
                <a:lnTo>
                  <a:pt x="6808" y="18759"/>
                </a:lnTo>
                <a:lnTo>
                  <a:pt x="6808" y="9037"/>
                </a:lnTo>
                <a:lnTo>
                  <a:pt x="4131" y="9037"/>
                </a:lnTo>
                <a:lnTo>
                  <a:pt x="4131" y="16922"/>
                </a:lnTo>
                <a:lnTo>
                  <a:pt x="4477" y="18735"/>
                </a:lnTo>
                <a:lnTo>
                  <a:pt x="5423" y="20229"/>
                </a:lnTo>
                <a:lnTo>
                  <a:pt x="6831" y="21233"/>
                </a:lnTo>
                <a:lnTo>
                  <a:pt x="8538" y="21600"/>
                </a:lnTo>
                <a:lnTo>
                  <a:pt x="17192" y="21600"/>
                </a:lnTo>
                <a:lnTo>
                  <a:pt x="18900" y="21233"/>
                </a:lnTo>
                <a:lnTo>
                  <a:pt x="20308" y="20229"/>
                </a:lnTo>
                <a:lnTo>
                  <a:pt x="21231" y="18759"/>
                </a:lnTo>
                <a:lnTo>
                  <a:pt x="21600" y="16922"/>
                </a:lnTo>
                <a:lnTo>
                  <a:pt x="21600" y="10873"/>
                </a:lnTo>
                <a:close/>
              </a:path>
            </a:pathLst>
          </a:custGeom>
          <a:solidFill>
            <a:srgbClr val="F5054F">
              <a:alpha val="29802"/>
            </a:srgb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459" name="TextBox 27"/>
          <p:cNvSpPr txBox="1"/>
          <p:nvPr/>
        </p:nvSpPr>
        <p:spPr>
          <a:xfrm>
            <a:off x="13056406" y="9758240"/>
            <a:ext cx="177709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Original Submission</a:t>
            </a:r>
          </a:p>
        </p:txBody>
      </p:sp>
      <p:sp>
        <p:nvSpPr>
          <p:cNvPr id="1460" name="TextBox 28"/>
          <p:cNvSpPr txBox="1"/>
          <p:nvPr/>
        </p:nvSpPr>
        <p:spPr>
          <a:xfrm>
            <a:off x="12247271" y="9758240"/>
            <a:ext cx="22438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P01</a:t>
            </a:r>
          </a:p>
        </p:txBody>
      </p:sp>
      <p:sp>
        <p:nvSpPr>
          <p:cNvPr id="1461" name="TextBox 30"/>
          <p:cNvSpPr txBox="1"/>
          <p:nvPr/>
        </p:nvSpPr>
        <p:spPr>
          <a:xfrm>
            <a:off x="12233457" y="8514819"/>
            <a:ext cx="260097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&lt;&lt;ADDRESS&gt;&gt;</a:t>
            </a:r>
          </a:p>
        </p:txBody>
      </p:sp>
      <p:sp>
        <p:nvSpPr>
          <p:cNvPr id="1462" name="TextBox 31"/>
          <p:cNvSpPr txBox="1"/>
          <p:nvPr/>
        </p:nvSpPr>
        <p:spPr>
          <a:xfrm>
            <a:off x="12239090" y="7990071"/>
            <a:ext cx="260097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&lt;&lt;STATION_NAME&gt;&gt;</a:t>
            </a:r>
          </a:p>
        </p:txBody>
      </p:sp>
      <p:sp>
        <p:nvSpPr>
          <p:cNvPr id="1463" name="TextBox 32"/>
          <p:cNvSpPr txBox="1"/>
          <p:nvPr/>
        </p:nvSpPr>
        <p:spPr>
          <a:xfrm>
            <a:off x="13056406" y="9904169"/>
            <a:ext cx="177709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Updated design</a:t>
            </a:r>
          </a:p>
        </p:txBody>
      </p:sp>
      <p:sp>
        <p:nvSpPr>
          <p:cNvPr id="1464" name="TextBox 33"/>
          <p:cNvSpPr txBox="1"/>
          <p:nvPr/>
        </p:nvSpPr>
        <p:spPr>
          <a:xfrm>
            <a:off x="12247271" y="9904169"/>
            <a:ext cx="22438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P02</a:t>
            </a:r>
          </a:p>
        </p:txBody>
      </p:sp>
      <p:pic>
        <p:nvPicPr>
          <p:cNvPr id="1465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2233457" y="722526"/>
            <a:ext cx="2633704" cy="646233"/>
          </a:xfrm>
          <a:prstGeom prst="rect">
            <a:avLst/>
          </a:prstGeom>
          <a:ln w="12700">
            <a:miter lim="400000"/>
          </a:ln>
        </p:spPr>
      </p:pic>
      <p:sp>
        <p:nvSpPr>
          <p:cNvPr id="1466" name="Rectangle 62"/>
          <p:cNvSpPr txBox="1"/>
          <p:nvPr/>
        </p:nvSpPr>
        <p:spPr>
          <a:xfrm>
            <a:off x="1031881" y="10077207"/>
            <a:ext cx="1398603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LTE</a:t>
            </a:r>
          </a:p>
        </p:txBody>
      </p:sp>
      <p:grpSp>
        <p:nvGrpSpPr>
          <p:cNvPr id="1469" name="Rectangle 77"/>
          <p:cNvGrpSpPr/>
          <p:nvPr/>
        </p:nvGrpSpPr>
        <p:grpSpPr>
          <a:xfrm>
            <a:off x="12242777" y="6320589"/>
            <a:ext cx="2627302" cy="392467"/>
            <a:chOff x="-1" y="0"/>
            <a:chExt cx="2627301" cy="392465"/>
          </a:xfrm>
        </p:grpSpPr>
        <p:sp>
          <p:nvSpPr>
            <p:cNvPr id="1467" name="Rectangle"/>
            <p:cNvSpPr/>
            <p:nvPr/>
          </p:nvSpPr>
          <p:spPr>
            <a:xfrm>
              <a:off x="-2" y="34217"/>
              <a:ext cx="2627302" cy="324043"/>
            </a:xfrm>
            <a:prstGeom prst="rect">
              <a:avLst/>
            </a:prstGeom>
            <a:solidFill>
              <a:srgbClr val="D91D49"/>
            </a:solidFill>
            <a:ln w="19050" cap="rnd">
              <a:solidFill>
                <a:srgbClr val="D91D49"/>
              </a:solidFill>
              <a:prstDash val="solid"/>
              <a:bevel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468" name="LTE 2100MHz"/>
            <p:cNvSpPr txBox="1"/>
            <p:nvPr/>
          </p:nvSpPr>
          <p:spPr>
            <a:xfrm>
              <a:off x="55243" y="-1"/>
              <a:ext cx="2516811" cy="39246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b="1" sz="24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LTE 2100MHz</a:t>
              </a:r>
            </a:p>
          </p:txBody>
        </p:sp>
      </p:grpSp>
      <p:sp>
        <p:nvSpPr>
          <p:cNvPr id="1470" name="Freeform 55"/>
          <p:cNvSpPr/>
          <p:nvPr/>
        </p:nvSpPr>
        <p:spPr>
          <a:xfrm>
            <a:off x="9227818" y="10104121"/>
            <a:ext cx="3" cy="335284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71" name="Freeform 56"/>
          <p:cNvSpPr/>
          <p:nvPr/>
        </p:nvSpPr>
        <p:spPr>
          <a:xfrm>
            <a:off x="6228517" y="10104121"/>
            <a:ext cx="4" cy="335284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72" name="Freeform 57"/>
          <p:cNvSpPr/>
          <p:nvPr/>
        </p:nvSpPr>
        <p:spPr>
          <a:xfrm>
            <a:off x="3204778" y="10104121"/>
            <a:ext cx="4" cy="335284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73" name="Rectangle 4"/>
          <p:cNvSpPr txBox="1"/>
          <p:nvPr/>
        </p:nvSpPr>
        <p:spPr>
          <a:xfrm>
            <a:off x="271007" y="10249420"/>
            <a:ext cx="2888053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Technology </a:t>
            </a:r>
          </a:p>
        </p:txBody>
      </p:sp>
      <p:sp>
        <p:nvSpPr>
          <p:cNvPr id="1474" name="Rectangle 5"/>
          <p:cNvSpPr txBox="1"/>
          <p:nvPr/>
        </p:nvSpPr>
        <p:spPr>
          <a:xfrm>
            <a:off x="3250501" y="10249612"/>
            <a:ext cx="2924494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Frequency Band</a:t>
            </a:r>
          </a:p>
        </p:txBody>
      </p:sp>
      <p:sp>
        <p:nvSpPr>
          <p:cNvPr id="1475" name="Rectangle 6"/>
          <p:cNvSpPr txBox="1"/>
          <p:nvPr/>
        </p:nvSpPr>
        <p:spPr>
          <a:xfrm>
            <a:off x="6272324" y="10254543"/>
            <a:ext cx="2901971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Plot</a:t>
            </a:r>
          </a:p>
        </p:txBody>
      </p:sp>
      <p:sp>
        <p:nvSpPr>
          <p:cNvPr id="1476" name="Rectangle 7"/>
          <p:cNvSpPr txBox="1"/>
          <p:nvPr/>
        </p:nvSpPr>
        <p:spPr>
          <a:xfrm>
            <a:off x="9273537" y="10246400"/>
            <a:ext cx="2912501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Floor Level</a:t>
            </a:r>
          </a:p>
        </p:txBody>
      </p:sp>
      <p:sp>
        <p:nvSpPr>
          <p:cNvPr id="1477" name="Rectangle 8"/>
          <p:cNvSpPr/>
          <p:nvPr/>
        </p:nvSpPr>
        <p:spPr>
          <a:xfrm>
            <a:off x="225282" y="10279246"/>
            <a:ext cx="12004820" cy="157181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478" name="Rectangle 9"/>
          <p:cNvSpPr/>
          <p:nvPr/>
        </p:nvSpPr>
        <p:spPr>
          <a:xfrm>
            <a:off x="225282" y="10103973"/>
            <a:ext cx="12004820" cy="174458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479" name="Rectangle 58"/>
          <p:cNvSpPr txBox="1"/>
          <p:nvPr/>
        </p:nvSpPr>
        <p:spPr>
          <a:xfrm>
            <a:off x="6266434" y="10086647"/>
            <a:ext cx="2901971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RSRP (dBm)</a:t>
            </a:r>
          </a:p>
        </p:txBody>
      </p:sp>
      <p:grpSp>
        <p:nvGrpSpPr>
          <p:cNvPr id="1502" name="Group 59"/>
          <p:cNvGrpSpPr/>
          <p:nvPr/>
        </p:nvGrpSpPr>
        <p:grpSpPr>
          <a:xfrm>
            <a:off x="12275816" y="1792967"/>
            <a:ext cx="1308273" cy="2247724"/>
            <a:chOff x="0" y="-1"/>
            <a:chExt cx="1308271" cy="2247723"/>
          </a:xfrm>
        </p:grpSpPr>
        <p:sp>
          <p:nvSpPr>
            <p:cNvPr id="1480" name="Straight Connector 60"/>
            <p:cNvSpPr/>
            <p:nvPr/>
          </p:nvSpPr>
          <p:spPr>
            <a:xfrm>
              <a:off x="654462" y="1946115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481" name="Straight Connector 106"/>
            <p:cNvSpPr/>
            <p:nvPr/>
          </p:nvSpPr>
          <p:spPr>
            <a:xfrm>
              <a:off x="654462" y="1578450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482" name="Straight Connector 107"/>
            <p:cNvSpPr/>
            <p:nvPr/>
          </p:nvSpPr>
          <p:spPr>
            <a:xfrm>
              <a:off x="654462" y="1397475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483" name="Straight Connector 108"/>
            <p:cNvSpPr/>
            <p:nvPr/>
          </p:nvSpPr>
          <p:spPr>
            <a:xfrm>
              <a:off x="654462" y="1214595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484" name="Straight Connector 109"/>
            <p:cNvSpPr/>
            <p:nvPr/>
          </p:nvSpPr>
          <p:spPr>
            <a:xfrm>
              <a:off x="654462" y="1029807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485" name="Straight Connector 110"/>
            <p:cNvSpPr/>
            <p:nvPr/>
          </p:nvSpPr>
          <p:spPr>
            <a:xfrm>
              <a:off x="654462" y="846927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486" name="Straight Connector 111"/>
            <p:cNvSpPr/>
            <p:nvPr/>
          </p:nvSpPr>
          <p:spPr>
            <a:xfrm>
              <a:off x="654462" y="662142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487" name="Straight Connector 112"/>
            <p:cNvSpPr/>
            <p:nvPr/>
          </p:nvSpPr>
          <p:spPr>
            <a:xfrm>
              <a:off x="654462" y="483072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488" name="Straight Connector 113"/>
            <p:cNvSpPr/>
            <p:nvPr/>
          </p:nvSpPr>
          <p:spPr>
            <a:xfrm>
              <a:off x="654462" y="1761330"/>
              <a:ext cx="180004" cy="4"/>
            </a:xfrm>
            <a:prstGeom prst="line">
              <a:avLst/>
            </a:prstGeom>
            <a:noFill/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pic>
          <p:nvPicPr>
            <p:cNvPr id="1489" name="Picture 114" descr="Picture 114"/>
            <p:cNvPicPr>
              <a:picLocks noChangeAspect="1"/>
            </p:cNvPicPr>
            <p:nvPr/>
          </p:nvPicPr>
          <p:blipFill>
            <a:blip r:embed="rId3">
              <a:extLst/>
            </a:blip>
            <a:stretch>
              <a:fillRect/>
            </a:stretch>
          </p:blipFill>
          <p:spPr>
            <a:xfrm>
              <a:off x="119622" y="292572"/>
              <a:ext cx="624846" cy="184404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490" name="TextBox 115"/>
            <p:cNvSpPr txBox="1"/>
            <p:nvPr/>
          </p:nvSpPr>
          <p:spPr>
            <a:xfrm>
              <a:off x="736459" y="2019215"/>
              <a:ext cx="326697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MIN</a:t>
              </a:r>
            </a:p>
          </p:txBody>
        </p:sp>
        <p:sp>
          <p:nvSpPr>
            <p:cNvPr id="1491" name="TextBox 116"/>
            <p:cNvSpPr txBox="1"/>
            <p:nvPr/>
          </p:nvSpPr>
          <p:spPr>
            <a:xfrm>
              <a:off x="880184" y="356154"/>
              <a:ext cx="363718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-65</a:t>
              </a:r>
            </a:p>
          </p:txBody>
        </p:sp>
        <p:sp>
          <p:nvSpPr>
            <p:cNvPr id="1492" name="TextBox 117"/>
            <p:cNvSpPr txBox="1"/>
            <p:nvPr/>
          </p:nvSpPr>
          <p:spPr>
            <a:xfrm>
              <a:off x="880184" y="540935"/>
              <a:ext cx="363718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-80</a:t>
              </a:r>
            </a:p>
          </p:txBody>
        </p:sp>
        <p:sp>
          <p:nvSpPr>
            <p:cNvPr id="1493" name="TextBox 118"/>
            <p:cNvSpPr txBox="1"/>
            <p:nvPr/>
          </p:nvSpPr>
          <p:spPr>
            <a:xfrm>
              <a:off x="880184" y="723818"/>
              <a:ext cx="363718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-95</a:t>
              </a:r>
            </a:p>
          </p:txBody>
        </p:sp>
        <p:sp>
          <p:nvSpPr>
            <p:cNvPr id="1494" name="TextBox 119"/>
            <p:cNvSpPr txBox="1"/>
            <p:nvPr/>
          </p:nvSpPr>
          <p:spPr>
            <a:xfrm>
              <a:off x="880184" y="908602"/>
              <a:ext cx="428086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-105</a:t>
              </a:r>
            </a:p>
          </p:txBody>
        </p:sp>
        <p:sp>
          <p:nvSpPr>
            <p:cNvPr id="1495" name="TextBox 120"/>
            <p:cNvSpPr txBox="1"/>
            <p:nvPr/>
          </p:nvSpPr>
          <p:spPr>
            <a:xfrm>
              <a:off x="880185" y="1089579"/>
              <a:ext cx="428086" cy="2285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-110</a:t>
              </a:r>
            </a:p>
          </p:txBody>
        </p:sp>
        <p:sp>
          <p:nvSpPr>
            <p:cNvPr id="1496" name="TextBox 121"/>
            <p:cNvSpPr txBox="1"/>
            <p:nvPr/>
          </p:nvSpPr>
          <p:spPr>
            <a:xfrm>
              <a:off x="880185" y="1274363"/>
              <a:ext cx="428086" cy="2285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-113</a:t>
              </a:r>
            </a:p>
          </p:txBody>
        </p:sp>
        <p:sp>
          <p:nvSpPr>
            <p:cNvPr id="1497" name="TextBox 122"/>
            <p:cNvSpPr txBox="1"/>
            <p:nvPr/>
          </p:nvSpPr>
          <p:spPr>
            <a:xfrm>
              <a:off x="878782" y="1453437"/>
              <a:ext cx="428086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-116</a:t>
              </a:r>
            </a:p>
          </p:txBody>
        </p:sp>
        <p:sp>
          <p:nvSpPr>
            <p:cNvPr id="1498" name="TextBox 123"/>
            <p:cNvSpPr txBox="1"/>
            <p:nvPr/>
          </p:nvSpPr>
          <p:spPr>
            <a:xfrm>
              <a:off x="878782" y="1638221"/>
              <a:ext cx="428086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-118</a:t>
              </a:r>
            </a:p>
          </p:txBody>
        </p:sp>
        <p:sp>
          <p:nvSpPr>
            <p:cNvPr id="1499" name="TextBox 124"/>
            <p:cNvSpPr txBox="1"/>
            <p:nvPr/>
          </p:nvSpPr>
          <p:spPr>
            <a:xfrm>
              <a:off x="878782" y="1817295"/>
              <a:ext cx="428086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-121</a:t>
              </a:r>
            </a:p>
          </p:txBody>
        </p:sp>
        <p:sp>
          <p:nvSpPr>
            <p:cNvPr id="1500" name="TextBox 125"/>
            <p:cNvSpPr txBox="1"/>
            <p:nvPr/>
          </p:nvSpPr>
          <p:spPr>
            <a:xfrm>
              <a:off x="736459" y="169461"/>
              <a:ext cx="352122" cy="2285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MAX</a:t>
              </a:r>
            </a:p>
          </p:txBody>
        </p:sp>
        <p:sp>
          <p:nvSpPr>
            <p:cNvPr id="1501" name="TextBox 126"/>
            <p:cNvSpPr txBox="1"/>
            <p:nvPr/>
          </p:nvSpPr>
          <p:spPr>
            <a:xfrm>
              <a:off x="-1" y="-2"/>
              <a:ext cx="1076285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algn="ctr">
                <a:defRPr b="1" sz="1000" u="sng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LTE RSRP (dBm)</a:t>
              </a:r>
            </a:p>
          </p:txBody>
        </p:sp>
      </p:grpSp>
      <p:sp>
        <p:nvSpPr>
          <p:cNvPr id="1503" name="Rectangle 127"/>
          <p:cNvSpPr txBox="1"/>
          <p:nvPr/>
        </p:nvSpPr>
        <p:spPr>
          <a:xfrm>
            <a:off x="12352687" y="1531651"/>
            <a:ext cx="535696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LEGEND</a:t>
            </a:r>
          </a:p>
        </p:txBody>
      </p:sp>
      <p:sp>
        <p:nvSpPr>
          <p:cNvPr id="1504" name="Rectangle 41"/>
          <p:cNvSpPr txBox="1"/>
          <p:nvPr/>
        </p:nvSpPr>
        <p:spPr>
          <a:xfrm>
            <a:off x="3250495" y="10088032"/>
            <a:ext cx="2932902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2100MHz</a:t>
            </a:r>
          </a:p>
        </p:txBody>
      </p:sp>
      <p:sp>
        <p:nvSpPr>
          <p:cNvPr id="1505" name="Picture Placeholder 2"/>
          <p:cNvSpPr/>
          <p:nvPr>
            <p:ph type="pic" idx="21"/>
          </p:nvPr>
        </p:nvSpPr>
        <p:spPr>
          <a:xfrm>
            <a:off x="599802" y="508424"/>
            <a:ext cx="11233726" cy="9364396"/>
          </a:xfrm>
          <a:prstGeom prst="rect">
            <a:avLst/>
          </a:prstGeom>
          <a:ln w="9525">
            <a:solidFill>
              <a:srgbClr val="000000"/>
            </a:solidFill>
            <a:round/>
          </a:ln>
        </p:spPr>
        <p:txBody>
          <a:bodyPr lIns="91439" tIns="45719" rIns="91439" bIns="45719"/>
          <a:lstStyle/>
          <a:p>
            <a:pPr/>
          </a:p>
        </p:txBody>
      </p:sp>
      <p:sp>
        <p:nvSpPr>
          <p:cNvPr id="1506" name="DRAWN:  &lt;D&gt;"/>
          <p:cNvSpPr txBox="1"/>
          <p:nvPr/>
        </p:nvSpPr>
        <p:spPr>
          <a:xfrm>
            <a:off x="12266103" y="9281572"/>
            <a:ext cx="596721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</a:defRPr>
            </a:pPr>
            <a:r>
              <a:t>DRAWN:  </a:t>
            </a:r>
            <a:r>
              <a:rPr>
                <a:solidFill>
                  <a:srgbClr val="000000"/>
                </a:solidFill>
              </a:rPr>
              <a:t>&lt;D&gt;</a:t>
            </a:r>
          </a:p>
        </p:txBody>
      </p:sp>
      <p:sp>
        <p:nvSpPr>
          <p:cNvPr id="1507" name="CHECKED: &lt;C&gt;"/>
          <p:cNvSpPr txBox="1"/>
          <p:nvPr/>
        </p:nvSpPr>
        <p:spPr>
          <a:xfrm>
            <a:off x="13136050" y="9284992"/>
            <a:ext cx="663098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CHECKED: </a:t>
            </a:r>
            <a:r>
              <a:rPr>
                <a:solidFill>
                  <a:srgbClr val="000000"/>
                </a:solidFill>
              </a:rPr>
              <a:t>&lt;C&gt;</a:t>
            </a:r>
          </a:p>
        </p:txBody>
      </p:sp>
      <p:sp>
        <p:nvSpPr>
          <p:cNvPr id="1508" name="APPROVED: &lt;A&gt;"/>
          <p:cNvSpPr txBox="1"/>
          <p:nvPr/>
        </p:nvSpPr>
        <p:spPr>
          <a:xfrm>
            <a:off x="14076392" y="9281572"/>
            <a:ext cx="709755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APPROVED: </a:t>
            </a:r>
            <a:r>
              <a:rPr>
                <a:solidFill>
                  <a:srgbClr val="000000"/>
                </a:solidFill>
              </a:rPr>
              <a:t>&lt;A&gt;</a:t>
            </a:r>
          </a:p>
        </p:txBody>
      </p:sp>
      <p:sp>
        <p:nvSpPr>
          <p:cNvPr id="1509" name="&lt;NUM&gt;"/>
          <p:cNvSpPr txBox="1"/>
          <p:nvPr/>
        </p:nvSpPr>
        <p:spPr>
          <a:xfrm>
            <a:off x="14298897" y="9141614"/>
            <a:ext cx="366670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600"/>
            </a:lvl1pPr>
          </a:lstStyle>
          <a:p>
            <a:pPr/>
            <a:r>
              <a:t>&lt;NUM&gt;</a:t>
            </a:r>
          </a:p>
        </p:txBody>
      </p:sp>
      <p:sp>
        <p:nvSpPr>
          <p:cNvPr id="1510" name="&lt;P01&gt;"/>
          <p:cNvSpPr txBox="1"/>
          <p:nvPr/>
        </p:nvSpPr>
        <p:spPr>
          <a:xfrm>
            <a:off x="12598435" y="9708097"/>
            <a:ext cx="328719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&lt;P01&gt;</a:t>
            </a:r>
          </a:p>
        </p:txBody>
      </p:sp>
      <p:sp>
        <p:nvSpPr>
          <p:cNvPr id="1511" name="&lt;P02&gt;"/>
          <p:cNvSpPr txBox="1"/>
          <p:nvPr/>
        </p:nvSpPr>
        <p:spPr>
          <a:xfrm>
            <a:off x="12592863" y="9864945"/>
            <a:ext cx="328718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&lt;P02&gt;</a:t>
            </a:r>
          </a:p>
        </p:txBody>
      </p:sp>
      <p:sp>
        <p:nvSpPr>
          <p:cNvPr id="1512" name="&lt;&lt;logo&gt;&gt;"/>
          <p:cNvSpPr txBox="1"/>
          <p:nvPr/>
        </p:nvSpPr>
        <p:spPr>
          <a:xfrm>
            <a:off x="13243962" y="875552"/>
            <a:ext cx="1054156" cy="3401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0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&lt;&lt;logo&gt;&gt;</a:t>
            </a:r>
          </a:p>
        </p:txBody>
      </p:sp>
      <p:sp>
        <p:nvSpPr>
          <p:cNvPr id="15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0" name="TextBox 6"/>
          <p:cNvSpPr txBox="1"/>
          <p:nvPr/>
        </p:nvSpPr>
        <p:spPr>
          <a:xfrm>
            <a:off x="63497" y="10507980"/>
            <a:ext cx="77312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000000">
                    <a:alpha val="50000"/>
                  </a:srgbClr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[SEC=PROTECTED]</a:t>
            </a:r>
          </a:p>
        </p:txBody>
      </p:sp>
      <p:sp>
        <p:nvSpPr>
          <p:cNvPr id="1521" name="Rectangle 16"/>
          <p:cNvSpPr txBox="1"/>
          <p:nvPr/>
        </p:nvSpPr>
        <p:spPr>
          <a:xfrm>
            <a:off x="262162" y="1680442"/>
            <a:ext cx="3941014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800">
                <a:solidFill>
                  <a:srgbClr val="CC66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 </a:t>
            </a:r>
          </a:p>
        </p:txBody>
      </p:sp>
      <p:sp>
        <p:nvSpPr>
          <p:cNvPr id="1522" name="Rectangle 17"/>
          <p:cNvSpPr/>
          <p:nvPr/>
        </p:nvSpPr>
        <p:spPr>
          <a:xfrm>
            <a:off x="0" y="1"/>
            <a:ext cx="15122525" cy="236989"/>
          </a:xfrm>
          <a:prstGeom prst="rect">
            <a:avLst/>
          </a:prstGeom>
          <a:solidFill>
            <a:srgbClr val="D91D49"/>
          </a:solidFill>
          <a:ln w="12700">
            <a:solidFill>
              <a:srgbClr val="D91D49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523" name="Title Text"/>
          <p:cNvSpPr txBox="1"/>
          <p:nvPr>
            <p:ph type="title"/>
          </p:nvPr>
        </p:nvSpPr>
        <p:spPr>
          <a:xfrm>
            <a:off x="3818273" y="236991"/>
            <a:ext cx="8675542" cy="2066926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 algn="l" defTabSz="914371">
              <a:lnSpc>
                <a:spcPct val="90000"/>
              </a:lnSpc>
              <a:defRPr sz="4400">
                <a:latin typeface="Calibri Light"/>
                <a:ea typeface="Calibri Light"/>
                <a:cs typeface="Calibri Light"/>
                <a:sym typeface="Calibri Light"/>
              </a:defRPr>
            </a:lvl1pPr>
          </a:lstStyle>
          <a:p>
            <a:pPr/>
            <a:r>
              <a:t>Title Text</a:t>
            </a:r>
          </a:p>
        </p:txBody>
      </p:sp>
      <p:pic>
        <p:nvPicPr>
          <p:cNvPr id="1524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79746" y="328610"/>
            <a:ext cx="3438527" cy="13335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525" name="Picture 2" descr="Picture 2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2493813" y="641014"/>
            <a:ext cx="2485312" cy="629442"/>
          </a:xfrm>
          <a:prstGeom prst="rect">
            <a:avLst/>
          </a:prstGeom>
          <a:ln w="12700">
            <a:miter lim="400000"/>
          </a:ln>
        </p:spPr>
      </p:pic>
      <p:sp>
        <p:nvSpPr>
          <p:cNvPr id="1526" name="Slide Number"/>
          <p:cNvSpPr txBox="1"/>
          <p:nvPr>
            <p:ph type="sldNum" sz="quarter" idx="2"/>
          </p:nvPr>
        </p:nvSpPr>
        <p:spPr>
          <a:xfrm>
            <a:off x="10572364" y="9787047"/>
            <a:ext cx="258620" cy="248302"/>
          </a:xfrm>
          <a:prstGeom prst="rect">
            <a:avLst/>
          </a:prstGeom>
        </p:spPr>
        <p:txBody>
          <a:bodyPr lIns="45718" tIns="45718" rIns="45718" bIns="45718" anchor="ctr"/>
          <a:lstStyle>
            <a:lvl1pPr algn="r">
              <a:defRPr sz="12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GSM Fu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3" name="TextBox 6"/>
          <p:cNvSpPr txBox="1"/>
          <p:nvPr/>
        </p:nvSpPr>
        <p:spPr>
          <a:xfrm>
            <a:off x="63497" y="10507980"/>
            <a:ext cx="77312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000000">
                    <a:alpha val="50000"/>
                  </a:srgbClr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[SEC=PROTECTED]</a:t>
            </a:r>
          </a:p>
        </p:txBody>
      </p:sp>
      <p:sp>
        <p:nvSpPr>
          <p:cNvPr id="1534" name="Freeform 16"/>
          <p:cNvSpPr/>
          <p:nvPr/>
        </p:nvSpPr>
        <p:spPr>
          <a:xfrm>
            <a:off x="225285" y="10099227"/>
            <a:ext cx="12006478" cy="1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35" name="Freeform 17"/>
          <p:cNvSpPr/>
          <p:nvPr/>
        </p:nvSpPr>
        <p:spPr>
          <a:xfrm>
            <a:off x="225285" y="10266044"/>
            <a:ext cx="12006478" cy="1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36" name="Freeform 55"/>
          <p:cNvSpPr/>
          <p:nvPr/>
        </p:nvSpPr>
        <p:spPr>
          <a:xfrm>
            <a:off x="9227818" y="10104121"/>
            <a:ext cx="3" cy="335284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37" name="Freeform 56"/>
          <p:cNvSpPr/>
          <p:nvPr/>
        </p:nvSpPr>
        <p:spPr>
          <a:xfrm>
            <a:off x="6228517" y="10104121"/>
            <a:ext cx="4" cy="335284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38" name="Freeform 57"/>
          <p:cNvSpPr/>
          <p:nvPr/>
        </p:nvSpPr>
        <p:spPr>
          <a:xfrm>
            <a:off x="3204778" y="10104121"/>
            <a:ext cx="4" cy="335284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39" name="Rectangle 24"/>
          <p:cNvSpPr txBox="1"/>
          <p:nvPr/>
        </p:nvSpPr>
        <p:spPr>
          <a:xfrm>
            <a:off x="271007" y="10249420"/>
            <a:ext cx="2888053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Technology </a:t>
            </a:r>
          </a:p>
        </p:txBody>
      </p:sp>
      <p:sp>
        <p:nvSpPr>
          <p:cNvPr id="1540" name="Rectangle 25"/>
          <p:cNvSpPr txBox="1"/>
          <p:nvPr/>
        </p:nvSpPr>
        <p:spPr>
          <a:xfrm>
            <a:off x="3250501" y="10249612"/>
            <a:ext cx="2924494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Frequency Band</a:t>
            </a:r>
          </a:p>
        </p:txBody>
      </p:sp>
      <p:sp>
        <p:nvSpPr>
          <p:cNvPr id="1541" name="Rectangle 26"/>
          <p:cNvSpPr txBox="1"/>
          <p:nvPr/>
        </p:nvSpPr>
        <p:spPr>
          <a:xfrm>
            <a:off x="6272324" y="10254543"/>
            <a:ext cx="2901971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Plot</a:t>
            </a:r>
          </a:p>
        </p:txBody>
      </p:sp>
      <p:sp>
        <p:nvSpPr>
          <p:cNvPr id="1542" name="Rectangle 27"/>
          <p:cNvSpPr txBox="1"/>
          <p:nvPr/>
        </p:nvSpPr>
        <p:spPr>
          <a:xfrm>
            <a:off x="9273537" y="10246400"/>
            <a:ext cx="2912501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Floor Level</a:t>
            </a:r>
          </a:p>
        </p:txBody>
      </p:sp>
      <p:sp>
        <p:nvSpPr>
          <p:cNvPr id="1543" name="Rectangle 28"/>
          <p:cNvSpPr txBox="1"/>
          <p:nvPr/>
        </p:nvSpPr>
        <p:spPr>
          <a:xfrm>
            <a:off x="1031881" y="10077207"/>
            <a:ext cx="1398603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GSM</a:t>
            </a:r>
          </a:p>
        </p:txBody>
      </p:sp>
      <p:sp>
        <p:nvSpPr>
          <p:cNvPr id="1544" name="Freeform 62"/>
          <p:cNvSpPr/>
          <p:nvPr/>
        </p:nvSpPr>
        <p:spPr>
          <a:xfrm>
            <a:off x="12230100" y="702182"/>
            <a:ext cx="2646003" cy="3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45" name="Rectangle 30"/>
          <p:cNvSpPr txBox="1"/>
          <p:nvPr/>
        </p:nvSpPr>
        <p:spPr>
          <a:xfrm>
            <a:off x="12279307" y="937505"/>
            <a:ext cx="2545053" cy="1774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7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OPERATOR: </a:t>
            </a:r>
          </a:p>
        </p:txBody>
      </p:sp>
      <p:sp>
        <p:nvSpPr>
          <p:cNvPr id="1546" name="Freeform 64"/>
          <p:cNvSpPr/>
          <p:nvPr/>
        </p:nvSpPr>
        <p:spPr>
          <a:xfrm>
            <a:off x="12233909" y="1422262"/>
            <a:ext cx="2640334" cy="3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grpSp>
        <p:nvGrpSpPr>
          <p:cNvPr id="1549" name="Rectangle 87"/>
          <p:cNvGrpSpPr/>
          <p:nvPr/>
        </p:nvGrpSpPr>
        <p:grpSpPr>
          <a:xfrm>
            <a:off x="12242777" y="5445642"/>
            <a:ext cx="2627302" cy="392467"/>
            <a:chOff x="-1" y="0"/>
            <a:chExt cx="2627301" cy="392465"/>
          </a:xfrm>
        </p:grpSpPr>
        <p:sp>
          <p:nvSpPr>
            <p:cNvPr id="1547" name="Rectangle"/>
            <p:cNvSpPr/>
            <p:nvPr/>
          </p:nvSpPr>
          <p:spPr>
            <a:xfrm>
              <a:off x="-2" y="34217"/>
              <a:ext cx="2627302" cy="324043"/>
            </a:xfrm>
            <a:prstGeom prst="rect">
              <a:avLst/>
            </a:prstGeom>
            <a:solidFill>
              <a:srgbClr val="D91D49"/>
            </a:solidFill>
            <a:ln w="19050" cap="rnd">
              <a:solidFill>
                <a:srgbClr val="D91D49"/>
              </a:solidFill>
              <a:prstDash val="solid"/>
              <a:bevel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548" name="GSM"/>
            <p:cNvSpPr txBox="1"/>
            <p:nvPr/>
          </p:nvSpPr>
          <p:spPr>
            <a:xfrm>
              <a:off x="55243" y="-1"/>
              <a:ext cx="2516811" cy="39246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b="1" sz="24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GSM</a:t>
              </a:r>
            </a:p>
          </p:txBody>
        </p:sp>
      </p:grpSp>
      <p:grpSp>
        <p:nvGrpSpPr>
          <p:cNvPr id="1591" name="Group 88"/>
          <p:cNvGrpSpPr/>
          <p:nvPr/>
        </p:nvGrpSpPr>
        <p:grpSpPr>
          <a:xfrm>
            <a:off x="12277793" y="1578679"/>
            <a:ext cx="2444123" cy="2454169"/>
            <a:chOff x="0" y="-1"/>
            <a:chExt cx="2444122" cy="2454167"/>
          </a:xfrm>
        </p:grpSpPr>
        <p:grpSp>
          <p:nvGrpSpPr>
            <p:cNvPr id="1572" name="Group 89"/>
            <p:cNvGrpSpPr/>
            <p:nvPr/>
          </p:nvGrpSpPr>
          <p:grpSpPr>
            <a:xfrm>
              <a:off x="10141" y="206442"/>
              <a:ext cx="1253529" cy="2247725"/>
              <a:chOff x="-1" y="-1"/>
              <a:chExt cx="1253527" cy="2247724"/>
            </a:xfrm>
          </p:grpSpPr>
          <p:sp>
            <p:nvSpPr>
              <p:cNvPr id="1550" name="Straight Connector 108"/>
              <p:cNvSpPr/>
              <p:nvPr/>
            </p:nvSpPr>
            <p:spPr>
              <a:xfrm>
                <a:off x="601122" y="1946115"/>
                <a:ext cx="180004" cy="4"/>
              </a:xfrm>
              <a:prstGeom prst="line">
                <a:avLst/>
              </a:prstGeom>
              <a:noFill/>
              <a:ln w="635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1551" name="Straight Connector 109"/>
              <p:cNvSpPr/>
              <p:nvPr/>
            </p:nvSpPr>
            <p:spPr>
              <a:xfrm>
                <a:off x="601122" y="1578449"/>
                <a:ext cx="180004" cy="4"/>
              </a:xfrm>
              <a:prstGeom prst="line">
                <a:avLst/>
              </a:prstGeom>
              <a:noFill/>
              <a:ln w="635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1552" name="Straight Connector 110"/>
              <p:cNvSpPr/>
              <p:nvPr/>
            </p:nvSpPr>
            <p:spPr>
              <a:xfrm>
                <a:off x="601122" y="1397474"/>
                <a:ext cx="180004" cy="4"/>
              </a:xfrm>
              <a:prstGeom prst="line">
                <a:avLst/>
              </a:prstGeom>
              <a:noFill/>
              <a:ln w="635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1553" name="Straight Connector 111"/>
              <p:cNvSpPr/>
              <p:nvPr/>
            </p:nvSpPr>
            <p:spPr>
              <a:xfrm>
                <a:off x="601122" y="1214593"/>
                <a:ext cx="180004" cy="4"/>
              </a:xfrm>
              <a:prstGeom prst="line">
                <a:avLst/>
              </a:prstGeom>
              <a:noFill/>
              <a:ln w="635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1554" name="Straight Connector 112"/>
              <p:cNvSpPr/>
              <p:nvPr/>
            </p:nvSpPr>
            <p:spPr>
              <a:xfrm>
                <a:off x="601122" y="1029807"/>
                <a:ext cx="180004" cy="4"/>
              </a:xfrm>
              <a:prstGeom prst="line">
                <a:avLst/>
              </a:prstGeom>
              <a:noFill/>
              <a:ln w="635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1555" name="Straight Connector 113"/>
              <p:cNvSpPr/>
              <p:nvPr/>
            </p:nvSpPr>
            <p:spPr>
              <a:xfrm>
                <a:off x="601122" y="846927"/>
                <a:ext cx="180004" cy="4"/>
              </a:xfrm>
              <a:prstGeom prst="line">
                <a:avLst/>
              </a:prstGeom>
              <a:noFill/>
              <a:ln w="635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1556" name="Straight Connector 114"/>
              <p:cNvSpPr/>
              <p:nvPr/>
            </p:nvSpPr>
            <p:spPr>
              <a:xfrm>
                <a:off x="601122" y="662141"/>
                <a:ext cx="180004" cy="4"/>
              </a:xfrm>
              <a:prstGeom prst="line">
                <a:avLst/>
              </a:prstGeom>
              <a:noFill/>
              <a:ln w="635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1557" name="Straight Connector 115"/>
              <p:cNvSpPr/>
              <p:nvPr/>
            </p:nvSpPr>
            <p:spPr>
              <a:xfrm>
                <a:off x="601122" y="483071"/>
                <a:ext cx="180004" cy="4"/>
              </a:xfrm>
              <a:prstGeom prst="line">
                <a:avLst/>
              </a:prstGeom>
              <a:noFill/>
              <a:ln w="635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1558" name="Straight Connector 116"/>
              <p:cNvSpPr/>
              <p:nvPr/>
            </p:nvSpPr>
            <p:spPr>
              <a:xfrm>
                <a:off x="601122" y="1761330"/>
                <a:ext cx="180004" cy="4"/>
              </a:xfrm>
              <a:prstGeom prst="line">
                <a:avLst/>
              </a:prstGeom>
              <a:noFill/>
              <a:ln w="635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/>
              </a:p>
            </p:txBody>
          </p:sp>
          <p:pic>
            <p:nvPicPr>
              <p:cNvPr id="1559" name="Picture 117" descr="Picture 117"/>
              <p:cNvPicPr>
                <a:picLocks noChangeAspect="1"/>
              </p:cNvPicPr>
              <p:nvPr/>
            </p:nvPicPr>
            <p:blipFill>
              <a:blip r:embed="rId2">
                <a:extLst/>
              </a:blip>
              <a:stretch>
                <a:fillRect/>
              </a:stretch>
            </p:blipFill>
            <p:spPr>
              <a:xfrm>
                <a:off x="66281" y="292571"/>
                <a:ext cx="624847" cy="1844048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560" name="TextBox 118"/>
              <p:cNvSpPr txBox="1"/>
              <p:nvPr/>
            </p:nvSpPr>
            <p:spPr>
              <a:xfrm>
                <a:off x="683117" y="2019216"/>
                <a:ext cx="326697" cy="22850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>
                <a:lvl1pPr>
                  <a:defRPr sz="1000">
                    <a:latin typeface="+mn-lt"/>
                    <a:ea typeface="+mn-ea"/>
                    <a:cs typeface="+mn-cs"/>
                    <a:sym typeface="Calibri"/>
                  </a:defRPr>
                </a:lvl1pPr>
              </a:lstStyle>
              <a:p>
                <a:pPr/>
                <a:r>
                  <a:t>MIN</a:t>
                </a:r>
              </a:p>
            </p:txBody>
          </p:sp>
          <p:sp>
            <p:nvSpPr>
              <p:cNvPr id="1561" name="TextBox 119"/>
              <p:cNvSpPr txBox="1"/>
              <p:nvPr/>
            </p:nvSpPr>
            <p:spPr>
              <a:xfrm>
                <a:off x="826844" y="356153"/>
                <a:ext cx="363718" cy="228507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>
                <a:lvl1pPr>
                  <a:defRPr sz="1000">
                    <a:latin typeface="+mn-lt"/>
                    <a:ea typeface="+mn-ea"/>
                    <a:cs typeface="+mn-cs"/>
                    <a:sym typeface="Calibri"/>
                  </a:defRPr>
                </a:lvl1pPr>
              </a:lstStyle>
              <a:p>
                <a:pPr/>
                <a:r>
                  <a:t>&gt; -55</a:t>
                </a:r>
              </a:p>
            </p:txBody>
          </p:sp>
          <p:sp>
            <p:nvSpPr>
              <p:cNvPr id="1562" name="TextBox 120"/>
              <p:cNvSpPr txBox="1"/>
              <p:nvPr/>
            </p:nvSpPr>
            <p:spPr>
              <a:xfrm>
                <a:off x="826844" y="540935"/>
                <a:ext cx="363718" cy="22850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>
                <a:lvl1pPr>
                  <a:defRPr sz="1000">
                    <a:latin typeface="+mn-lt"/>
                    <a:ea typeface="+mn-ea"/>
                    <a:cs typeface="+mn-cs"/>
                    <a:sym typeface="Calibri"/>
                  </a:defRPr>
                </a:lvl1pPr>
              </a:lstStyle>
              <a:p>
                <a:pPr/>
                <a:r>
                  <a:t>&gt; -65</a:t>
                </a:r>
              </a:p>
            </p:txBody>
          </p:sp>
          <p:sp>
            <p:nvSpPr>
              <p:cNvPr id="1563" name="TextBox 121"/>
              <p:cNvSpPr txBox="1"/>
              <p:nvPr/>
            </p:nvSpPr>
            <p:spPr>
              <a:xfrm>
                <a:off x="826844" y="723817"/>
                <a:ext cx="363718" cy="22850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>
                <a:lvl1pPr>
                  <a:defRPr sz="1000">
                    <a:latin typeface="+mn-lt"/>
                    <a:ea typeface="+mn-ea"/>
                    <a:cs typeface="+mn-cs"/>
                    <a:sym typeface="Calibri"/>
                  </a:defRPr>
                </a:lvl1pPr>
              </a:lstStyle>
              <a:p>
                <a:pPr/>
                <a:r>
                  <a:t>&gt; -75</a:t>
                </a:r>
              </a:p>
            </p:txBody>
          </p:sp>
          <p:sp>
            <p:nvSpPr>
              <p:cNvPr id="1564" name="TextBox 122"/>
              <p:cNvSpPr txBox="1"/>
              <p:nvPr/>
            </p:nvSpPr>
            <p:spPr>
              <a:xfrm>
                <a:off x="826844" y="908602"/>
                <a:ext cx="363718" cy="22850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>
                <a:lvl1pPr>
                  <a:defRPr sz="1000">
                    <a:latin typeface="+mn-lt"/>
                    <a:ea typeface="+mn-ea"/>
                    <a:cs typeface="+mn-cs"/>
                    <a:sym typeface="Calibri"/>
                  </a:defRPr>
                </a:lvl1pPr>
              </a:lstStyle>
              <a:p>
                <a:pPr/>
                <a:r>
                  <a:t>&gt; -85</a:t>
                </a:r>
              </a:p>
            </p:txBody>
          </p:sp>
          <p:sp>
            <p:nvSpPr>
              <p:cNvPr id="1565" name="TextBox 123"/>
              <p:cNvSpPr txBox="1"/>
              <p:nvPr/>
            </p:nvSpPr>
            <p:spPr>
              <a:xfrm>
                <a:off x="826844" y="1089577"/>
                <a:ext cx="363718" cy="228507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>
                <a:lvl1pPr>
                  <a:defRPr sz="1000">
                    <a:latin typeface="+mn-lt"/>
                    <a:ea typeface="+mn-ea"/>
                    <a:cs typeface="+mn-cs"/>
                    <a:sym typeface="Calibri"/>
                  </a:defRPr>
                </a:lvl1pPr>
              </a:lstStyle>
              <a:p>
                <a:pPr/>
                <a:r>
                  <a:t>&gt; -95</a:t>
                </a:r>
              </a:p>
            </p:txBody>
          </p:sp>
          <p:sp>
            <p:nvSpPr>
              <p:cNvPr id="1566" name="TextBox 124"/>
              <p:cNvSpPr txBox="1"/>
              <p:nvPr/>
            </p:nvSpPr>
            <p:spPr>
              <a:xfrm>
                <a:off x="826844" y="1274362"/>
                <a:ext cx="363718" cy="228507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>
                <a:lvl1pPr>
                  <a:defRPr sz="1000">
                    <a:latin typeface="+mn-lt"/>
                    <a:ea typeface="+mn-ea"/>
                    <a:cs typeface="+mn-cs"/>
                    <a:sym typeface="Calibri"/>
                  </a:defRPr>
                </a:lvl1pPr>
              </a:lstStyle>
              <a:p>
                <a:pPr/>
                <a:r>
                  <a:t>&gt; -98</a:t>
                </a:r>
              </a:p>
            </p:txBody>
          </p:sp>
          <p:sp>
            <p:nvSpPr>
              <p:cNvPr id="1567" name="TextBox 125"/>
              <p:cNvSpPr txBox="1"/>
              <p:nvPr/>
            </p:nvSpPr>
            <p:spPr>
              <a:xfrm>
                <a:off x="825441" y="1453436"/>
                <a:ext cx="428086" cy="228507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>
                <a:lvl1pPr>
                  <a:defRPr sz="1000">
                    <a:latin typeface="+mn-lt"/>
                    <a:ea typeface="+mn-ea"/>
                    <a:cs typeface="+mn-cs"/>
                    <a:sym typeface="Calibri"/>
                  </a:defRPr>
                </a:lvl1pPr>
              </a:lstStyle>
              <a:p>
                <a:pPr/>
                <a:r>
                  <a:t>&gt; -101</a:t>
                </a:r>
              </a:p>
            </p:txBody>
          </p:sp>
          <p:sp>
            <p:nvSpPr>
              <p:cNvPr id="1568" name="TextBox 126"/>
              <p:cNvSpPr txBox="1"/>
              <p:nvPr/>
            </p:nvSpPr>
            <p:spPr>
              <a:xfrm>
                <a:off x="825441" y="1638220"/>
                <a:ext cx="428086" cy="22850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>
                <a:lvl1pPr>
                  <a:defRPr sz="1000">
                    <a:latin typeface="+mn-lt"/>
                    <a:ea typeface="+mn-ea"/>
                    <a:cs typeface="+mn-cs"/>
                    <a:sym typeface="Calibri"/>
                  </a:defRPr>
                </a:lvl1pPr>
              </a:lstStyle>
              <a:p>
                <a:pPr/>
                <a:r>
                  <a:t>&gt; -103</a:t>
                </a:r>
              </a:p>
            </p:txBody>
          </p:sp>
          <p:sp>
            <p:nvSpPr>
              <p:cNvPr id="1569" name="TextBox 127"/>
              <p:cNvSpPr txBox="1"/>
              <p:nvPr/>
            </p:nvSpPr>
            <p:spPr>
              <a:xfrm>
                <a:off x="825441" y="1817294"/>
                <a:ext cx="428086" cy="22850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>
                <a:lvl1pPr>
                  <a:defRPr sz="1000">
                    <a:latin typeface="+mn-lt"/>
                    <a:ea typeface="+mn-ea"/>
                    <a:cs typeface="+mn-cs"/>
                    <a:sym typeface="Calibri"/>
                  </a:defRPr>
                </a:lvl1pPr>
              </a:lstStyle>
              <a:p>
                <a:pPr/>
                <a:r>
                  <a:t>&gt; -106</a:t>
                </a:r>
              </a:p>
            </p:txBody>
          </p:sp>
          <p:sp>
            <p:nvSpPr>
              <p:cNvPr id="1570" name="TextBox 128"/>
              <p:cNvSpPr txBox="1"/>
              <p:nvPr/>
            </p:nvSpPr>
            <p:spPr>
              <a:xfrm>
                <a:off x="683118" y="169460"/>
                <a:ext cx="352122" cy="228507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>
                <a:lvl1pPr>
                  <a:defRPr sz="1000">
                    <a:latin typeface="+mn-lt"/>
                    <a:ea typeface="+mn-ea"/>
                    <a:cs typeface="+mn-cs"/>
                    <a:sym typeface="Calibri"/>
                  </a:defRPr>
                </a:lvl1pPr>
              </a:lstStyle>
              <a:p>
                <a:pPr/>
                <a:r>
                  <a:t>MAX</a:t>
                </a:r>
              </a:p>
            </p:txBody>
          </p:sp>
          <p:sp>
            <p:nvSpPr>
              <p:cNvPr id="1571" name="TextBox 129"/>
              <p:cNvSpPr txBox="1"/>
              <p:nvPr/>
            </p:nvSpPr>
            <p:spPr>
              <a:xfrm>
                <a:off x="-2" y="-2"/>
                <a:ext cx="1076288" cy="22850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8" tIns="45718" rIns="45718" bIns="45718" numCol="1" anchor="t">
                <a:spAutoFit/>
              </a:bodyPr>
              <a:lstStyle>
                <a:lvl1pPr algn="ctr">
                  <a:defRPr b="1" sz="1000" u="sng">
                    <a:latin typeface="+mn-lt"/>
                    <a:ea typeface="+mn-ea"/>
                    <a:cs typeface="+mn-cs"/>
                    <a:sym typeface="Calibri"/>
                  </a:defRPr>
                </a:lvl1pPr>
              </a:lstStyle>
              <a:p>
                <a:pPr/>
                <a:r>
                  <a:t>GSM RxLev (dBm)</a:t>
                </a:r>
              </a:p>
            </p:txBody>
          </p:sp>
        </p:grpSp>
        <p:sp>
          <p:nvSpPr>
            <p:cNvPr id="1573" name="Rectangle 90"/>
            <p:cNvSpPr txBox="1"/>
            <p:nvPr/>
          </p:nvSpPr>
          <p:spPr>
            <a:xfrm>
              <a:off x="-1" y="-2"/>
              <a:ext cx="535697" cy="20241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800">
                  <a:solidFill>
                    <a:srgbClr val="80808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LEGEND</a:t>
              </a:r>
            </a:p>
          </p:txBody>
        </p:sp>
        <p:grpSp>
          <p:nvGrpSpPr>
            <p:cNvPr id="1590" name="Group 91"/>
            <p:cNvGrpSpPr/>
            <p:nvPr/>
          </p:nvGrpSpPr>
          <p:grpSpPr>
            <a:xfrm>
              <a:off x="1375066" y="193439"/>
              <a:ext cx="1069057" cy="1168985"/>
              <a:chOff x="0" y="0"/>
              <a:chExt cx="1069056" cy="1168984"/>
            </a:xfrm>
          </p:grpSpPr>
          <p:grpSp>
            <p:nvGrpSpPr>
              <p:cNvPr id="1579" name="Group 92"/>
              <p:cNvGrpSpPr/>
              <p:nvPr/>
            </p:nvGrpSpPr>
            <p:grpSpPr>
              <a:xfrm>
                <a:off x="61087" y="256101"/>
                <a:ext cx="619351" cy="879883"/>
                <a:chOff x="0" y="-1"/>
                <a:chExt cx="619349" cy="879882"/>
              </a:xfrm>
            </p:grpSpPr>
            <p:sp>
              <p:nvSpPr>
                <p:cNvPr id="1574" name="Rectangle 103"/>
                <p:cNvSpPr/>
                <p:nvPr/>
              </p:nvSpPr>
              <p:spPr>
                <a:xfrm>
                  <a:off x="-1" y="-2"/>
                  <a:ext cx="619002" cy="177169"/>
                </a:xfrm>
                <a:prstGeom prst="rect">
                  <a:avLst/>
                </a:prstGeom>
                <a:solidFill>
                  <a:srgbClr val="28E3FC"/>
                </a:solidFill>
                <a:ln w="12700" cap="flat">
                  <a:solidFill>
                    <a:srgbClr val="000000"/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371">
                    <a:defRPr sz="1800">
                      <a:solidFill>
                        <a:srgbClr val="FFFFFF"/>
                      </a:solidFill>
                      <a:latin typeface="+mn-lt"/>
                      <a:ea typeface="+mn-ea"/>
                      <a:cs typeface="+mn-cs"/>
                      <a:sym typeface="Calibri"/>
                    </a:defRPr>
                  </a:pPr>
                </a:p>
              </p:txBody>
            </p:sp>
            <p:sp>
              <p:nvSpPr>
                <p:cNvPr id="1575" name="Rectangle 104"/>
                <p:cNvSpPr/>
                <p:nvPr/>
              </p:nvSpPr>
              <p:spPr>
                <a:xfrm>
                  <a:off x="-1" y="177165"/>
                  <a:ext cx="619002" cy="177169"/>
                </a:xfrm>
                <a:prstGeom prst="rect">
                  <a:avLst/>
                </a:prstGeom>
                <a:solidFill>
                  <a:srgbClr val="00FF00"/>
                </a:solidFill>
                <a:ln w="12700" cap="flat">
                  <a:solidFill>
                    <a:srgbClr val="000000"/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371">
                    <a:defRPr sz="1800">
                      <a:solidFill>
                        <a:srgbClr val="FFFFFF"/>
                      </a:solidFill>
                      <a:latin typeface="+mn-lt"/>
                      <a:ea typeface="+mn-ea"/>
                      <a:cs typeface="+mn-cs"/>
                      <a:sym typeface="Calibri"/>
                    </a:defRPr>
                  </a:pPr>
                </a:p>
              </p:txBody>
            </p:sp>
            <p:sp>
              <p:nvSpPr>
                <p:cNvPr id="1576" name="Rectangle 105"/>
                <p:cNvSpPr/>
                <p:nvPr/>
              </p:nvSpPr>
              <p:spPr>
                <a:xfrm>
                  <a:off x="347" y="354332"/>
                  <a:ext cx="619002" cy="177169"/>
                </a:xfrm>
                <a:prstGeom prst="rect">
                  <a:avLst/>
                </a:prstGeom>
                <a:solidFill>
                  <a:srgbClr val="FFFF00"/>
                </a:solidFill>
                <a:ln w="12700" cap="flat">
                  <a:solidFill>
                    <a:srgbClr val="000000"/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371">
                    <a:defRPr sz="1800">
                      <a:solidFill>
                        <a:srgbClr val="FFFFFF"/>
                      </a:solidFill>
                      <a:latin typeface="+mn-lt"/>
                      <a:ea typeface="+mn-ea"/>
                      <a:cs typeface="+mn-cs"/>
                      <a:sym typeface="Calibri"/>
                    </a:defRPr>
                  </a:pPr>
                </a:p>
              </p:txBody>
            </p:sp>
            <p:sp>
              <p:nvSpPr>
                <p:cNvPr id="1577" name="Rectangle 106"/>
                <p:cNvSpPr/>
                <p:nvPr/>
              </p:nvSpPr>
              <p:spPr>
                <a:xfrm>
                  <a:off x="347" y="531499"/>
                  <a:ext cx="619002" cy="177169"/>
                </a:xfrm>
                <a:prstGeom prst="rect">
                  <a:avLst/>
                </a:prstGeom>
                <a:solidFill>
                  <a:srgbClr val="FFC000"/>
                </a:solidFill>
                <a:ln w="12700" cap="flat">
                  <a:solidFill>
                    <a:srgbClr val="000000"/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371">
                    <a:defRPr sz="1800">
                      <a:solidFill>
                        <a:srgbClr val="FFFFFF"/>
                      </a:solidFill>
                      <a:latin typeface="+mn-lt"/>
                      <a:ea typeface="+mn-ea"/>
                      <a:cs typeface="+mn-cs"/>
                      <a:sym typeface="Calibri"/>
                    </a:defRPr>
                  </a:pPr>
                </a:p>
              </p:txBody>
            </p:sp>
            <p:sp>
              <p:nvSpPr>
                <p:cNvPr id="1578" name="Rectangle 107"/>
                <p:cNvSpPr/>
                <p:nvPr/>
              </p:nvSpPr>
              <p:spPr>
                <a:xfrm>
                  <a:off x="347" y="702713"/>
                  <a:ext cx="619002" cy="177169"/>
                </a:xfrm>
                <a:prstGeom prst="rect">
                  <a:avLst/>
                </a:prstGeom>
                <a:solidFill>
                  <a:srgbClr val="FF0000"/>
                </a:solidFill>
                <a:ln w="12700" cap="flat">
                  <a:solidFill>
                    <a:srgbClr val="000000"/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371">
                    <a:defRPr sz="1800">
                      <a:solidFill>
                        <a:srgbClr val="FFFFFF"/>
                      </a:solidFill>
                      <a:latin typeface="+mn-lt"/>
                      <a:ea typeface="+mn-ea"/>
                      <a:cs typeface="+mn-cs"/>
                      <a:sym typeface="Calibri"/>
                    </a:defRPr>
                  </a:pPr>
                </a:p>
              </p:txBody>
            </p:sp>
          </p:grpSp>
          <p:sp>
            <p:nvSpPr>
              <p:cNvPr id="1580" name="Straight Connector 93"/>
              <p:cNvSpPr/>
              <p:nvPr/>
            </p:nvSpPr>
            <p:spPr>
              <a:xfrm>
                <a:off x="594663" y="787601"/>
                <a:ext cx="180004" cy="3"/>
              </a:xfrm>
              <a:prstGeom prst="line">
                <a:avLst/>
              </a:prstGeom>
              <a:noFill/>
              <a:ln w="635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1581" name="Straight Connector 94"/>
              <p:cNvSpPr/>
              <p:nvPr/>
            </p:nvSpPr>
            <p:spPr>
              <a:xfrm>
                <a:off x="594663" y="610910"/>
                <a:ext cx="180004" cy="4"/>
              </a:xfrm>
              <a:prstGeom prst="line">
                <a:avLst/>
              </a:prstGeom>
              <a:noFill/>
              <a:ln w="635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1582" name="Straight Connector 95"/>
              <p:cNvSpPr/>
              <p:nvPr/>
            </p:nvSpPr>
            <p:spPr>
              <a:xfrm>
                <a:off x="594663" y="433268"/>
                <a:ext cx="180004" cy="4"/>
              </a:xfrm>
              <a:prstGeom prst="line">
                <a:avLst/>
              </a:prstGeom>
              <a:noFill/>
              <a:ln w="635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1583" name="Straight Connector 96"/>
              <p:cNvSpPr/>
              <p:nvPr/>
            </p:nvSpPr>
            <p:spPr>
              <a:xfrm>
                <a:off x="594663" y="960956"/>
                <a:ext cx="180004" cy="4"/>
              </a:xfrm>
              <a:prstGeom prst="line">
                <a:avLst/>
              </a:prstGeom>
              <a:noFill/>
              <a:ln w="635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1584" name="TextBox 97"/>
              <p:cNvSpPr txBox="1"/>
              <p:nvPr/>
            </p:nvSpPr>
            <p:spPr>
              <a:xfrm>
                <a:off x="-1" y="-2"/>
                <a:ext cx="1013467" cy="22850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8" tIns="45718" rIns="45718" bIns="45718" numCol="1" anchor="t">
                <a:spAutoFit/>
              </a:bodyPr>
              <a:lstStyle>
                <a:lvl1pPr algn="ctr" defTabSz="914371">
                  <a:defRPr b="1" sz="1000" u="sng">
                    <a:latin typeface="+mn-lt"/>
                    <a:ea typeface="+mn-ea"/>
                    <a:cs typeface="+mn-cs"/>
                    <a:sym typeface="Calibri"/>
                  </a:defRPr>
                </a:lvl1pPr>
              </a:lstStyle>
              <a:p>
                <a:pPr/>
                <a:r>
                  <a:t>GSM RxQual (dB)</a:t>
                </a:r>
              </a:p>
            </p:txBody>
          </p:sp>
          <p:sp>
            <p:nvSpPr>
              <p:cNvPr id="1585" name="TextBox 98"/>
              <p:cNvSpPr txBox="1"/>
              <p:nvPr/>
            </p:nvSpPr>
            <p:spPr>
              <a:xfrm>
                <a:off x="726608" y="189785"/>
                <a:ext cx="342449" cy="228507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>
                <a:lvl1pPr defTabSz="914371">
                  <a:defRPr sz="1000">
                    <a:latin typeface="+mn-lt"/>
                    <a:ea typeface="+mn-ea"/>
                    <a:cs typeface="+mn-cs"/>
                    <a:sym typeface="Calibri"/>
                  </a:defRPr>
                </a:lvl1pPr>
              </a:lstStyle>
              <a:p>
                <a:pPr/>
                <a:r>
                  <a:t>[1,3]</a:t>
                </a:r>
              </a:p>
            </p:txBody>
          </p:sp>
          <p:sp>
            <p:nvSpPr>
              <p:cNvPr id="1586" name="TextBox 99"/>
              <p:cNvSpPr txBox="1"/>
              <p:nvPr/>
            </p:nvSpPr>
            <p:spPr>
              <a:xfrm>
                <a:off x="724381" y="400406"/>
                <a:ext cx="168506" cy="22850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>
                <a:lvl1pPr defTabSz="914371">
                  <a:defRPr sz="1000">
                    <a:latin typeface="+mn-lt"/>
                    <a:ea typeface="+mn-ea"/>
                    <a:cs typeface="+mn-cs"/>
                    <a:sym typeface="Calibri"/>
                  </a:defRPr>
                </a:lvl1pPr>
              </a:lstStyle>
              <a:p>
                <a:pPr/>
                <a:r>
                  <a:t>4</a:t>
                </a:r>
              </a:p>
            </p:txBody>
          </p:sp>
          <p:sp>
            <p:nvSpPr>
              <p:cNvPr id="1587" name="TextBox 100"/>
              <p:cNvSpPr txBox="1"/>
              <p:nvPr/>
            </p:nvSpPr>
            <p:spPr>
              <a:xfrm>
                <a:off x="722797" y="566976"/>
                <a:ext cx="168505" cy="22850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>
                <a:lvl1pPr defTabSz="914371">
                  <a:defRPr sz="1000">
                    <a:latin typeface="+mn-lt"/>
                    <a:ea typeface="+mn-ea"/>
                    <a:cs typeface="+mn-cs"/>
                    <a:sym typeface="Calibri"/>
                  </a:defRPr>
                </a:lvl1pPr>
              </a:lstStyle>
              <a:p>
                <a:pPr/>
                <a:r>
                  <a:t>5</a:t>
                </a:r>
              </a:p>
            </p:txBody>
          </p:sp>
          <p:sp>
            <p:nvSpPr>
              <p:cNvPr id="1588" name="TextBox 101"/>
              <p:cNvSpPr txBox="1"/>
              <p:nvPr/>
            </p:nvSpPr>
            <p:spPr>
              <a:xfrm>
                <a:off x="720572" y="754739"/>
                <a:ext cx="168505" cy="228507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>
                <a:lvl1pPr defTabSz="914371">
                  <a:defRPr sz="1000">
                    <a:latin typeface="+mn-lt"/>
                    <a:ea typeface="+mn-ea"/>
                    <a:cs typeface="+mn-cs"/>
                    <a:sym typeface="Calibri"/>
                  </a:defRPr>
                </a:lvl1pPr>
              </a:lstStyle>
              <a:p>
                <a:pPr/>
                <a:r>
                  <a:t>6</a:t>
                </a:r>
              </a:p>
            </p:txBody>
          </p:sp>
          <p:sp>
            <p:nvSpPr>
              <p:cNvPr id="1589" name="TextBox 102"/>
              <p:cNvSpPr txBox="1"/>
              <p:nvPr/>
            </p:nvSpPr>
            <p:spPr>
              <a:xfrm>
                <a:off x="720250" y="940477"/>
                <a:ext cx="168506" cy="228507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>
                <a:lvl1pPr defTabSz="914371">
                  <a:defRPr sz="1000">
                    <a:latin typeface="+mn-lt"/>
                    <a:ea typeface="+mn-ea"/>
                    <a:cs typeface="+mn-cs"/>
                    <a:sym typeface="Calibri"/>
                  </a:defRPr>
                </a:lvl1pPr>
              </a:lstStyle>
              <a:p>
                <a:pPr/>
                <a:r>
                  <a:t>7</a:t>
                </a:r>
              </a:p>
            </p:txBody>
          </p:sp>
        </p:grpSp>
      </p:grpSp>
      <p:sp>
        <p:nvSpPr>
          <p:cNvPr id="1592" name="Slide Number"/>
          <p:cNvSpPr txBox="1"/>
          <p:nvPr>
            <p:ph type="sldNum" sz="quarter" idx="2"/>
          </p:nvPr>
        </p:nvSpPr>
        <p:spPr>
          <a:xfrm>
            <a:off x="10572364" y="9787047"/>
            <a:ext cx="258620" cy="248302"/>
          </a:xfrm>
          <a:prstGeom prst="rect">
            <a:avLst/>
          </a:prstGeom>
        </p:spPr>
        <p:txBody>
          <a:bodyPr lIns="45718" tIns="45718" rIns="45718" bIns="45718" anchor="ctr"/>
          <a:lstStyle>
            <a:lvl1pPr algn="r">
              <a:defRPr sz="12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UMTS Fu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9" name="TextBox 6"/>
          <p:cNvSpPr txBox="1"/>
          <p:nvPr/>
        </p:nvSpPr>
        <p:spPr>
          <a:xfrm>
            <a:off x="63497" y="10507980"/>
            <a:ext cx="77312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000000">
                    <a:alpha val="50000"/>
                  </a:srgbClr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[SEC=PROTECTED]</a:t>
            </a:r>
          </a:p>
        </p:txBody>
      </p:sp>
      <p:sp>
        <p:nvSpPr>
          <p:cNvPr id="1600" name="Freeform 16"/>
          <p:cNvSpPr/>
          <p:nvPr/>
        </p:nvSpPr>
        <p:spPr>
          <a:xfrm>
            <a:off x="225285" y="10099227"/>
            <a:ext cx="12006478" cy="1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01" name="Freeform 17"/>
          <p:cNvSpPr/>
          <p:nvPr/>
        </p:nvSpPr>
        <p:spPr>
          <a:xfrm>
            <a:off x="225285" y="10266044"/>
            <a:ext cx="12006478" cy="1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02" name="Freeform 55"/>
          <p:cNvSpPr/>
          <p:nvPr/>
        </p:nvSpPr>
        <p:spPr>
          <a:xfrm>
            <a:off x="9227818" y="10104121"/>
            <a:ext cx="3" cy="335284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03" name="Freeform 56"/>
          <p:cNvSpPr/>
          <p:nvPr/>
        </p:nvSpPr>
        <p:spPr>
          <a:xfrm>
            <a:off x="6228517" y="10104121"/>
            <a:ext cx="4" cy="335284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04" name="Freeform 57"/>
          <p:cNvSpPr/>
          <p:nvPr/>
        </p:nvSpPr>
        <p:spPr>
          <a:xfrm>
            <a:off x="3204778" y="10104121"/>
            <a:ext cx="4" cy="335284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05" name="Rectangle 24"/>
          <p:cNvSpPr txBox="1"/>
          <p:nvPr/>
        </p:nvSpPr>
        <p:spPr>
          <a:xfrm>
            <a:off x="271007" y="10249420"/>
            <a:ext cx="2888053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Technology </a:t>
            </a:r>
          </a:p>
        </p:txBody>
      </p:sp>
      <p:sp>
        <p:nvSpPr>
          <p:cNvPr id="1606" name="Rectangle 25"/>
          <p:cNvSpPr txBox="1"/>
          <p:nvPr/>
        </p:nvSpPr>
        <p:spPr>
          <a:xfrm>
            <a:off x="3250501" y="10249612"/>
            <a:ext cx="2924494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Frequency Band</a:t>
            </a:r>
          </a:p>
        </p:txBody>
      </p:sp>
      <p:sp>
        <p:nvSpPr>
          <p:cNvPr id="1607" name="Rectangle 26"/>
          <p:cNvSpPr txBox="1"/>
          <p:nvPr/>
        </p:nvSpPr>
        <p:spPr>
          <a:xfrm>
            <a:off x="6272324" y="10254543"/>
            <a:ext cx="2901971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Plot</a:t>
            </a:r>
          </a:p>
        </p:txBody>
      </p:sp>
      <p:sp>
        <p:nvSpPr>
          <p:cNvPr id="1608" name="Rectangle 27"/>
          <p:cNvSpPr txBox="1"/>
          <p:nvPr/>
        </p:nvSpPr>
        <p:spPr>
          <a:xfrm>
            <a:off x="9273537" y="10246400"/>
            <a:ext cx="2912501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Floor Level</a:t>
            </a:r>
          </a:p>
        </p:txBody>
      </p:sp>
      <p:sp>
        <p:nvSpPr>
          <p:cNvPr id="1609" name="Rectangle 28"/>
          <p:cNvSpPr txBox="1"/>
          <p:nvPr/>
        </p:nvSpPr>
        <p:spPr>
          <a:xfrm>
            <a:off x="1031881" y="10077207"/>
            <a:ext cx="1398603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UMTS</a:t>
            </a:r>
          </a:p>
        </p:txBody>
      </p:sp>
      <p:sp>
        <p:nvSpPr>
          <p:cNvPr id="1610" name="Freeform 62"/>
          <p:cNvSpPr/>
          <p:nvPr/>
        </p:nvSpPr>
        <p:spPr>
          <a:xfrm>
            <a:off x="12230100" y="702182"/>
            <a:ext cx="2646003" cy="3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11" name="Rectangle 30"/>
          <p:cNvSpPr txBox="1"/>
          <p:nvPr/>
        </p:nvSpPr>
        <p:spPr>
          <a:xfrm>
            <a:off x="12279307" y="937505"/>
            <a:ext cx="2545053" cy="1774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7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OPERATOR: </a:t>
            </a:r>
          </a:p>
        </p:txBody>
      </p:sp>
      <p:sp>
        <p:nvSpPr>
          <p:cNvPr id="1612" name="Freeform 64"/>
          <p:cNvSpPr/>
          <p:nvPr/>
        </p:nvSpPr>
        <p:spPr>
          <a:xfrm>
            <a:off x="12233909" y="1422262"/>
            <a:ext cx="2640334" cy="3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grpSp>
        <p:nvGrpSpPr>
          <p:cNvPr id="1615" name="Rectangle 87"/>
          <p:cNvGrpSpPr/>
          <p:nvPr/>
        </p:nvGrpSpPr>
        <p:grpSpPr>
          <a:xfrm>
            <a:off x="12242777" y="5445642"/>
            <a:ext cx="2627302" cy="392467"/>
            <a:chOff x="-1" y="0"/>
            <a:chExt cx="2627301" cy="392465"/>
          </a:xfrm>
        </p:grpSpPr>
        <p:sp>
          <p:nvSpPr>
            <p:cNvPr id="1613" name="Rectangle"/>
            <p:cNvSpPr/>
            <p:nvPr/>
          </p:nvSpPr>
          <p:spPr>
            <a:xfrm>
              <a:off x="-2" y="34217"/>
              <a:ext cx="2627302" cy="324043"/>
            </a:xfrm>
            <a:prstGeom prst="rect">
              <a:avLst/>
            </a:prstGeom>
            <a:solidFill>
              <a:srgbClr val="4472C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614" name="UMTS"/>
            <p:cNvSpPr txBox="1"/>
            <p:nvPr/>
          </p:nvSpPr>
          <p:spPr>
            <a:xfrm>
              <a:off x="45718" y="-1"/>
              <a:ext cx="2535862" cy="39246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b="1" sz="24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UMTS</a:t>
              </a:r>
            </a:p>
          </p:txBody>
        </p:sp>
      </p:grpSp>
      <p:sp>
        <p:nvSpPr>
          <p:cNvPr id="1616" name="Rectangle 88"/>
          <p:cNvSpPr txBox="1"/>
          <p:nvPr/>
        </p:nvSpPr>
        <p:spPr>
          <a:xfrm>
            <a:off x="12277787" y="1578682"/>
            <a:ext cx="535693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LEGEND</a:t>
            </a:r>
          </a:p>
        </p:txBody>
      </p:sp>
      <p:grpSp>
        <p:nvGrpSpPr>
          <p:cNvPr id="1639" name="Group 89"/>
          <p:cNvGrpSpPr/>
          <p:nvPr/>
        </p:nvGrpSpPr>
        <p:grpSpPr>
          <a:xfrm>
            <a:off x="12298339" y="1788077"/>
            <a:ext cx="1247310" cy="2247726"/>
            <a:chOff x="0" y="-1"/>
            <a:chExt cx="1247308" cy="2247724"/>
          </a:xfrm>
        </p:grpSpPr>
        <p:sp>
          <p:nvSpPr>
            <p:cNvPr id="1617" name="Straight Connector 90"/>
            <p:cNvSpPr/>
            <p:nvPr/>
          </p:nvSpPr>
          <p:spPr>
            <a:xfrm>
              <a:off x="593501" y="1946115"/>
              <a:ext cx="180003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618" name="Straight Connector 91"/>
            <p:cNvSpPr/>
            <p:nvPr/>
          </p:nvSpPr>
          <p:spPr>
            <a:xfrm>
              <a:off x="593501" y="1578450"/>
              <a:ext cx="180003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619" name="Straight Connector 92"/>
            <p:cNvSpPr/>
            <p:nvPr/>
          </p:nvSpPr>
          <p:spPr>
            <a:xfrm>
              <a:off x="593501" y="1397475"/>
              <a:ext cx="180003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620" name="Straight Connector 93"/>
            <p:cNvSpPr/>
            <p:nvPr/>
          </p:nvSpPr>
          <p:spPr>
            <a:xfrm>
              <a:off x="593501" y="1214595"/>
              <a:ext cx="180003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621" name="Straight Connector 94"/>
            <p:cNvSpPr/>
            <p:nvPr/>
          </p:nvSpPr>
          <p:spPr>
            <a:xfrm>
              <a:off x="593501" y="1029807"/>
              <a:ext cx="180003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622" name="Straight Connector 95"/>
            <p:cNvSpPr/>
            <p:nvPr/>
          </p:nvSpPr>
          <p:spPr>
            <a:xfrm>
              <a:off x="593501" y="846927"/>
              <a:ext cx="180003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623" name="Straight Connector 96"/>
            <p:cNvSpPr/>
            <p:nvPr/>
          </p:nvSpPr>
          <p:spPr>
            <a:xfrm>
              <a:off x="593501" y="662142"/>
              <a:ext cx="180003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624" name="Straight Connector 97"/>
            <p:cNvSpPr/>
            <p:nvPr/>
          </p:nvSpPr>
          <p:spPr>
            <a:xfrm>
              <a:off x="593501" y="483072"/>
              <a:ext cx="180003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625" name="Straight Connector 98"/>
            <p:cNvSpPr/>
            <p:nvPr/>
          </p:nvSpPr>
          <p:spPr>
            <a:xfrm>
              <a:off x="593501" y="1761330"/>
              <a:ext cx="180003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pic>
          <p:nvPicPr>
            <p:cNvPr id="1626" name="Picture 99" descr="Picture 99"/>
            <p:cNvPicPr>
              <a:picLocks noChangeAspect="1"/>
            </p:cNvPicPr>
            <p:nvPr/>
          </p:nvPicPr>
          <p:blipFill>
            <a:blip r:embed="rId2">
              <a:extLst/>
            </a:blip>
            <a:stretch>
              <a:fillRect/>
            </a:stretch>
          </p:blipFill>
          <p:spPr>
            <a:xfrm>
              <a:off x="58661" y="292572"/>
              <a:ext cx="624845" cy="1844047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627" name="TextBox 100"/>
            <p:cNvSpPr txBox="1"/>
            <p:nvPr/>
          </p:nvSpPr>
          <p:spPr>
            <a:xfrm>
              <a:off x="675496" y="2019216"/>
              <a:ext cx="326697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MIN</a:t>
              </a:r>
            </a:p>
          </p:txBody>
        </p:sp>
        <p:sp>
          <p:nvSpPr>
            <p:cNvPr id="1628" name="TextBox 101"/>
            <p:cNvSpPr txBox="1"/>
            <p:nvPr/>
          </p:nvSpPr>
          <p:spPr>
            <a:xfrm>
              <a:off x="819222" y="356154"/>
              <a:ext cx="363718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-55</a:t>
              </a:r>
            </a:p>
          </p:txBody>
        </p:sp>
        <p:sp>
          <p:nvSpPr>
            <p:cNvPr id="1629" name="TextBox 102"/>
            <p:cNvSpPr txBox="1"/>
            <p:nvPr/>
          </p:nvSpPr>
          <p:spPr>
            <a:xfrm>
              <a:off x="819222" y="540936"/>
              <a:ext cx="363718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-65</a:t>
              </a:r>
            </a:p>
          </p:txBody>
        </p:sp>
        <p:sp>
          <p:nvSpPr>
            <p:cNvPr id="1630" name="TextBox 103"/>
            <p:cNvSpPr txBox="1"/>
            <p:nvPr/>
          </p:nvSpPr>
          <p:spPr>
            <a:xfrm>
              <a:off x="819222" y="723818"/>
              <a:ext cx="363718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-77</a:t>
              </a:r>
            </a:p>
          </p:txBody>
        </p:sp>
        <p:sp>
          <p:nvSpPr>
            <p:cNvPr id="1631" name="TextBox 104"/>
            <p:cNvSpPr txBox="1"/>
            <p:nvPr/>
          </p:nvSpPr>
          <p:spPr>
            <a:xfrm>
              <a:off x="819222" y="908602"/>
              <a:ext cx="363718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-87</a:t>
              </a:r>
            </a:p>
          </p:txBody>
        </p:sp>
        <p:sp>
          <p:nvSpPr>
            <p:cNvPr id="1632" name="TextBox 105"/>
            <p:cNvSpPr txBox="1"/>
            <p:nvPr/>
          </p:nvSpPr>
          <p:spPr>
            <a:xfrm>
              <a:off x="819222" y="1089577"/>
              <a:ext cx="363718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-97</a:t>
              </a:r>
            </a:p>
          </p:txBody>
        </p:sp>
        <p:sp>
          <p:nvSpPr>
            <p:cNvPr id="1633" name="TextBox 106"/>
            <p:cNvSpPr txBox="1"/>
            <p:nvPr/>
          </p:nvSpPr>
          <p:spPr>
            <a:xfrm>
              <a:off x="819222" y="1274363"/>
              <a:ext cx="428086" cy="2285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-100</a:t>
              </a:r>
            </a:p>
          </p:txBody>
        </p:sp>
        <p:sp>
          <p:nvSpPr>
            <p:cNvPr id="1634" name="TextBox 107"/>
            <p:cNvSpPr txBox="1"/>
            <p:nvPr/>
          </p:nvSpPr>
          <p:spPr>
            <a:xfrm>
              <a:off x="817818" y="1453437"/>
              <a:ext cx="428086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-106</a:t>
              </a:r>
            </a:p>
          </p:txBody>
        </p:sp>
        <p:sp>
          <p:nvSpPr>
            <p:cNvPr id="1635" name="TextBox 108"/>
            <p:cNvSpPr txBox="1"/>
            <p:nvPr/>
          </p:nvSpPr>
          <p:spPr>
            <a:xfrm>
              <a:off x="817818" y="1638221"/>
              <a:ext cx="428086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-109</a:t>
              </a:r>
            </a:p>
          </p:txBody>
        </p:sp>
        <p:sp>
          <p:nvSpPr>
            <p:cNvPr id="1636" name="TextBox 109"/>
            <p:cNvSpPr txBox="1"/>
            <p:nvPr/>
          </p:nvSpPr>
          <p:spPr>
            <a:xfrm>
              <a:off x="817818" y="1817294"/>
              <a:ext cx="428086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-112</a:t>
              </a:r>
            </a:p>
          </p:txBody>
        </p:sp>
        <p:sp>
          <p:nvSpPr>
            <p:cNvPr id="1637" name="TextBox 110"/>
            <p:cNvSpPr txBox="1"/>
            <p:nvPr/>
          </p:nvSpPr>
          <p:spPr>
            <a:xfrm>
              <a:off x="675495" y="169461"/>
              <a:ext cx="352122" cy="2285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MAX</a:t>
              </a:r>
            </a:p>
          </p:txBody>
        </p:sp>
        <p:sp>
          <p:nvSpPr>
            <p:cNvPr id="1638" name="TextBox 111"/>
            <p:cNvSpPr txBox="1"/>
            <p:nvPr/>
          </p:nvSpPr>
          <p:spPr>
            <a:xfrm>
              <a:off x="-1" y="-2"/>
              <a:ext cx="1076280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algn="ctr">
                <a:defRPr b="1" sz="1000" u="sng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UMTS RSCP (dBm)</a:t>
              </a:r>
            </a:p>
          </p:txBody>
        </p:sp>
      </p:grpSp>
      <p:grpSp>
        <p:nvGrpSpPr>
          <p:cNvPr id="1657" name="Group 57"/>
          <p:cNvGrpSpPr/>
          <p:nvPr/>
        </p:nvGrpSpPr>
        <p:grpSpPr>
          <a:xfrm>
            <a:off x="13542632" y="1750180"/>
            <a:ext cx="1176902" cy="1391543"/>
            <a:chOff x="0" y="-1"/>
            <a:chExt cx="1176901" cy="1391541"/>
          </a:xfrm>
        </p:grpSpPr>
        <p:grpSp>
          <p:nvGrpSpPr>
            <p:cNvPr id="1645" name="Group 58"/>
            <p:cNvGrpSpPr/>
            <p:nvPr/>
          </p:nvGrpSpPr>
          <p:grpSpPr>
            <a:xfrm>
              <a:off x="143986" y="410683"/>
              <a:ext cx="619350" cy="879879"/>
              <a:chOff x="-1" y="-1"/>
              <a:chExt cx="619349" cy="879878"/>
            </a:xfrm>
          </p:grpSpPr>
          <p:sp>
            <p:nvSpPr>
              <p:cNvPr id="1640" name="Rectangle 70"/>
              <p:cNvSpPr/>
              <p:nvPr/>
            </p:nvSpPr>
            <p:spPr>
              <a:xfrm>
                <a:off x="-2" y="-2"/>
                <a:ext cx="619003" cy="177168"/>
              </a:xfrm>
              <a:prstGeom prst="rect">
                <a:avLst/>
              </a:prstGeom>
              <a:solidFill>
                <a:srgbClr val="28E3FC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1641" name="Rectangle 71"/>
              <p:cNvSpPr/>
              <p:nvPr/>
            </p:nvSpPr>
            <p:spPr>
              <a:xfrm>
                <a:off x="-2" y="177166"/>
                <a:ext cx="619003" cy="177168"/>
              </a:xfrm>
              <a:prstGeom prst="rect">
                <a:avLst/>
              </a:prstGeom>
              <a:solidFill>
                <a:srgbClr val="00FF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1642" name="Rectangle 72"/>
              <p:cNvSpPr/>
              <p:nvPr/>
            </p:nvSpPr>
            <p:spPr>
              <a:xfrm>
                <a:off x="346" y="354330"/>
                <a:ext cx="619003" cy="177168"/>
              </a:xfrm>
              <a:prstGeom prst="rect">
                <a:avLst/>
              </a:prstGeom>
              <a:solidFill>
                <a:srgbClr val="FFFF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1643" name="Rectangle 73"/>
              <p:cNvSpPr/>
              <p:nvPr/>
            </p:nvSpPr>
            <p:spPr>
              <a:xfrm>
                <a:off x="346" y="531496"/>
                <a:ext cx="619003" cy="177169"/>
              </a:xfrm>
              <a:prstGeom prst="rect">
                <a:avLst/>
              </a:prstGeom>
              <a:solidFill>
                <a:srgbClr val="FFC0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1644" name="Rectangle 74"/>
              <p:cNvSpPr/>
              <p:nvPr/>
            </p:nvSpPr>
            <p:spPr>
              <a:xfrm>
                <a:off x="346" y="702710"/>
                <a:ext cx="619003" cy="177168"/>
              </a:xfrm>
              <a:prstGeom prst="rect">
                <a:avLst/>
              </a:prstGeom>
              <a:solidFill>
                <a:srgbClr val="FF00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</p:grpSp>
        <p:sp>
          <p:nvSpPr>
            <p:cNvPr id="1646" name="Straight Connector 59"/>
            <p:cNvSpPr/>
            <p:nvPr/>
          </p:nvSpPr>
          <p:spPr>
            <a:xfrm>
              <a:off x="677559" y="942180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647" name="Straight Connector 60"/>
            <p:cNvSpPr/>
            <p:nvPr/>
          </p:nvSpPr>
          <p:spPr>
            <a:xfrm>
              <a:off x="677559" y="765491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648" name="Straight Connector 61"/>
            <p:cNvSpPr/>
            <p:nvPr/>
          </p:nvSpPr>
          <p:spPr>
            <a:xfrm>
              <a:off x="677559" y="587850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649" name="Straight Connector 62"/>
            <p:cNvSpPr/>
            <p:nvPr/>
          </p:nvSpPr>
          <p:spPr>
            <a:xfrm>
              <a:off x="677559" y="1115535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650" name="TextBox 63"/>
            <p:cNvSpPr txBox="1"/>
            <p:nvPr/>
          </p:nvSpPr>
          <p:spPr>
            <a:xfrm>
              <a:off x="0" y="-2"/>
              <a:ext cx="1013464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algn="ctr" defTabSz="914371">
                <a:defRPr b="1" sz="1000" u="sng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UMTS Ec/No (dB)</a:t>
              </a:r>
            </a:p>
          </p:txBody>
        </p:sp>
        <p:sp>
          <p:nvSpPr>
            <p:cNvPr id="1651" name="TextBox 64"/>
            <p:cNvSpPr txBox="1"/>
            <p:nvPr/>
          </p:nvSpPr>
          <p:spPr>
            <a:xfrm>
              <a:off x="782342" y="286349"/>
              <a:ext cx="327379" cy="2285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Max</a:t>
              </a:r>
            </a:p>
          </p:txBody>
        </p:sp>
        <p:sp>
          <p:nvSpPr>
            <p:cNvPr id="1652" name="TextBox 65"/>
            <p:cNvSpPr txBox="1"/>
            <p:nvPr/>
          </p:nvSpPr>
          <p:spPr>
            <a:xfrm>
              <a:off x="845705" y="458250"/>
              <a:ext cx="270639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&gt;-4</a:t>
              </a:r>
            </a:p>
          </p:txBody>
        </p:sp>
        <p:sp>
          <p:nvSpPr>
            <p:cNvPr id="1653" name="TextBox 66"/>
            <p:cNvSpPr txBox="1"/>
            <p:nvPr/>
          </p:nvSpPr>
          <p:spPr>
            <a:xfrm>
              <a:off x="844120" y="624819"/>
              <a:ext cx="270639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&gt;-8</a:t>
              </a:r>
            </a:p>
          </p:txBody>
        </p:sp>
        <p:sp>
          <p:nvSpPr>
            <p:cNvPr id="1654" name="TextBox 67"/>
            <p:cNvSpPr txBox="1"/>
            <p:nvPr/>
          </p:nvSpPr>
          <p:spPr>
            <a:xfrm>
              <a:off x="841895" y="812581"/>
              <a:ext cx="335007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&gt;-10</a:t>
              </a:r>
            </a:p>
          </p:txBody>
        </p:sp>
        <p:sp>
          <p:nvSpPr>
            <p:cNvPr id="1655" name="TextBox 68"/>
            <p:cNvSpPr txBox="1"/>
            <p:nvPr/>
          </p:nvSpPr>
          <p:spPr>
            <a:xfrm>
              <a:off x="841574" y="998317"/>
              <a:ext cx="335007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&gt;-13</a:t>
              </a:r>
            </a:p>
          </p:txBody>
        </p:sp>
        <p:sp>
          <p:nvSpPr>
            <p:cNvPr id="1656" name="TextBox 69"/>
            <p:cNvSpPr txBox="1"/>
            <p:nvPr/>
          </p:nvSpPr>
          <p:spPr>
            <a:xfrm>
              <a:off x="799350" y="1163033"/>
              <a:ext cx="308590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Min</a:t>
              </a:r>
            </a:p>
          </p:txBody>
        </p:sp>
      </p:grpSp>
      <p:sp>
        <p:nvSpPr>
          <p:cNvPr id="1658" name="Slide Number"/>
          <p:cNvSpPr txBox="1"/>
          <p:nvPr>
            <p:ph type="sldNum" sz="quarter" idx="2"/>
          </p:nvPr>
        </p:nvSpPr>
        <p:spPr>
          <a:xfrm>
            <a:off x="10572364" y="9787047"/>
            <a:ext cx="258620" cy="248302"/>
          </a:xfrm>
          <a:prstGeom prst="rect">
            <a:avLst/>
          </a:prstGeom>
        </p:spPr>
        <p:txBody>
          <a:bodyPr lIns="45718" tIns="45718" rIns="45718" bIns="45718" anchor="ctr"/>
          <a:lstStyle>
            <a:lvl1pPr algn="r">
              <a:defRPr sz="12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TE Fu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5" name="TextBox 6"/>
          <p:cNvSpPr txBox="1"/>
          <p:nvPr/>
        </p:nvSpPr>
        <p:spPr>
          <a:xfrm>
            <a:off x="63497" y="10507980"/>
            <a:ext cx="77312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000000">
                    <a:alpha val="50000"/>
                  </a:srgbClr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[SEC=PROTECTED]</a:t>
            </a:r>
          </a:p>
        </p:txBody>
      </p:sp>
      <p:sp>
        <p:nvSpPr>
          <p:cNvPr id="1666" name="Freeform 16"/>
          <p:cNvSpPr/>
          <p:nvPr/>
        </p:nvSpPr>
        <p:spPr>
          <a:xfrm>
            <a:off x="225285" y="10099227"/>
            <a:ext cx="12006478" cy="1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67" name="Freeform 17"/>
          <p:cNvSpPr/>
          <p:nvPr/>
        </p:nvSpPr>
        <p:spPr>
          <a:xfrm>
            <a:off x="225285" y="10266044"/>
            <a:ext cx="12006478" cy="1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68" name="Freeform 55"/>
          <p:cNvSpPr/>
          <p:nvPr/>
        </p:nvSpPr>
        <p:spPr>
          <a:xfrm>
            <a:off x="9227818" y="10104121"/>
            <a:ext cx="3" cy="335284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69" name="Freeform 56"/>
          <p:cNvSpPr/>
          <p:nvPr/>
        </p:nvSpPr>
        <p:spPr>
          <a:xfrm>
            <a:off x="6228517" y="10104121"/>
            <a:ext cx="4" cy="335284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70" name="Freeform 57"/>
          <p:cNvSpPr/>
          <p:nvPr/>
        </p:nvSpPr>
        <p:spPr>
          <a:xfrm>
            <a:off x="3204778" y="10104121"/>
            <a:ext cx="4" cy="335284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71" name="Rectangle 58"/>
          <p:cNvSpPr txBox="1"/>
          <p:nvPr/>
        </p:nvSpPr>
        <p:spPr>
          <a:xfrm>
            <a:off x="271007" y="10249420"/>
            <a:ext cx="2888053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Technology </a:t>
            </a:r>
          </a:p>
        </p:txBody>
      </p:sp>
      <p:sp>
        <p:nvSpPr>
          <p:cNvPr id="1672" name="Rectangle 59"/>
          <p:cNvSpPr txBox="1"/>
          <p:nvPr/>
        </p:nvSpPr>
        <p:spPr>
          <a:xfrm>
            <a:off x="3250501" y="10249612"/>
            <a:ext cx="2924494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Frequency Band</a:t>
            </a:r>
          </a:p>
        </p:txBody>
      </p:sp>
      <p:sp>
        <p:nvSpPr>
          <p:cNvPr id="1673" name="Rectangle 60"/>
          <p:cNvSpPr txBox="1"/>
          <p:nvPr/>
        </p:nvSpPr>
        <p:spPr>
          <a:xfrm>
            <a:off x="6272324" y="10254543"/>
            <a:ext cx="2901971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Plot</a:t>
            </a:r>
          </a:p>
        </p:txBody>
      </p:sp>
      <p:sp>
        <p:nvSpPr>
          <p:cNvPr id="1674" name="Rectangle 61"/>
          <p:cNvSpPr txBox="1"/>
          <p:nvPr/>
        </p:nvSpPr>
        <p:spPr>
          <a:xfrm>
            <a:off x="9273537" y="10246400"/>
            <a:ext cx="2912501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Floor Level</a:t>
            </a:r>
          </a:p>
        </p:txBody>
      </p:sp>
      <p:sp>
        <p:nvSpPr>
          <p:cNvPr id="1675" name="Rectangle 62"/>
          <p:cNvSpPr txBox="1"/>
          <p:nvPr/>
        </p:nvSpPr>
        <p:spPr>
          <a:xfrm>
            <a:off x="1031881" y="10077207"/>
            <a:ext cx="1398603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LTE</a:t>
            </a:r>
          </a:p>
        </p:txBody>
      </p:sp>
      <p:sp>
        <p:nvSpPr>
          <p:cNvPr id="1676" name="Freeform 62"/>
          <p:cNvSpPr/>
          <p:nvPr/>
        </p:nvSpPr>
        <p:spPr>
          <a:xfrm>
            <a:off x="12230100" y="702182"/>
            <a:ext cx="2646003" cy="3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77" name="Rectangle 20"/>
          <p:cNvSpPr txBox="1"/>
          <p:nvPr/>
        </p:nvSpPr>
        <p:spPr>
          <a:xfrm>
            <a:off x="12279307" y="937505"/>
            <a:ext cx="2545053" cy="1774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7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OPERATOR: </a:t>
            </a:r>
          </a:p>
        </p:txBody>
      </p:sp>
      <p:sp>
        <p:nvSpPr>
          <p:cNvPr id="1678" name="Freeform 64"/>
          <p:cNvSpPr/>
          <p:nvPr/>
        </p:nvSpPr>
        <p:spPr>
          <a:xfrm>
            <a:off x="12233909" y="1422262"/>
            <a:ext cx="2640334" cy="3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79" name="Rectangle 22"/>
          <p:cNvSpPr txBox="1"/>
          <p:nvPr/>
        </p:nvSpPr>
        <p:spPr>
          <a:xfrm>
            <a:off x="12277790" y="1578682"/>
            <a:ext cx="535696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LEGEND</a:t>
            </a:r>
          </a:p>
        </p:txBody>
      </p:sp>
      <p:grpSp>
        <p:nvGrpSpPr>
          <p:cNvPr id="1702" name="Group 23"/>
          <p:cNvGrpSpPr/>
          <p:nvPr/>
        </p:nvGrpSpPr>
        <p:grpSpPr>
          <a:xfrm>
            <a:off x="12240474" y="1789724"/>
            <a:ext cx="1308273" cy="2247726"/>
            <a:chOff x="-1" y="-1"/>
            <a:chExt cx="1308272" cy="2247724"/>
          </a:xfrm>
        </p:grpSpPr>
        <p:sp>
          <p:nvSpPr>
            <p:cNvPr id="1680" name="Straight Connector 24"/>
            <p:cNvSpPr/>
            <p:nvPr/>
          </p:nvSpPr>
          <p:spPr>
            <a:xfrm>
              <a:off x="654463" y="1946116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681" name="Straight Connector 25"/>
            <p:cNvSpPr/>
            <p:nvPr/>
          </p:nvSpPr>
          <p:spPr>
            <a:xfrm>
              <a:off x="654463" y="1578451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682" name="Straight Connector 26"/>
            <p:cNvSpPr/>
            <p:nvPr/>
          </p:nvSpPr>
          <p:spPr>
            <a:xfrm>
              <a:off x="654463" y="1397476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683" name="Straight Connector 27"/>
            <p:cNvSpPr/>
            <p:nvPr/>
          </p:nvSpPr>
          <p:spPr>
            <a:xfrm>
              <a:off x="654463" y="1214596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684" name="Straight Connector 28"/>
            <p:cNvSpPr/>
            <p:nvPr/>
          </p:nvSpPr>
          <p:spPr>
            <a:xfrm>
              <a:off x="654463" y="1029807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685" name="Straight Connector 29"/>
            <p:cNvSpPr/>
            <p:nvPr/>
          </p:nvSpPr>
          <p:spPr>
            <a:xfrm>
              <a:off x="654463" y="846927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686" name="Straight Connector 30"/>
            <p:cNvSpPr/>
            <p:nvPr/>
          </p:nvSpPr>
          <p:spPr>
            <a:xfrm>
              <a:off x="654463" y="662142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687" name="Straight Connector 31"/>
            <p:cNvSpPr/>
            <p:nvPr/>
          </p:nvSpPr>
          <p:spPr>
            <a:xfrm>
              <a:off x="654463" y="483072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688" name="Straight Connector 32"/>
            <p:cNvSpPr/>
            <p:nvPr/>
          </p:nvSpPr>
          <p:spPr>
            <a:xfrm>
              <a:off x="654463" y="1761331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pic>
          <p:nvPicPr>
            <p:cNvPr id="1689" name="Picture 33" descr="Picture 33"/>
            <p:cNvPicPr>
              <a:picLocks noChangeAspect="1"/>
            </p:cNvPicPr>
            <p:nvPr/>
          </p:nvPicPr>
          <p:blipFill>
            <a:blip r:embed="rId2">
              <a:extLst/>
            </a:blip>
            <a:stretch>
              <a:fillRect/>
            </a:stretch>
          </p:blipFill>
          <p:spPr>
            <a:xfrm>
              <a:off x="119622" y="292572"/>
              <a:ext cx="624847" cy="184404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690" name="TextBox 34"/>
            <p:cNvSpPr txBox="1"/>
            <p:nvPr/>
          </p:nvSpPr>
          <p:spPr>
            <a:xfrm>
              <a:off x="736460" y="2019216"/>
              <a:ext cx="326697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MIN</a:t>
              </a:r>
            </a:p>
          </p:txBody>
        </p:sp>
        <p:sp>
          <p:nvSpPr>
            <p:cNvPr id="1691" name="TextBox 35"/>
            <p:cNvSpPr txBox="1"/>
            <p:nvPr/>
          </p:nvSpPr>
          <p:spPr>
            <a:xfrm>
              <a:off x="880185" y="356154"/>
              <a:ext cx="363718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-65</a:t>
              </a:r>
            </a:p>
          </p:txBody>
        </p:sp>
        <p:sp>
          <p:nvSpPr>
            <p:cNvPr id="1692" name="TextBox 36"/>
            <p:cNvSpPr txBox="1"/>
            <p:nvPr/>
          </p:nvSpPr>
          <p:spPr>
            <a:xfrm>
              <a:off x="880185" y="540935"/>
              <a:ext cx="363718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-80</a:t>
              </a:r>
            </a:p>
          </p:txBody>
        </p:sp>
        <p:sp>
          <p:nvSpPr>
            <p:cNvPr id="1693" name="TextBox 37"/>
            <p:cNvSpPr txBox="1"/>
            <p:nvPr/>
          </p:nvSpPr>
          <p:spPr>
            <a:xfrm>
              <a:off x="880185" y="723818"/>
              <a:ext cx="363718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-95</a:t>
              </a:r>
            </a:p>
          </p:txBody>
        </p:sp>
        <p:sp>
          <p:nvSpPr>
            <p:cNvPr id="1694" name="TextBox 38"/>
            <p:cNvSpPr txBox="1"/>
            <p:nvPr/>
          </p:nvSpPr>
          <p:spPr>
            <a:xfrm>
              <a:off x="880185" y="908602"/>
              <a:ext cx="428086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-105</a:t>
              </a:r>
            </a:p>
          </p:txBody>
        </p:sp>
        <p:sp>
          <p:nvSpPr>
            <p:cNvPr id="1695" name="TextBox 39"/>
            <p:cNvSpPr txBox="1"/>
            <p:nvPr/>
          </p:nvSpPr>
          <p:spPr>
            <a:xfrm>
              <a:off x="880186" y="1089578"/>
              <a:ext cx="428086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-110</a:t>
              </a:r>
            </a:p>
          </p:txBody>
        </p:sp>
        <p:sp>
          <p:nvSpPr>
            <p:cNvPr id="1696" name="TextBox 40"/>
            <p:cNvSpPr txBox="1"/>
            <p:nvPr/>
          </p:nvSpPr>
          <p:spPr>
            <a:xfrm>
              <a:off x="880186" y="1274364"/>
              <a:ext cx="428086" cy="2285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-113</a:t>
              </a:r>
            </a:p>
          </p:txBody>
        </p:sp>
        <p:sp>
          <p:nvSpPr>
            <p:cNvPr id="1697" name="TextBox 41"/>
            <p:cNvSpPr txBox="1"/>
            <p:nvPr/>
          </p:nvSpPr>
          <p:spPr>
            <a:xfrm>
              <a:off x="878783" y="1453438"/>
              <a:ext cx="428086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-116</a:t>
              </a:r>
            </a:p>
          </p:txBody>
        </p:sp>
        <p:sp>
          <p:nvSpPr>
            <p:cNvPr id="1698" name="TextBox 42"/>
            <p:cNvSpPr txBox="1"/>
            <p:nvPr/>
          </p:nvSpPr>
          <p:spPr>
            <a:xfrm>
              <a:off x="878783" y="1638222"/>
              <a:ext cx="428086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-118</a:t>
              </a:r>
            </a:p>
          </p:txBody>
        </p:sp>
        <p:sp>
          <p:nvSpPr>
            <p:cNvPr id="1699" name="TextBox 43"/>
            <p:cNvSpPr txBox="1"/>
            <p:nvPr/>
          </p:nvSpPr>
          <p:spPr>
            <a:xfrm>
              <a:off x="878783" y="1817296"/>
              <a:ext cx="428086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-121</a:t>
              </a:r>
            </a:p>
          </p:txBody>
        </p:sp>
        <p:sp>
          <p:nvSpPr>
            <p:cNvPr id="1700" name="TextBox 44"/>
            <p:cNvSpPr txBox="1"/>
            <p:nvPr/>
          </p:nvSpPr>
          <p:spPr>
            <a:xfrm>
              <a:off x="736460" y="169461"/>
              <a:ext cx="352121" cy="2285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MAX</a:t>
              </a:r>
            </a:p>
          </p:txBody>
        </p:sp>
        <p:sp>
          <p:nvSpPr>
            <p:cNvPr id="1701" name="TextBox 45"/>
            <p:cNvSpPr txBox="1"/>
            <p:nvPr/>
          </p:nvSpPr>
          <p:spPr>
            <a:xfrm>
              <a:off x="-2" y="-2"/>
              <a:ext cx="1076288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algn="ctr">
                <a:defRPr b="1" sz="1000" u="sng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LTE RSRP (dBm)</a:t>
              </a:r>
            </a:p>
          </p:txBody>
        </p:sp>
      </p:grpSp>
      <p:grpSp>
        <p:nvGrpSpPr>
          <p:cNvPr id="1705" name="Rectangle 77"/>
          <p:cNvGrpSpPr/>
          <p:nvPr/>
        </p:nvGrpSpPr>
        <p:grpSpPr>
          <a:xfrm>
            <a:off x="12242777" y="5445642"/>
            <a:ext cx="2627302" cy="392467"/>
            <a:chOff x="-1" y="0"/>
            <a:chExt cx="2627301" cy="392465"/>
          </a:xfrm>
        </p:grpSpPr>
        <p:sp>
          <p:nvSpPr>
            <p:cNvPr id="1703" name="Rectangle"/>
            <p:cNvSpPr/>
            <p:nvPr/>
          </p:nvSpPr>
          <p:spPr>
            <a:xfrm>
              <a:off x="-2" y="34217"/>
              <a:ext cx="2627302" cy="324043"/>
            </a:xfrm>
            <a:prstGeom prst="rect">
              <a:avLst/>
            </a:prstGeom>
            <a:solidFill>
              <a:srgbClr val="4472C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704" name="LTE"/>
            <p:cNvSpPr txBox="1"/>
            <p:nvPr/>
          </p:nvSpPr>
          <p:spPr>
            <a:xfrm>
              <a:off x="45718" y="-1"/>
              <a:ext cx="2535862" cy="39246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b="1" sz="24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LTE</a:t>
              </a:r>
            </a:p>
          </p:txBody>
        </p:sp>
      </p:grpSp>
      <p:grpSp>
        <p:nvGrpSpPr>
          <p:cNvPr id="1722" name="Group 63"/>
          <p:cNvGrpSpPr/>
          <p:nvPr/>
        </p:nvGrpSpPr>
        <p:grpSpPr>
          <a:xfrm>
            <a:off x="13452920" y="1801451"/>
            <a:ext cx="1269043" cy="1164245"/>
            <a:chOff x="0" y="0"/>
            <a:chExt cx="1269042" cy="1164244"/>
          </a:xfrm>
        </p:grpSpPr>
        <p:grpSp>
          <p:nvGrpSpPr>
            <p:cNvPr id="1711" name="Group 64"/>
            <p:cNvGrpSpPr/>
            <p:nvPr/>
          </p:nvGrpSpPr>
          <p:grpSpPr>
            <a:xfrm>
              <a:off x="255734" y="284359"/>
              <a:ext cx="619351" cy="879885"/>
              <a:chOff x="-1" y="-1"/>
              <a:chExt cx="619350" cy="879883"/>
            </a:xfrm>
          </p:grpSpPr>
          <p:sp>
            <p:nvSpPr>
              <p:cNvPr id="1706" name="Rectangle 84"/>
              <p:cNvSpPr/>
              <p:nvPr/>
            </p:nvSpPr>
            <p:spPr>
              <a:xfrm>
                <a:off x="-2" y="-2"/>
                <a:ext cx="619002" cy="177169"/>
              </a:xfrm>
              <a:prstGeom prst="rect">
                <a:avLst/>
              </a:prstGeom>
              <a:solidFill>
                <a:srgbClr val="28E3FC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1707" name="Rectangle 85"/>
              <p:cNvSpPr/>
              <p:nvPr/>
            </p:nvSpPr>
            <p:spPr>
              <a:xfrm>
                <a:off x="-1" y="177166"/>
                <a:ext cx="619002" cy="177169"/>
              </a:xfrm>
              <a:prstGeom prst="rect">
                <a:avLst/>
              </a:prstGeom>
              <a:solidFill>
                <a:srgbClr val="00FF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1708" name="Rectangle 86"/>
              <p:cNvSpPr/>
              <p:nvPr/>
            </p:nvSpPr>
            <p:spPr>
              <a:xfrm>
                <a:off x="347" y="354334"/>
                <a:ext cx="619003" cy="177169"/>
              </a:xfrm>
              <a:prstGeom prst="rect">
                <a:avLst/>
              </a:prstGeom>
              <a:solidFill>
                <a:srgbClr val="FFFF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1709" name="Rectangle 87"/>
              <p:cNvSpPr/>
              <p:nvPr/>
            </p:nvSpPr>
            <p:spPr>
              <a:xfrm>
                <a:off x="347" y="531502"/>
                <a:ext cx="619003" cy="177169"/>
              </a:xfrm>
              <a:prstGeom prst="rect">
                <a:avLst/>
              </a:prstGeom>
              <a:solidFill>
                <a:srgbClr val="FFC0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1710" name="Rectangle 88"/>
              <p:cNvSpPr/>
              <p:nvPr/>
            </p:nvSpPr>
            <p:spPr>
              <a:xfrm>
                <a:off x="347" y="702714"/>
                <a:ext cx="619003" cy="177169"/>
              </a:xfrm>
              <a:prstGeom prst="rect">
                <a:avLst/>
              </a:prstGeom>
              <a:solidFill>
                <a:srgbClr val="FF00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</p:grpSp>
        <p:sp>
          <p:nvSpPr>
            <p:cNvPr id="1712" name="Straight Connector 66"/>
            <p:cNvSpPr/>
            <p:nvPr/>
          </p:nvSpPr>
          <p:spPr>
            <a:xfrm>
              <a:off x="811836" y="816674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713" name="Straight Connector 68"/>
            <p:cNvSpPr/>
            <p:nvPr/>
          </p:nvSpPr>
          <p:spPr>
            <a:xfrm>
              <a:off x="812085" y="638696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714" name="Straight Connector 69"/>
            <p:cNvSpPr/>
            <p:nvPr/>
          </p:nvSpPr>
          <p:spPr>
            <a:xfrm>
              <a:off x="812085" y="461528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715" name="Straight Connector 70"/>
            <p:cNvSpPr/>
            <p:nvPr/>
          </p:nvSpPr>
          <p:spPr>
            <a:xfrm>
              <a:off x="830246" y="987073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716" name="TextBox 78"/>
            <p:cNvSpPr txBox="1"/>
            <p:nvPr/>
          </p:nvSpPr>
          <p:spPr>
            <a:xfrm>
              <a:off x="-1" y="-1"/>
              <a:ext cx="1013466" cy="2285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algn="ctr" defTabSz="914371">
                <a:defRPr b="1" sz="1000" u="sng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SNIR (dB)</a:t>
              </a:r>
            </a:p>
          </p:txBody>
        </p:sp>
        <p:sp>
          <p:nvSpPr>
            <p:cNvPr id="1717" name="TextBox 79"/>
            <p:cNvSpPr txBox="1"/>
            <p:nvPr/>
          </p:nvSpPr>
          <p:spPr>
            <a:xfrm>
              <a:off x="880763" y="136855"/>
              <a:ext cx="333531" cy="2285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Max</a:t>
              </a:r>
            </a:p>
          </p:txBody>
        </p:sp>
        <p:sp>
          <p:nvSpPr>
            <p:cNvPr id="1718" name="TextBox 80"/>
            <p:cNvSpPr txBox="1"/>
            <p:nvPr/>
          </p:nvSpPr>
          <p:spPr>
            <a:xfrm>
              <a:off x="935954" y="339738"/>
              <a:ext cx="324837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 &gt;20</a:t>
              </a:r>
            </a:p>
          </p:txBody>
        </p:sp>
        <p:sp>
          <p:nvSpPr>
            <p:cNvPr id="1719" name="TextBox 81"/>
            <p:cNvSpPr txBox="1"/>
            <p:nvPr/>
          </p:nvSpPr>
          <p:spPr>
            <a:xfrm>
              <a:off x="944205" y="523745"/>
              <a:ext cx="324837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 &gt;14</a:t>
              </a:r>
            </a:p>
          </p:txBody>
        </p:sp>
        <p:sp>
          <p:nvSpPr>
            <p:cNvPr id="1720" name="TextBox 82"/>
            <p:cNvSpPr txBox="1"/>
            <p:nvPr/>
          </p:nvSpPr>
          <p:spPr>
            <a:xfrm>
              <a:off x="980236" y="695085"/>
              <a:ext cx="260469" cy="2285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6</a:t>
              </a:r>
            </a:p>
          </p:txBody>
        </p:sp>
        <p:sp>
          <p:nvSpPr>
            <p:cNvPr id="1721" name="TextBox 83"/>
            <p:cNvSpPr txBox="1"/>
            <p:nvPr/>
          </p:nvSpPr>
          <p:spPr>
            <a:xfrm>
              <a:off x="977066" y="876827"/>
              <a:ext cx="260469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0</a:t>
              </a:r>
            </a:p>
          </p:txBody>
        </p:sp>
      </p:grpSp>
      <p:sp>
        <p:nvSpPr>
          <p:cNvPr id="1723" name="Slide Number"/>
          <p:cNvSpPr txBox="1"/>
          <p:nvPr>
            <p:ph type="sldNum" sz="quarter" idx="2"/>
          </p:nvPr>
        </p:nvSpPr>
        <p:spPr>
          <a:xfrm>
            <a:off x="10572364" y="9787047"/>
            <a:ext cx="258620" cy="248302"/>
          </a:xfrm>
          <a:prstGeom prst="rect">
            <a:avLst/>
          </a:prstGeom>
        </p:spPr>
        <p:txBody>
          <a:bodyPr lIns="45718" tIns="45718" rIns="45718" bIns="45718" anchor="ctr"/>
          <a:lstStyle>
            <a:lvl1pPr algn="r">
              <a:defRPr sz="12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LTE Fu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0" name="TextBox 6"/>
          <p:cNvSpPr txBox="1"/>
          <p:nvPr/>
        </p:nvSpPr>
        <p:spPr>
          <a:xfrm>
            <a:off x="63497" y="10507980"/>
            <a:ext cx="77312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000000">
                    <a:alpha val="50000"/>
                  </a:srgbClr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[SEC=PROTECTED]</a:t>
            </a:r>
          </a:p>
        </p:txBody>
      </p:sp>
      <p:sp>
        <p:nvSpPr>
          <p:cNvPr id="1731" name="Freeform 16"/>
          <p:cNvSpPr/>
          <p:nvPr/>
        </p:nvSpPr>
        <p:spPr>
          <a:xfrm>
            <a:off x="225285" y="10099227"/>
            <a:ext cx="12006478" cy="1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732" name="Freeform 17"/>
          <p:cNvSpPr/>
          <p:nvPr/>
        </p:nvSpPr>
        <p:spPr>
          <a:xfrm>
            <a:off x="225285" y="10266044"/>
            <a:ext cx="12006478" cy="1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733" name="Freeform 55"/>
          <p:cNvSpPr/>
          <p:nvPr/>
        </p:nvSpPr>
        <p:spPr>
          <a:xfrm>
            <a:off x="9227818" y="10104121"/>
            <a:ext cx="3" cy="335284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734" name="Freeform 56"/>
          <p:cNvSpPr/>
          <p:nvPr/>
        </p:nvSpPr>
        <p:spPr>
          <a:xfrm>
            <a:off x="6228517" y="10104121"/>
            <a:ext cx="4" cy="335284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735" name="Freeform 57"/>
          <p:cNvSpPr/>
          <p:nvPr/>
        </p:nvSpPr>
        <p:spPr>
          <a:xfrm>
            <a:off x="3204778" y="10104121"/>
            <a:ext cx="4" cy="335284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736" name="Rectangle 58"/>
          <p:cNvSpPr txBox="1"/>
          <p:nvPr/>
        </p:nvSpPr>
        <p:spPr>
          <a:xfrm>
            <a:off x="271007" y="10249420"/>
            <a:ext cx="2888053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Technology </a:t>
            </a:r>
          </a:p>
        </p:txBody>
      </p:sp>
      <p:sp>
        <p:nvSpPr>
          <p:cNvPr id="1737" name="Rectangle 59"/>
          <p:cNvSpPr txBox="1"/>
          <p:nvPr/>
        </p:nvSpPr>
        <p:spPr>
          <a:xfrm>
            <a:off x="3250501" y="10249612"/>
            <a:ext cx="2924494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Frequency Band</a:t>
            </a:r>
          </a:p>
        </p:txBody>
      </p:sp>
      <p:sp>
        <p:nvSpPr>
          <p:cNvPr id="1738" name="Rectangle 60"/>
          <p:cNvSpPr txBox="1"/>
          <p:nvPr/>
        </p:nvSpPr>
        <p:spPr>
          <a:xfrm>
            <a:off x="6272324" y="10254543"/>
            <a:ext cx="2901971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Plot</a:t>
            </a:r>
          </a:p>
        </p:txBody>
      </p:sp>
      <p:sp>
        <p:nvSpPr>
          <p:cNvPr id="1739" name="Rectangle 61"/>
          <p:cNvSpPr txBox="1"/>
          <p:nvPr/>
        </p:nvSpPr>
        <p:spPr>
          <a:xfrm>
            <a:off x="9273537" y="10246400"/>
            <a:ext cx="2912501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Floor Level</a:t>
            </a:r>
          </a:p>
        </p:txBody>
      </p:sp>
      <p:sp>
        <p:nvSpPr>
          <p:cNvPr id="1740" name="Rectangle 62"/>
          <p:cNvSpPr txBox="1"/>
          <p:nvPr/>
        </p:nvSpPr>
        <p:spPr>
          <a:xfrm>
            <a:off x="1031881" y="10077207"/>
            <a:ext cx="1398603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5GNR</a:t>
            </a:r>
          </a:p>
        </p:txBody>
      </p:sp>
      <p:sp>
        <p:nvSpPr>
          <p:cNvPr id="1741" name="Freeform 62"/>
          <p:cNvSpPr/>
          <p:nvPr/>
        </p:nvSpPr>
        <p:spPr>
          <a:xfrm>
            <a:off x="12230100" y="702182"/>
            <a:ext cx="2646003" cy="3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742" name="Rectangle 20"/>
          <p:cNvSpPr txBox="1"/>
          <p:nvPr/>
        </p:nvSpPr>
        <p:spPr>
          <a:xfrm>
            <a:off x="12279307" y="937505"/>
            <a:ext cx="2545053" cy="1774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7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OPERATOR: </a:t>
            </a:r>
          </a:p>
        </p:txBody>
      </p:sp>
      <p:sp>
        <p:nvSpPr>
          <p:cNvPr id="1743" name="Freeform 64"/>
          <p:cNvSpPr/>
          <p:nvPr/>
        </p:nvSpPr>
        <p:spPr>
          <a:xfrm>
            <a:off x="12233909" y="1422262"/>
            <a:ext cx="2640334" cy="3"/>
          </a:xfrm>
          <a:prstGeom prst="line">
            <a:avLst/>
          </a:prstGeom>
          <a:ln>
            <a:solidFill>
              <a:srgbClr val="000000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744" name="Rectangle 22"/>
          <p:cNvSpPr txBox="1"/>
          <p:nvPr/>
        </p:nvSpPr>
        <p:spPr>
          <a:xfrm>
            <a:off x="12277790" y="1578682"/>
            <a:ext cx="535696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LEGEND</a:t>
            </a:r>
          </a:p>
        </p:txBody>
      </p:sp>
      <p:grpSp>
        <p:nvGrpSpPr>
          <p:cNvPr id="1767" name="Group 23"/>
          <p:cNvGrpSpPr/>
          <p:nvPr/>
        </p:nvGrpSpPr>
        <p:grpSpPr>
          <a:xfrm>
            <a:off x="12240474" y="1789724"/>
            <a:ext cx="1308273" cy="2247726"/>
            <a:chOff x="-1" y="-1"/>
            <a:chExt cx="1308272" cy="2247724"/>
          </a:xfrm>
        </p:grpSpPr>
        <p:sp>
          <p:nvSpPr>
            <p:cNvPr id="1745" name="Straight Connector 24"/>
            <p:cNvSpPr/>
            <p:nvPr/>
          </p:nvSpPr>
          <p:spPr>
            <a:xfrm>
              <a:off x="654463" y="1946116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746" name="Straight Connector 25"/>
            <p:cNvSpPr/>
            <p:nvPr/>
          </p:nvSpPr>
          <p:spPr>
            <a:xfrm>
              <a:off x="654463" y="1578451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747" name="Straight Connector 26"/>
            <p:cNvSpPr/>
            <p:nvPr/>
          </p:nvSpPr>
          <p:spPr>
            <a:xfrm>
              <a:off x="654463" y="1397476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748" name="Straight Connector 27"/>
            <p:cNvSpPr/>
            <p:nvPr/>
          </p:nvSpPr>
          <p:spPr>
            <a:xfrm>
              <a:off x="654463" y="1214596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749" name="Straight Connector 28"/>
            <p:cNvSpPr/>
            <p:nvPr/>
          </p:nvSpPr>
          <p:spPr>
            <a:xfrm>
              <a:off x="654463" y="1029807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750" name="Straight Connector 29"/>
            <p:cNvSpPr/>
            <p:nvPr/>
          </p:nvSpPr>
          <p:spPr>
            <a:xfrm>
              <a:off x="654463" y="846927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751" name="Straight Connector 30"/>
            <p:cNvSpPr/>
            <p:nvPr/>
          </p:nvSpPr>
          <p:spPr>
            <a:xfrm>
              <a:off x="654463" y="662142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752" name="Straight Connector 31"/>
            <p:cNvSpPr/>
            <p:nvPr/>
          </p:nvSpPr>
          <p:spPr>
            <a:xfrm>
              <a:off x="654463" y="483072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753" name="Straight Connector 32"/>
            <p:cNvSpPr/>
            <p:nvPr/>
          </p:nvSpPr>
          <p:spPr>
            <a:xfrm>
              <a:off x="654463" y="1761331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pic>
          <p:nvPicPr>
            <p:cNvPr id="1754" name="Picture 33" descr="Picture 33"/>
            <p:cNvPicPr>
              <a:picLocks noChangeAspect="1"/>
            </p:cNvPicPr>
            <p:nvPr/>
          </p:nvPicPr>
          <p:blipFill>
            <a:blip r:embed="rId2">
              <a:extLst/>
            </a:blip>
            <a:stretch>
              <a:fillRect/>
            </a:stretch>
          </p:blipFill>
          <p:spPr>
            <a:xfrm>
              <a:off x="119622" y="292572"/>
              <a:ext cx="624847" cy="184404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755" name="TextBox 34"/>
            <p:cNvSpPr txBox="1"/>
            <p:nvPr/>
          </p:nvSpPr>
          <p:spPr>
            <a:xfrm>
              <a:off x="736460" y="2019216"/>
              <a:ext cx="326697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MIN</a:t>
              </a:r>
            </a:p>
          </p:txBody>
        </p:sp>
        <p:sp>
          <p:nvSpPr>
            <p:cNvPr id="1756" name="TextBox 35"/>
            <p:cNvSpPr txBox="1"/>
            <p:nvPr/>
          </p:nvSpPr>
          <p:spPr>
            <a:xfrm>
              <a:off x="880185" y="356154"/>
              <a:ext cx="363718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-65</a:t>
              </a:r>
            </a:p>
          </p:txBody>
        </p:sp>
        <p:sp>
          <p:nvSpPr>
            <p:cNvPr id="1757" name="TextBox 36"/>
            <p:cNvSpPr txBox="1"/>
            <p:nvPr/>
          </p:nvSpPr>
          <p:spPr>
            <a:xfrm>
              <a:off x="880185" y="540935"/>
              <a:ext cx="363718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-80</a:t>
              </a:r>
            </a:p>
          </p:txBody>
        </p:sp>
        <p:sp>
          <p:nvSpPr>
            <p:cNvPr id="1758" name="TextBox 37"/>
            <p:cNvSpPr txBox="1"/>
            <p:nvPr/>
          </p:nvSpPr>
          <p:spPr>
            <a:xfrm>
              <a:off x="880185" y="723818"/>
              <a:ext cx="363718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-95</a:t>
              </a:r>
            </a:p>
          </p:txBody>
        </p:sp>
        <p:sp>
          <p:nvSpPr>
            <p:cNvPr id="1759" name="TextBox 38"/>
            <p:cNvSpPr txBox="1"/>
            <p:nvPr/>
          </p:nvSpPr>
          <p:spPr>
            <a:xfrm>
              <a:off x="880185" y="908602"/>
              <a:ext cx="428086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-105</a:t>
              </a:r>
            </a:p>
          </p:txBody>
        </p:sp>
        <p:sp>
          <p:nvSpPr>
            <p:cNvPr id="1760" name="TextBox 39"/>
            <p:cNvSpPr txBox="1"/>
            <p:nvPr/>
          </p:nvSpPr>
          <p:spPr>
            <a:xfrm>
              <a:off x="880186" y="1089578"/>
              <a:ext cx="428086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-110</a:t>
              </a:r>
            </a:p>
          </p:txBody>
        </p:sp>
        <p:sp>
          <p:nvSpPr>
            <p:cNvPr id="1761" name="TextBox 40"/>
            <p:cNvSpPr txBox="1"/>
            <p:nvPr/>
          </p:nvSpPr>
          <p:spPr>
            <a:xfrm>
              <a:off x="880186" y="1274364"/>
              <a:ext cx="428086" cy="2285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-113</a:t>
              </a:r>
            </a:p>
          </p:txBody>
        </p:sp>
        <p:sp>
          <p:nvSpPr>
            <p:cNvPr id="1762" name="TextBox 41"/>
            <p:cNvSpPr txBox="1"/>
            <p:nvPr/>
          </p:nvSpPr>
          <p:spPr>
            <a:xfrm>
              <a:off x="878783" y="1453438"/>
              <a:ext cx="428086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-116</a:t>
              </a:r>
            </a:p>
          </p:txBody>
        </p:sp>
        <p:sp>
          <p:nvSpPr>
            <p:cNvPr id="1763" name="TextBox 42"/>
            <p:cNvSpPr txBox="1"/>
            <p:nvPr/>
          </p:nvSpPr>
          <p:spPr>
            <a:xfrm>
              <a:off x="878783" y="1638222"/>
              <a:ext cx="428086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-118</a:t>
              </a:r>
            </a:p>
          </p:txBody>
        </p:sp>
        <p:sp>
          <p:nvSpPr>
            <p:cNvPr id="1764" name="TextBox 43"/>
            <p:cNvSpPr txBox="1"/>
            <p:nvPr/>
          </p:nvSpPr>
          <p:spPr>
            <a:xfrm>
              <a:off x="878783" y="1817296"/>
              <a:ext cx="428086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-121</a:t>
              </a:r>
            </a:p>
          </p:txBody>
        </p:sp>
        <p:sp>
          <p:nvSpPr>
            <p:cNvPr id="1765" name="TextBox 44"/>
            <p:cNvSpPr txBox="1"/>
            <p:nvPr/>
          </p:nvSpPr>
          <p:spPr>
            <a:xfrm>
              <a:off x="736460" y="169461"/>
              <a:ext cx="352121" cy="2285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MAX</a:t>
              </a:r>
            </a:p>
          </p:txBody>
        </p:sp>
        <p:sp>
          <p:nvSpPr>
            <p:cNvPr id="1766" name="TextBox 45"/>
            <p:cNvSpPr txBox="1"/>
            <p:nvPr/>
          </p:nvSpPr>
          <p:spPr>
            <a:xfrm>
              <a:off x="-2" y="-2"/>
              <a:ext cx="1076288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algn="ctr">
                <a:defRPr b="1" sz="1000" u="sng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SS-RSRP (dBm)</a:t>
              </a:r>
            </a:p>
          </p:txBody>
        </p:sp>
      </p:grpSp>
      <p:grpSp>
        <p:nvGrpSpPr>
          <p:cNvPr id="1770" name="Rectangle 77"/>
          <p:cNvGrpSpPr/>
          <p:nvPr/>
        </p:nvGrpSpPr>
        <p:grpSpPr>
          <a:xfrm>
            <a:off x="12242777" y="5445642"/>
            <a:ext cx="2627302" cy="392467"/>
            <a:chOff x="-1" y="0"/>
            <a:chExt cx="2627301" cy="392465"/>
          </a:xfrm>
        </p:grpSpPr>
        <p:sp>
          <p:nvSpPr>
            <p:cNvPr id="1768" name="Rectangle"/>
            <p:cNvSpPr/>
            <p:nvPr/>
          </p:nvSpPr>
          <p:spPr>
            <a:xfrm>
              <a:off x="-2" y="34217"/>
              <a:ext cx="2627302" cy="324043"/>
            </a:xfrm>
            <a:prstGeom prst="rect">
              <a:avLst/>
            </a:prstGeom>
            <a:solidFill>
              <a:srgbClr val="4472C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769" name="5GNR"/>
            <p:cNvSpPr txBox="1"/>
            <p:nvPr/>
          </p:nvSpPr>
          <p:spPr>
            <a:xfrm>
              <a:off x="45718" y="-1"/>
              <a:ext cx="2535862" cy="39246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b="1" sz="24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5GNR</a:t>
              </a:r>
            </a:p>
          </p:txBody>
        </p:sp>
      </p:grpSp>
      <p:grpSp>
        <p:nvGrpSpPr>
          <p:cNvPr id="1787" name="Group 63"/>
          <p:cNvGrpSpPr/>
          <p:nvPr/>
        </p:nvGrpSpPr>
        <p:grpSpPr>
          <a:xfrm>
            <a:off x="13533352" y="1801451"/>
            <a:ext cx="1188613" cy="1164245"/>
            <a:chOff x="0" y="0"/>
            <a:chExt cx="1188612" cy="1164244"/>
          </a:xfrm>
        </p:grpSpPr>
        <p:grpSp>
          <p:nvGrpSpPr>
            <p:cNvPr id="1776" name="Group 64"/>
            <p:cNvGrpSpPr/>
            <p:nvPr/>
          </p:nvGrpSpPr>
          <p:grpSpPr>
            <a:xfrm>
              <a:off x="175306" y="284359"/>
              <a:ext cx="619350" cy="879885"/>
              <a:chOff x="0" y="-1"/>
              <a:chExt cx="619348" cy="879883"/>
            </a:xfrm>
          </p:grpSpPr>
          <p:sp>
            <p:nvSpPr>
              <p:cNvPr id="1771" name="Rectangle 84"/>
              <p:cNvSpPr/>
              <p:nvPr/>
            </p:nvSpPr>
            <p:spPr>
              <a:xfrm>
                <a:off x="0" y="-2"/>
                <a:ext cx="619000" cy="177169"/>
              </a:xfrm>
              <a:prstGeom prst="rect">
                <a:avLst/>
              </a:prstGeom>
              <a:solidFill>
                <a:srgbClr val="28E3FC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1772" name="Rectangle 85"/>
              <p:cNvSpPr/>
              <p:nvPr/>
            </p:nvSpPr>
            <p:spPr>
              <a:xfrm>
                <a:off x="1" y="177166"/>
                <a:ext cx="619000" cy="177169"/>
              </a:xfrm>
              <a:prstGeom prst="rect">
                <a:avLst/>
              </a:prstGeom>
              <a:solidFill>
                <a:srgbClr val="00FF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1773" name="Rectangle 86"/>
              <p:cNvSpPr/>
              <p:nvPr/>
            </p:nvSpPr>
            <p:spPr>
              <a:xfrm>
                <a:off x="349" y="354334"/>
                <a:ext cx="619000" cy="177169"/>
              </a:xfrm>
              <a:prstGeom prst="rect">
                <a:avLst/>
              </a:prstGeom>
              <a:solidFill>
                <a:srgbClr val="FFFF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1774" name="Rectangle 87"/>
              <p:cNvSpPr/>
              <p:nvPr/>
            </p:nvSpPr>
            <p:spPr>
              <a:xfrm>
                <a:off x="349" y="531502"/>
                <a:ext cx="619000" cy="177169"/>
              </a:xfrm>
              <a:prstGeom prst="rect">
                <a:avLst/>
              </a:prstGeom>
              <a:solidFill>
                <a:srgbClr val="FFC0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  <p:sp>
            <p:nvSpPr>
              <p:cNvPr id="1775" name="Rectangle 88"/>
              <p:cNvSpPr/>
              <p:nvPr/>
            </p:nvSpPr>
            <p:spPr>
              <a:xfrm>
                <a:off x="349" y="702714"/>
                <a:ext cx="619000" cy="177169"/>
              </a:xfrm>
              <a:prstGeom prst="rect">
                <a:avLst/>
              </a:prstGeom>
              <a:solidFill>
                <a:srgbClr val="FF00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371">
                  <a:defRPr sz="180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  <a:sym typeface="Calibri"/>
                  </a:defRPr>
                </a:pPr>
              </a:p>
            </p:txBody>
          </p:sp>
        </p:grpSp>
        <p:sp>
          <p:nvSpPr>
            <p:cNvPr id="1777" name="Straight Connector 66"/>
            <p:cNvSpPr/>
            <p:nvPr/>
          </p:nvSpPr>
          <p:spPr>
            <a:xfrm>
              <a:off x="731407" y="816674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778" name="Straight Connector 68"/>
            <p:cNvSpPr/>
            <p:nvPr/>
          </p:nvSpPr>
          <p:spPr>
            <a:xfrm>
              <a:off x="731656" y="638696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779" name="Straight Connector 69"/>
            <p:cNvSpPr/>
            <p:nvPr/>
          </p:nvSpPr>
          <p:spPr>
            <a:xfrm>
              <a:off x="731656" y="461528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780" name="Straight Connector 70"/>
            <p:cNvSpPr/>
            <p:nvPr/>
          </p:nvSpPr>
          <p:spPr>
            <a:xfrm>
              <a:off x="749818" y="987073"/>
              <a:ext cx="180004" cy="4"/>
            </a:xfrm>
            <a:prstGeom prst="line">
              <a:avLst/>
            </a:prstGeom>
            <a:noFill/>
            <a:ln w="635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/>
            </a:p>
          </p:txBody>
        </p:sp>
        <p:sp>
          <p:nvSpPr>
            <p:cNvPr id="1781" name="TextBox 78"/>
            <p:cNvSpPr txBox="1"/>
            <p:nvPr/>
          </p:nvSpPr>
          <p:spPr>
            <a:xfrm>
              <a:off x="0" y="-1"/>
              <a:ext cx="1013465" cy="2285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algn="ctr" defTabSz="914371">
                <a:defRPr b="1" sz="1000" u="sng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SS-SNIR (dB)</a:t>
              </a:r>
            </a:p>
          </p:txBody>
        </p:sp>
        <p:sp>
          <p:nvSpPr>
            <p:cNvPr id="1782" name="TextBox 79"/>
            <p:cNvSpPr txBox="1"/>
            <p:nvPr/>
          </p:nvSpPr>
          <p:spPr>
            <a:xfrm>
              <a:off x="800334" y="136855"/>
              <a:ext cx="333531" cy="2285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Max</a:t>
              </a:r>
            </a:p>
          </p:txBody>
        </p:sp>
        <p:sp>
          <p:nvSpPr>
            <p:cNvPr id="1783" name="TextBox 80"/>
            <p:cNvSpPr txBox="1"/>
            <p:nvPr/>
          </p:nvSpPr>
          <p:spPr>
            <a:xfrm>
              <a:off x="855525" y="339738"/>
              <a:ext cx="324837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 &gt;20</a:t>
              </a:r>
            </a:p>
          </p:txBody>
        </p:sp>
        <p:sp>
          <p:nvSpPr>
            <p:cNvPr id="1784" name="TextBox 81"/>
            <p:cNvSpPr txBox="1"/>
            <p:nvPr/>
          </p:nvSpPr>
          <p:spPr>
            <a:xfrm>
              <a:off x="863776" y="523745"/>
              <a:ext cx="324837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 &gt;14</a:t>
              </a:r>
            </a:p>
          </p:txBody>
        </p:sp>
        <p:sp>
          <p:nvSpPr>
            <p:cNvPr id="1785" name="TextBox 82"/>
            <p:cNvSpPr txBox="1"/>
            <p:nvPr/>
          </p:nvSpPr>
          <p:spPr>
            <a:xfrm>
              <a:off x="899807" y="695085"/>
              <a:ext cx="260469" cy="2285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6</a:t>
              </a:r>
            </a:p>
          </p:txBody>
        </p:sp>
        <p:sp>
          <p:nvSpPr>
            <p:cNvPr id="1786" name="TextBox 83"/>
            <p:cNvSpPr txBox="1"/>
            <p:nvPr/>
          </p:nvSpPr>
          <p:spPr>
            <a:xfrm>
              <a:off x="896637" y="876827"/>
              <a:ext cx="260469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914371">
                <a:defRPr sz="1000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&gt; 0</a:t>
              </a:r>
            </a:p>
          </p:txBody>
        </p:sp>
      </p:grpSp>
      <p:sp>
        <p:nvSpPr>
          <p:cNvPr id="1788" name="Slide Number"/>
          <p:cNvSpPr txBox="1"/>
          <p:nvPr>
            <p:ph type="sldNum" sz="quarter" idx="2"/>
          </p:nvPr>
        </p:nvSpPr>
        <p:spPr>
          <a:xfrm>
            <a:off x="10572364" y="9787047"/>
            <a:ext cx="258620" cy="248302"/>
          </a:xfrm>
          <a:prstGeom prst="rect">
            <a:avLst/>
          </a:prstGeom>
        </p:spPr>
        <p:txBody>
          <a:bodyPr lIns="45718" tIns="45718" rIns="45718" bIns="45718" anchor="ctr"/>
          <a:lstStyle>
            <a:lvl1pPr algn="r">
              <a:defRPr sz="12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5.xml"/><Relationship Id="rId18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7.xml"/><Relationship Id="rId20" Type="http://schemas.openxmlformats.org/officeDocument/2006/relationships/slideLayout" Target="../slideLayouts/slideLayout18.xml"/><Relationship Id="rId21" Type="http://schemas.openxmlformats.org/officeDocument/2006/relationships/slideLayout" Target="../slideLayouts/slideLayout19.xml"/><Relationship Id="rId22" Type="http://schemas.openxmlformats.org/officeDocument/2006/relationships/slideLayout" Target="../slideLayouts/slideLayout20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66"/>
          <p:cNvSpPr txBox="1"/>
          <p:nvPr/>
        </p:nvSpPr>
        <p:spPr>
          <a:xfrm>
            <a:off x="13525788" y="9201184"/>
            <a:ext cx="130066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SHEET:</a:t>
            </a:r>
          </a:p>
        </p:txBody>
      </p:sp>
      <p:sp>
        <p:nvSpPr>
          <p:cNvPr id="3" name="Freeform 10"/>
          <p:cNvSpPr/>
          <p:nvPr/>
        </p:nvSpPr>
        <p:spPr>
          <a:xfrm flipH="1">
            <a:off x="12234861" y="209548"/>
            <a:ext cx="1" cy="10224004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" name="Freeform 11"/>
          <p:cNvSpPr/>
          <p:nvPr/>
        </p:nvSpPr>
        <p:spPr>
          <a:xfrm>
            <a:off x="12230100" y="702182"/>
            <a:ext cx="2646003" cy="3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" name="TextBox 15"/>
          <p:cNvSpPr txBox="1"/>
          <p:nvPr/>
        </p:nvSpPr>
        <p:spPr>
          <a:xfrm>
            <a:off x="12339755" y="6726997"/>
            <a:ext cx="2522705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400">
                <a:solidFill>
                  <a:srgbClr val="A6A6A6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RF PREDICTIONS</a:t>
            </a:r>
          </a:p>
        </p:txBody>
      </p:sp>
      <p:sp>
        <p:nvSpPr>
          <p:cNvPr id="6" name="TextBox 17"/>
          <p:cNvSpPr txBox="1"/>
          <p:nvPr/>
        </p:nvSpPr>
        <p:spPr>
          <a:xfrm>
            <a:off x="12253914" y="7872499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STATION</a:t>
            </a:r>
          </a:p>
        </p:txBody>
      </p:sp>
      <p:sp>
        <p:nvSpPr>
          <p:cNvPr id="7" name="Freeform 45"/>
          <p:cNvSpPr/>
          <p:nvPr/>
        </p:nvSpPr>
        <p:spPr>
          <a:xfrm>
            <a:off x="12230100" y="8848334"/>
            <a:ext cx="2646003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" name="Freeform 67"/>
          <p:cNvSpPr/>
          <p:nvPr/>
        </p:nvSpPr>
        <p:spPr>
          <a:xfrm>
            <a:off x="13545545" y="6970361"/>
            <a:ext cx="3" cy="890405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" name="TextBox 75"/>
          <p:cNvSpPr txBox="1"/>
          <p:nvPr/>
        </p:nvSpPr>
        <p:spPr>
          <a:xfrm>
            <a:off x="12234160" y="9470638"/>
            <a:ext cx="259229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DRAWING HISTORY</a:t>
            </a:r>
          </a:p>
        </p:txBody>
      </p:sp>
      <p:sp>
        <p:nvSpPr>
          <p:cNvPr id="10" name="Freeform 76"/>
          <p:cNvSpPr/>
          <p:nvPr/>
        </p:nvSpPr>
        <p:spPr>
          <a:xfrm>
            <a:off x="12233492" y="9612058"/>
            <a:ext cx="2636007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" name="TextBox 77"/>
          <p:cNvSpPr txBox="1"/>
          <p:nvPr/>
        </p:nvSpPr>
        <p:spPr>
          <a:xfrm>
            <a:off x="12507654" y="9632305"/>
            <a:ext cx="51028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DATE</a:t>
            </a:r>
          </a:p>
        </p:txBody>
      </p:sp>
      <p:sp>
        <p:nvSpPr>
          <p:cNvPr id="12" name="Freeform 79"/>
          <p:cNvSpPr/>
          <p:nvPr/>
        </p:nvSpPr>
        <p:spPr>
          <a:xfrm>
            <a:off x="12513692" y="9612117"/>
            <a:ext cx="4" cy="821437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" name="TextBox 80"/>
          <p:cNvSpPr txBox="1"/>
          <p:nvPr/>
        </p:nvSpPr>
        <p:spPr>
          <a:xfrm>
            <a:off x="12233491" y="9634148"/>
            <a:ext cx="26032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ISSUE</a:t>
            </a:r>
          </a:p>
        </p:txBody>
      </p:sp>
      <p:sp>
        <p:nvSpPr>
          <p:cNvPr id="14" name="Freeform 82"/>
          <p:cNvSpPr/>
          <p:nvPr/>
        </p:nvSpPr>
        <p:spPr>
          <a:xfrm>
            <a:off x="12236067" y="9736835"/>
            <a:ext cx="2636007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" name="Freeform 83"/>
          <p:cNvSpPr/>
          <p:nvPr/>
        </p:nvSpPr>
        <p:spPr>
          <a:xfrm>
            <a:off x="13052420" y="9614212"/>
            <a:ext cx="4" cy="824700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" name="TextBox 84"/>
          <p:cNvSpPr txBox="1"/>
          <p:nvPr/>
        </p:nvSpPr>
        <p:spPr>
          <a:xfrm>
            <a:off x="13058443" y="9631360"/>
            <a:ext cx="178161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DESCRIPTION</a:t>
            </a:r>
          </a:p>
        </p:txBody>
      </p:sp>
      <p:sp>
        <p:nvSpPr>
          <p:cNvPr id="17" name="Freeform 86"/>
          <p:cNvSpPr/>
          <p:nvPr/>
        </p:nvSpPr>
        <p:spPr>
          <a:xfrm>
            <a:off x="12237973" y="9877804"/>
            <a:ext cx="2636008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8" name="Freeform 87"/>
          <p:cNvSpPr/>
          <p:nvPr/>
        </p:nvSpPr>
        <p:spPr>
          <a:xfrm>
            <a:off x="12236067" y="9878180"/>
            <a:ext cx="2636007" cy="3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9" name="Freeform 88"/>
          <p:cNvSpPr/>
          <p:nvPr/>
        </p:nvSpPr>
        <p:spPr>
          <a:xfrm>
            <a:off x="12237973" y="10019151"/>
            <a:ext cx="2636008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" name="Freeform 90"/>
          <p:cNvSpPr/>
          <p:nvPr/>
        </p:nvSpPr>
        <p:spPr>
          <a:xfrm>
            <a:off x="12237973" y="10159355"/>
            <a:ext cx="2636008" cy="5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" name="Straight Connector 2"/>
          <p:cNvSpPr/>
          <p:nvPr/>
        </p:nvSpPr>
        <p:spPr>
          <a:xfrm>
            <a:off x="12237973" y="6966880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" name="Straight Connector 71"/>
          <p:cNvSpPr/>
          <p:nvPr/>
        </p:nvSpPr>
        <p:spPr>
          <a:xfrm>
            <a:off x="12237973" y="6678848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3" name="Freeform 90"/>
          <p:cNvSpPr/>
          <p:nvPr/>
        </p:nvSpPr>
        <p:spPr>
          <a:xfrm>
            <a:off x="12237973" y="10298666"/>
            <a:ext cx="2636008" cy="2"/>
          </a:xfrm>
          <a:prstGeom prst="line">
            <a:avLst/>
          </a:prstGeom>
          <a:ln w="3175"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4" name="TextBox 98"/>
          <p:cNvSpPr txBox="1"/>
          <p:nvPr/>
        </p:nvSpPr>
        <p:spPr>
          <a:xfrm>
            <a:off x="13070458" y="9889172"/>
            <a:ext cx="176304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 </a:t>
            </a:r>
          </a:p>
        </p:txBody>
      </p:sp>
      <p:sp>
        <p:nvSpPr>
          <p:cNvPr id="25" name="TextBox 74"/>
          <p:cNvSpPr txBox="1"/>
          <p:nvPr/>
        </p:nvSpPr>
        <p:spPr>
          <a:xfrm>
            <a:off x="12243182" y="9193193"/>
            <a:ext cx="126636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SCALE: </a:t>
            </a:r>
            <a:r>
              <a:rPr>
                <a:solidFill>
                  <a:srgbClr val="000000"/>
                </a:solidFill>
              </a:rPr>
              <a:t>NOT TO SCALE</a:t>
            </a:r>
          </a:p>
        </p:txBody>
      </p:sp>
      <p:sp>
        <p:nvSpPr>
          <p:cNvPr id="26" name="Freeform 47"/>
          <p:cNvSpPr/>
          <p:nvPr/>
        </p:nvSpPr>
        <p:spPr>
          <a:xfrm>
            <a:off x="12226542" y="9184596"/>
            <a:ext cx="2646004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7" name="TextBox 109"/>
          <p:cNvSpPr txBox="1"/>
          <p:nvPr/>
        </p:nvSpPr>
        <p:spPr>
          <a:xfrm>
            <a:off x="12253914" y="8867116"/>
            <a:ext cx="95997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DOCUMENT REFERENCE</a:t>
            </a:r>
          </a:p>
        </p:txBody>
      </p:sp>
      <p:sp>
        <p:nvSpPr>
          <p:cNvPr id="28" name="TextBox 110"/>
          <p:cNvSpPr txBox="1"/>
          <p:nvPr/>
        </p:nvSpPr>
        <p:spPr>
          <a:xfrm>
            <a:off x="12223991" y="8967075"/>
            <a:ext cx="259089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APPENDIX B – RF PREDICTIONS </a:t>
            </a:r>
          </a:p>
        </p:txBody>
      </p:sp>
      <p:sp>
        <p:nvSpPr>
          <p:cNvPr id="29" name="Straight Connector 115"/>
          <p:cNvSpPr/>
          <p:nvPr/>
        </p:nvSpPr>
        <p:spPr>
          <a:xfrm>
            <a:off x="12237973" y="7857455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0" name="Rectangle 118"/>
          <p:cNvSpPr txBox="1"/>
          <p:nvPr/>
        </p:nvSpPr>
        <p:spPr>
          <a:xfrm>
            <a:off x="12292583" y="374373"/>
            <a:ext cx="2524151" cy="243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0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COMMERCIAL MOBILE SERVICES</a:t>
            </a:r>
          </a:p>
        </p:txBody>
      </p:sp>
      <p:sp>
        <p:nvSpPr>
          <p:cNvPr id="31" name="Rectangle 3"/>
          <p:cNvSpPr/>
          <p:nvPr/>
        </p:nvSpPr>
        <p:spPr>
          <a:xfrm>
            <a:off x="0" y="1"/>
            <a:ext cx="15122525" cy="236989"/>
          </a:xfrm>
          <a:prstGeom prst="rect">
            <a:avLst/>
          </a:prstGeom>
          <a:solidFill>
            <a:srgbClr val="D91D49"/>
          </a:solidFill>
          <a:ln w="25400">
            <a:solidFill>
              <a:srgbClr val="D91D49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2" name="Freeform 47"/>
          <p:cNvSpPr/>
          <p:nvPr/>
        </p:nvSpPr>
        <p:spPr>
          <a:xfrm flipV="1">
            <a:off x="13531176" y="9183037"/>
            <a:ext cx="4" cy="124739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3" name="Rectangle 5"/>
          <p:cNvSpPr/>
          <p:nvPr/>
        </p:nvSpPr>
        <p:spPr>
          <a:xfrm>
            <a:off x="223628" y="261258"/>
            <a:ext cx="14646449" cy="10175448"/>
          </a:xfrm>
          <a:prstGeom prst="rect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4" name="TextBox 49"/>
          <p:cNvSpPr txBox="1"/>
          <p:nvPr/>
        </p:nvSpPr>
        <p:spPr>
          <a:xfrm>
            <a:off x="12253914" y="8285091"/>
            <a:ext cx="90702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6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ADDRESS</a:t>
            </a:r>
          </a:p>
        </p:txBody>
      </p:sp>
      <p:sp>
        <p:nvSpPr>
          <p:cNvPr id="35" name="Freeform 45"/>
          <p:cNvSpPr/>
          <p:nvPr/>
        </p:nvSpPr>
        <p:spPr>
          <a:xfrm>
            <a:off x="12230100" y="8849604"/>
            <a:ext cx="2646003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6" name="Straight Connector 52"/>
          <p:cNvSpPr/>
          <p:nvPr/>
        </p:nvSpPr>
        <p:spPr>
          <a:xfrm>
            <a:off x="12237973" y="8270047"/>
            <a:ext cx="2636007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7" name="Freeform 47"/>
          <p:cNvSpPr/>
          <p:nvPr/>
        </p:nvSpPr>
        <p:spPr>
          <a:xfrm>
            <a:off x="12236067" y="9317742"/>
            <a:ext cx="2631525" cy="5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8" name="Freeform 48"/>
          <p:cNvSpPr/>
          <p:nvPr/>
        </p:nvSpPr>
        <p:spPr>
          <a:xfrm>
            <a:off x="12227249" y="9427722"/>
            <a:ext cx="2646003" cy="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9" name="Freeform 21"/>
          <p:cNvSpPr/>
          <p:nvPr/>
        </p:nvSpPr>
        <p:spPr>
          <a:xfrm>
            <a:off x="12959990" y="9317742"/>
            <a:ext cx="4" cy="10800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0" name="Freeform 67"/>
          <p:cNvSpPr/>
          <p:nvPr/>
        </p:nvSpPr>
        <p:spPr>
          <a:xfrm>
            <a:off x="13975212" y="9321118"/>
            <a:ext cx="4" cy="108132"/>
          </a:xfrm>
          <a:prstGeom prst="line">
            <a:avLst/>
          </a:prstGeom>
          <a:ln>
            <a:solidFill>
              <a:srgbClr val="BFBFB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1" name="TextBox 1"/>
          <p:cNvSpPr txBox="1"/>
          <p:nvPr/>
        </p:nvSpPr>
        <p:spPr>
          <a:xfrm>
            <a:off x="63497" y="10507980"/>
            <a:ext cx="77312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000000">
                    <a:alpha val="50000"/>
                  </a:srgbClr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[SEC=PROTECTED]</a:t>
            </a:r>
          </a:p>
        </p:txBody>
      </p:sp>
      <p:sp>
        <p:nvSpPr>
          <p:cNvPr id="42" name="Picture Placeholder 2"/>
          <p:cNvSpPr/>
          <p:nvPr/>
        </p:nvSpPr>
        <p:spPr>
          <a:xfrm>
            <a:off x="599800" y="508423"/>
            <a:ext cx="11233730" cy="936439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 defTabSz="1407968">
              <a:spcBef>
                <a:spcPts val="1200"/>
              </a:spcBef>
              <a:defRPr sz="5000"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3" name="TextBox 6"/>
          <p:cNvSpPr txBox="1"/>
          <p:nvPr/>
        </p:nvSpPr>
        <p:spPr>
          <a:xfrm>
            <a:off x="13549306" y="7032755"/>
            <a:ext cx="1284189" cy="63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BOLDYN NETWORKS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</a:t>
            </a:r>
            <a:r>
              <a:rPr baseline="30000"/>
              <a:t>nd</a:t>
            </a:r>
            <a:r>
              <a:t> FLOOR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2 KINGDOM STREET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LONDON </a:t>
            </a:r>
          </a:p>
          <a:p>
            <a:pPr algn="ctr">
              <a:defRPr sz="8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W2 6BD</a:t>
            </a:r>
          </a:p>
        </p:txBody>
      </p:sp>
      <p:sp>
        <p:nvSpPr>
          <p:cNvPr id="44" name="Freeform: Shape 7"/>
          <p:cNvSpPr/>
          <p:nvPr/>
        </p:nvSpPr>
        <p:spPr>
          <a:xfrm>
            <a:off x="12537433" y="7031193"/>
            <a:ext cx="705489" cy="6648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0873"/>
                </a:moveTo>
                <a:lnTo>
                  <a:pt x="21231" y="9061"/>
                </a:lnTo>
                <a:lnTo>
                  <a:pt x="20308" y="7567"/>
                </a:lnTo>
                <a:lnTo>
                  <a:pt x="18900" y="6563"/>
                </a:lnTo>
                <a:lnTo>
                  <a:pt x="17192" y="6196"/>
                </a:lnTo>
                <a:lnTo>
                  <a:pt x="6808" y="6196"/>
                </a:lnTo>
                <a:lnTo>
                  <a:pt x="6808" y="0"/>
                </a:lnTo>
                <a:lnTo>
                  <a:pt x="4131" y="0"/>
                </a:lnTo>
                <a:lnTo>
                  <a:pt x="4131" y="6196"/>
                </a:lnTo>
                <a:lnTo>
                  <a:pt x="0" y="6196"/>
                </a:lnTo>
                <a:lnTo>
                  <a:pt x="0" y="9037"/>
                </a:lnTo>
                <a:lnTo>
                  <a:pt x="4131" y="9037"/>
                </a:lnTo>
                <a:lnTo>
                  <a:pt x="4131" y="6196"/>
                </a:lnTo>
                <a:lnTo>
                  <a:pt x="6808" y="6196"/>
                </a:lnTo>
                <a:lnTo>
                  <a:pt x="6808" y="9037"/>
                </a:lnTo>
                <a:lnTo>
                  <a:pt x="18923" y="9037"/>
                </a:lnTo>
                <a:lnTo>
                  <a:pt x="18923" y="18759"/>
                </a:lnTo>
                <a:lnTo>
                  <a:pt x="6808" y="18759"/>
                </a:lnTo>
                <a:lnTo>
                  <a:pt x="6808" y="9037"/>
                </a:lnTo>
                <a:lnTo>
                  <a:pt x="4131" y="9037"/>
                </a:lnTo>
                <a:lnTo>
                  <a:pt x="4131" y="16922"/>
                </a:lnTo>
                <a:lnTo>
                  <a:pt x="4477" y="18735"/>
                </a:lnTo>
                <a:lnTo>
                  <a:pt x="5423" y="20229"/>
                </a:lnTo>
                <a:lnTo>
                  <a:pt x="6831" y="21233"/>
                </a:lnTo>
                <a:lnTo>
                  <a:pt x="8538" y="21600"/>
                </a:lnTo>
                <a:lnTo>
                  <a:pt x="17192" y="21600"/>
                </a:lnTo>
                <a:lnTo>
                  <a:pt x="18900" y="21233"/>
                </a:lnTo>
                <a:lnTo>
                  <a:pt x="20308" y="20229"/>
                </a:lnTo>
                <a:lnTo>
                  <a:pt x="21231" y="18759"/>
                </a:lnTo>
                <a:lnTo>
                  <a:pt x="21600" y="16922"/>
                </a:lnTo>
                <a:lnTo>
                  <a:pt x="21600" y="10873"/>
                </a:lnTo>
                <a:close/>
              </a:path>
            </a:pathLst>
          </a:custGeom>
          <a:solidFill>
            <a:srgbClr val="F5054F">
              <a:alpha val="29802"/>
            </a:srgb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5" name="TextBox 23"/>
          <p:cNvSpPr txBox="1"/>
          <p:nvPr/>
        </p:nvSpPr>
        <p:spPr>
          <a:xfrm>
            <a:off x="13969973" y="9321327"/>
            <a:ext cx="85647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APPROVED: </a:t>
            </a:r>
            <a:r>
              <a:rPr>
                <a:solidFill>
                  <a:srgbClr val="000000"/>
                </a:solidFill>
              </a:rPr>
              <a:t>&lt;A&gt;</a:t>
            </a:r>
          </a:p>
        </p:txBody>
      </p:sp>
      <p:sp>
        <p:nvSpPr>
          <p:cNvPr id="46" name="TextBox 24"/>
          <p:cNvSpPr txBox="1"/>
          <p:nvPr/>
        </p:nvSpPr>
        <p:spPr>
          <a:xfrm>
            <a:off x="13098735" y="9321327"/>
            <a:ext cx="83015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600">
                <a:solidFill>
                  <a:srgbClr val="808080"/>
                </a:solidFill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CHECKED: </a:t>
            </a:r>
            <a:r>
              <a:rPr>
                <a:solidFill>
                  <a:srgbClr val="000000"/>
                </a:solidFill>
              </a:rPr>
              <a:t>&lt;C&gt;</a:t>
            </a:r>
          </a:p>
        </p:txBody>
      </p:sp>
      <p:sp>
        <p:nvSpPr>
          <p:cNvPr id="47" name="TextBox 26"/>
          <p:cNvSpPr txBox="1"/>
          <p:nvPr/>
        </p:nvSpPr>
        <p:spPr>
          <a:xfrm>
            <a:off x="12228576" y="9321327"/>
            <a:ext cx="83358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defRPr sz="600">
                <a:solidFill>
                  <a:srgbClr val="808080"/>
                </a:solidFill>
              </a:defRPr>
            </a:pPr>
            <a:r>
              <a:t>DRAWN:   </a:t>
            </a:r>
            <a:r>
              <a:rPr>
                <a:solidFill>
                  <a:srgbClr val="000000"/>
                </a:solidFill>
              </a:rPr>
              <a:t>&lt;D&gt;</a:t>
            </a:r>
          </a:p>
        </p:txBody>
      </p:sp>
      <p:sp>
        <p:nvSpPr>
          <p:cNvPr id="48" name="TextBox 27"/>
          <p:cNvSpPr txBox="1"/>
          <p:nvPr/>
        </p:nvSpPr>
        <p:spPr>
          <a:xfrm>
            <a:off x="13056406" y="9758240"/>
            <a:ext cx="177709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Original Submission</a:t>
            </a:r>
          </a:p>
        </p:txBody>
      </p:sp>
      <p:sp>
        <p:nvSpPr>
          <p:cNvPr id="49" name="TextBox 28"/>
          <p:cNvSpPr txBox="1"/>
          <p:nvPr/>
        </p:nvSpPr>
        <p:spPr>
          <a:xfrm>
            <a:off x="12247271" y="9758240"/>
            <a:ext cx="22438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P01</a:t>
            </a:r>
          </a:p>
        </p:txBody>
      </p:sp>
      <p:sp>
        <p:nvSpPr>
          <p:cNvPr id="50" name="TextBox 29"/>
          <p:cNvSpPr txBox="1"/>
          <p:nvPr/>
        </p:nvSpPr>
        <p:spPr>
          <a:xfrm>
            <a:off x="12516948" y="9758240"/>
            <a:ext cx="49439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&lt;P01&gt;</a:t>
            </a:r>
          </a:p>
        </p:txBody>
      </p:sp>
      <p:sp>
        <p:nvSpPr>
          <p:cNvPr id="51" name="TextBox 30"/>
          <p:cNvSpPr txBox="1"/>
          <p:nvPr/>
        </p:nvSpPr>
        <p:spPr>
          <a:xfrm>
            <a:off x="12233457" y="8514819"/>
            <a:ext cx="260097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&lt;&lt;ADDRESS&gt;&gt;</a:t>
            </a:r>
          </a:p>
        </p:txBody>
      </p:sp>
      <p:sp>
        <p:nvSpPr>
          <p:cNvPr id="52" name="TextBox 31"/>
          <p:cNvSpPr txBox="1"/>
          <p:nvPr/>
        </p:nvSpPr>
        <p:spPr>
          <a:xfrm>
            <a:off x="12239090" y="7990071"/>
            <a:ext cx="260097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&lt;&lt;STATION_NAME&gt;&gt;</a:t>
            </a:r>
          </a:p>
        </p:txBody>
      </p:sp>
      <p:sp>
        <p:nvSpPr>
          <p:cNvPr id="53" name="TextBox 32"/>
          <p:cNvSpPr txBox="1"/>
          <p:nvPr/>
        </p:nvSpPr>
        <p:spPr>
          <a:xfrm>
            <a:off x="13056406" y="9904169"/>
            <a:ext cx="177709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Updated design</a:t>
            </a:r>
          </a:p>
        </p:txBody>
      </p:sp>
      <p:sp>
        <p:nvSpPr>
          <p:cNvPr id="54" name="TextBox 33"/>
          <p:cNvSpPr txBox="1"/>
          <p:nvPr/>
        </p:nvSpPr>
        <p:spPr>
          <a:xfrm>
            <a:off x="12247271" y="9904169"/>
            <a:ext cx="22438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P02</a:t>
            </a:r>
          </a:p>
        </p:txBody>
      </p:sp>
      <p:sp>
        <p:nvSpPr>
          <p:cNvPr id="55" name="TextBox 34"/>
          <p:cNvSpPr txBox="1"/>
          <p:nvPr/>
        </p:nvSpPr>
        <p:spPr>
          <a:xfrm>
            <a:off x="12516948" y="9904169"/>
            <a:ext cx="49439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&lt;P02&gt;</a:t>
            </a:r>
          </a:p>
        </p:txBody>
      </p:sp>
      <p:pic>
        <p:nvPicPr>
          <p:cNvPr id="56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2233457" y="722526"/>
            <a:ext cx="2633704" cy="646233"/>
          </a:xfrm>
          <a:prstGeom prst="rect">
            <a:avLst/>
          </a:prstGeom>
          <a:ln w="12700">
            <a:miter lim="400000"/>
          </a:ln>
        </p:spPr>
      </p:pic>
      <p:sp>
        <p:nvSpPr>
          <p:cNvPr id="57" name="Rectangle 28"/>
          <p:cNvSpPr txBox="1"/>
          <p:nvPr/>
        </p:nvSpPr>
        <p:spPr>
          <a:xfrm>
            <a:off x="1031881" y="10077207"/>
            <a:ext cx="1398603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GSM</a:t>
            </a:r>
          </a:p>
        </p:txBody>
      </p:sp>
      <p:sp>
        <p:nvSpPr>
          <p:cNvPr id="58" name="Freeform 62"/>
          <p:cNvSpPr/>
          <p:nvPr/>
        </p:nvSpPr>
        <p:spPr>
          <a:xfrm>
            <a:off x="12230100" y="702182"/>
            <a:ext cx="2646003" cy="3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9" name="Freeform 55"/>
          <p:cNvSpPr/>
          <p:nvPr/>
        </p:nvSpPr>
        <p:spPr>
          <a:xfrm>
            <a:off x="9227818" y="10104121"/>
            <a:ext cx="3" cy="335284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0" name="Freeform 56"/>
          <p:cNvSpPr/>
          <p:nvPr/>
        </p:nvSpPr>
        <p:spPr>
          <a:xfrm>
            <a:off x="6228517" y="10104121"/>
            <a:ext cx="4" cy="335284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1" name="Freeform 57"/>
          <p:cNvSpPr/>
          <p:nvPr/>
        </p:nvSpPr>
        <p:spPr>
          <a:xfrm>
            <a:off x="3204778" y="10104121"/>
            <a:ext cx="4" cy="335284"/>
          </a:xfrm>
          <a:prstGeom prst="line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2" name="Rectangle 7"/>
          <p:cNvSpPr txBox="1"/>
          <p:nvPr/>
        </p:nvSpPr>
        <p:spPr>
          <a:xfrm>
            <a:off x="271007" y="10249420"/>
            <a:ext cx="2888053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Technology </a:t>
            </a:r>
          </a:p>
        </p:txBody>
      </p:sp>
      <p:sp>
        <p:nvSpPr>
          <p:cNvPr id="63" name="Rectangle 8"/>
          <p:cNvSpPr txBox="1"/>
          <p:nvPr/>
        </p:nvSpPr>
        <p:spPr>
          <a:xfrm>
            <a:off x="3250501" y="10249612"/>
            <a:ext cx="2924494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Frequency Band</a:t>
            </a:r>
          </a:p>
        </p:txBody>
      </p:sp>
      <p:sp>
        <p:nvSpPr>
          <p:cNvPr id="64" name="Rectangle 9"/>
          <p:cNvSpPr txBox="1"/>
          <p:nvPr/>
        </p:nvSpPr>
        <p:spPr>
          <a:xfrm>
            <a:off x="6272324" y="10254543"/>
            <a:ext cx="2901971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Plot</a:t>
            </a:r>
          </a:p>
        </p:txBody>
      </p:sp>
      <p:sp>
        <p:nvSpPr>
          <p:cNvPr id="65" name="Rectangle 10"/>
          <p:cNvSpPr txBox="1"/>
          <p:nvPr/>
        </p:nvSpPr>
        <p:spPr>
          <a:xfrm>
            <a:off x="9273537" y="10246400"/>
            <a:ext cx="2912501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Floor Level</a:t>
            </a:r>
          </a:p>
        </p:txBody>
      </p:sp>
      <p:sp>
        <p:nvSpPr>
          <p:cNvPr id="66" name="Rectangle 11"/>
          <p:cNvSpPr/>
          <p:nvPr/>
        </p:nvSpPr>
        <p:spPr>
          <a:xfrm>
            <a:off x="225282" y="10279246"/>
            <a:ext cx="12004820" cy="157181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7" name="Rectangle 12"/>
          <p:cNvSpPr/>
          <p:nvPr/>
        </p:nvSpPr>
        <p:spPr>
          <a:xfrm>
            <a:off x="225282" y="10103973"/>
            <a:ext cx="12004820" cy="174458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8" name="Rectangle 91"/>
          <p:cNvSpPr txBox="1"/>
          <p:nvPr/>
        </p:nvSpPr>
        <p:spPr>
          <a:xfrm>
            <a:off x="12352687" y="1531651"/>
            <a:ext cx="535696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solidFill>
                  <a:srgbClr val="80808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LEGEND</a:t>
            </a:r>
          </a:p>
        </p:txBody>
      </p:sp>
      <p:grpSp>
        <p:nvGrpSpPr>
          <p:cNvPr id="71" name="Rectangle 38"/>
          <p:cNvGrpSpPr/>
          <p:nvPr/>
        </p:nvGrpSpPr>
        <p:grpSpPr>
          <a:xfrm>
            <a:off x="12242777" y="6286958"/>
            <a:ext cx="2627302" cy="459737"/>
            <a:chOff x="-1" y="0"/>
            <a:chExt cx="2627301" cy="459735"/>
          </a:xfrm>
        </p:grpSpPr>
        <p:sp>
          <p:nvSpPr>
            <p:cNvPr id="69" name="Rectangle"/>
            <p:cNvSpPr/>
            <p:nvPr/>
          </p:nvSpPr>
          <p:spPr>
            <a:xfrm>
              <a:off x="-2" y="67851"/>
              <a:ext cx="2627302" cy="324042"/>
            </a:xfrm>
            <a:prstGeom prst="rect">
              <a:avLst/>
            </a:prstGeom>
            <a:solidFill>
              <a:srgbClr val="D91D49"/>
            </a:solidFill>
            <a:ln w="19050" cap="rnd">
              <a:solidFill>
                <a:srgbClr val="D91D49"/>
              </a:solidFill>
              <a:prstDash val="solid"/>
              <a:bevel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70" name="GSM 1800MHz"/>
            <p:cNvSpPr txBox="1"/>
            <p:nvPr/>
          </p:nvSpPr>
          <p:spPr>
            <a:xfrm>
              <a:off x="55243" y="0"/>
              <a:ext cx="2516811" cy="4597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b="1" sz="2400">
                  <a:solidFill>
                    <a:srgbClr val="FFFFFF"/>
                  </a:solidFill>
                  <a:latin typeface="Calibri (Body)"/>
                  <a:ea typeface="Calibri (Body)"/>
                  <a:cs typeface="Calibri (Body)"/>
                  <a:sym typeface="Calibri (Body)"/>
                </a:defRPr>
              </a:lvl1pPr>
            </a:lstStyle>
            <a:p>
              <a:pPr/>
              <a:r>
                <a:t>GSM 1800MHz</a:t>
              </a:r>
            </a:p>
          </p:txBody>
        </p:sp>
      </p:grpSp>
      <p:sp>
        <p:nvSpPr>
          <p:cNvPr id="72" name="Rectangle 41"/>
          <p:cNvSpPr txBox="1"/>
          <p:nvPr/>
        </p:nvSpPr>
        <p:spPr>
          <a:xfrm>
            <a:off x="3250495" y="10088032"/>
            <a:ext cx="2932902" cy="2024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1800MHz</a:t>
            </a:r>
          </a:p>
        </p:txBody>
      </p:sp>
      <p:sp>
        <p:nvSpPr>
          <p:cNvPr id="73" name="Rectangle 42"/>
          <p:cNvSpPr txBox="1"/>
          <p:nvPr/>
        </p:nvSpPr>
        <p:spPr>
          <a:xfrm>
            <a:off x="6274861" y="10083864"/>
            <a:ext cx="2896896" cy="202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SNIR (dB)</a:t>
            </a:r>
          </a:p>
        </p:txBody>
      </p:sp>
      <p:grpSp>
        <p:nvGrpSpPr>
          <p:cNvPr id="92" name="Group 39"/>
          <p:cNvGrpSpPr/>
          <p:nvPr/>
        </p:nvGrpSpPr>
        <p:grpSpPr>
          <a:xfrm>
            <a:off x="12144180" y="1695396"/>
            <a:ext cx="1269049" cy="1164244"/>
            <a:chOff x="-2" y="-1"/>
            <a:chExt cx="1269047" cy="1164243"/>
          </a:xfrm>
        </p:grpSpPr>
        <p:sp>
          <p:nvSpPr>
            <p:cNvPr id="74" name="TextBox 43"/>
            <p:cNvSpPr txBox="1"/>
            <p:nvPr/>
          </p:nvSpPr>
          <p:spPr>
            <a:xfrm>
              <a:off x="0" y="-2"/>
              <a:ext cx="1013468" cy="22850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 algn="ctr" defTabSz="914371">
                <a:defRPr b="1" sz="1000" u="sng"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SNIR (dB)</a:t>
              </a:r>
            </a:p>
          </p:txBody>
        </p:sp>
        <p:grpSp>
          <p:nvGrpSpPr>
            <p:cNvPr id="91" name="Group 44"/>
            <p:cNvGrpSpPr/>
            <p:nvPr/>
          </p:nvGrpSpPr>
          <p:grpSpPr>
            <a:xfrm>
              <a:off x="-3" y="-2"/>
              <a:ext cx="1269049" cy="1164245"/>
              <a:chOff x="-1" y="0"/>
              <a:chExt cx="1269047" cy="1164243"/>
            </a:xfrm>
          </p:grpSpPr>
          <p:grpSp>
            <p:nvGrpSpPr>
              <p:cNvPr id="80" name="Group 45"/>
              <p:cNvGrpSpPr/>
              <p:nvPr/>
            </p:nvGrpSpPr>
            <p:grpSpPr>
              <a:xfrm>
                <a:off x="255733" y="284358"/>
                <a:ext cx="619353" cy="879886"/>
                <a:chOff x="0" y="0"/>
                <a:chExt cx="619352" cy="879884"/>
              </a:xfrm>
            </p:grpSpPr>
            <p:sp>
              <p:nvSpPr>
                <p:cNvPr id="75" name="Rectangle 56"/>
                <p:cNvSpPr/>
                <p:nvPr/>
              </p:nvSpPr>
              <p:spPr>
                <a:xfrm>
                  <a:off x="-1" y="-1"/>
                  <a:ext cx="619004" cy="177168"/>
                </a:xfrm>
                <a:prstGeom prst="rect">
                  <a:avLst/>
                </a:prstGeom>
                <a:solidFill>
                  <a:srgbClr val="28E3FC"/>
                </a:solidFill>
                <a:ln w="12700" cap="flat">
                  <a:solidFill>
                    <a:srgbClr val="000000"/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371">
                    <a:defRPr sz="1800">
                      <a:solidFill>
                        <a:srgbClr val="FFFFFF"/>
                      </a:solidFill>
                      <a:latin typeface="+mn-lt"/>
                      <a:ea typeface="+mn-ea"/>
                      <a:cs typeface="+mn-cs"/>
                      <a:sym typeface="Calibri"/>
                    </a:defRPr>
                  </a:pPr>
                </a:p>
              </p:txBody>
            </p:sp>
            <p:sp>
              <p:nvSpPr>
                <p:cNvPr id="76" name="Rectangle 75"/>
                <p:cNvSpPr/>
                <p:nvPr/>
              </p:nvSpPr>
              <p:spPr>
                <a:xfrm>
                  <a:off x="0" y="177166"/>
                  <a:ext cx="619004" cy="177169"/>
                </a:xfrm>
                <a:prstGeom prst="rect">
                  <a:avLst/>
                </a:prstGeom>
                <a:solidFill>
                  <a:srgbClr val="00FF00"/>
                </a:solidFill>
                <a:ln w="12700" cap="flat">
                  <a:solidFill>
                    <a:srgbClr val="000000"/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371">
                    <a:defRPr sz="1800">
                      <a:solidFill>
                        <a:srgbClr val="FFFFFF"/>
                      </a:solidFill>
                      <a:latin typeface="+mn-lt"/>
                      <a:ea typeface="+mn-ea"/>
                      <a:cs typeface="+mn-cs"/>
                      <a:sym typeface="Calibri"/>
                    </a:defRPr>
                  </a:pPr>
                </a:p>
              </p:txBody>
            </p:sp>
            <p:sp>
              <p:nvSpPr>
                <p:cNvPr id="77" name="Rectangle 76"/>
                <p:cNvSpPr/>
                <p:nvPr/>
              </p:nvSpPr>
              <p:spPr>
                <a:xfrm>
                  <a:off x="348" y="354334"/>
                  <a:ext cx="619004" cy="177169"/>
                </a:xfrm>
                <a:prstGeom prst="rect">
                  <a:avLst/>
                </a:prstGeom>
                <a:solidFill>
                  <a:srgbClr val="FFFF00"/>
                </a:solidFill>
                <a:ln w="12700" cap="flat">
                  <a:solidFill>
                    <a:srgbClr val="000000"/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371">
                    <a:defRPr sz="1800">
                      <a:solidFill>
                        <a:srgbClr val="FFFFFF"/>
                      </a:solidFill>
                      <a:latin typeface="+mn-lt"/>
                      <a:ea typeface="+mn-ea"/>
                      <a:cs typeface="+mn-cs"/>
                      <a:sym typeface="Calibri"/>
                    </a:defRPr>
                  </a:pPr>
                </a:p>
              </p:txBody>
            </p:sp>
            <p:sp>
              <p:nvSpPr>
                <p:cNvPr id="78" name="Rectangle 77"/>
                <p:cNvSpPr/>
                <p:nvPr/>
              </p:nvSpPr>
              <p:spPr>
                <a:xfrm>
                  <a:off x="348" y="531502"/>
                  <a:ext cx="619004" cy="177169"/>
                </a:xfrm>
                <a:prstGeom prst="rect">
                  <a:avLst/>
                </a:prstGeom>
                <a:solidFill>
                  <a:srgbClr val="FFC000"/>
                </a:solidFill>
                <a:ln w="12700" cap="flat">
                  <a:solidFill>
                    <a:srgbClr val="000000"/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371">
                    <a:defRPr sz="1800">
                      <a:solidFill>
                        <a:srgbClr val="FFFFFF"/>
                      </a:solidFill>
                      <a:latin typeface="+mn-lt"/>
                      <a:ea typeface="+mn-ea"/>
                      <a:cs typeface="+mn-cs"/>
                      <a:sym typeface="Calibri"/>
                    </a:defRPr>
                  </a:pPr>
                </a:p>
              </p:txBody>
            </p:sp>
            <p:sp>
              <p:nvSpPr>
                <p:cNvPr id="79" name="Rectangle 78"/>
                <p:cNvSpPr/>
                <p:nvPr/>
              </p:nvSpPr>
              <p:spPr>
                <a:xfrm>
                  <a:off x="348" y="702715"/>
                  <a:ext cx="619004" cy="177169"/>
                </a:xfrm>
                <a:prstGeom prst="rect">
                  <a:avLst/>
                </a:prstGeom>
                <a:solidFill>
                  <a:srgbClr val="FF0000"/>
                </a:solidFill>
                <a:ln w="12700" cap="flat">
                  <a:solidFill>
                    <a:srgbClr val="000000"/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371">
                    <a:defRPr sz="1800">
                      <a:solidFill>
                        <a:srgbClr val="FFFFFF"/>
                      </a:solidFill>
                      <a:latin typeface="+mn-lt"/>
                      <a:ea typeface="+mn-ea"/>
                      <a:cs typeface="+mn-cs"/>
                      <a:sym typeface="Calibri"/>
                    </a:defRPr>
                  </a:pPr>
                </a:p>
              </p:txBody>
            </p:sp>
          </p:grpSp>
          <p:sp>
            <p:nvSpPr>
              <p:cNvPr id="81" name="Straight Connector 46"/>
              <p:cNvSpPr/>
              <p:nvPr/>
            </p:nvSpPr>
            <p:spPr>
              <a:xfrm>
                <a:off x="811839" y="816674"/>
                <a:ext cx="180004" cy="4"/>
              </a:xfrm>
              <a:prstGeom prst="line">
                <a:avLst/>
              </a:prstGeom>
              <a:noFill/>
              <a:ln w="635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82" name="Straight Connector 47"/>
              <p:cNvSpPr/>
              <p:nvPr/>
            </p:nvSpPr>
            <p:spPr>
              <a:xfrm>
                <a:off x="812088" y="638695"/>
                <a:ext cx="180004" cy="4"/>
              </a:xfrm>
              <a:prstGeom prst="line">
                <a:avLst/>
              </a:prstGeom>
              <a:noFill/>
              <a:ln w="635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83" name="Straight Connector 48"/>
              <p:cNvSpPr/>
              <p:nvPr/>
            </p:nvSpPr>
            <p:spPr>
              <a:xfrm>
                <a:off x="812088" y="461528"/>
                <a:ext cx="180004" cy="4"/>
              </a:xfrm>
              <a:prstGeom prst="line">
                <a:avLst/>
              </a:prstGeom>
              <a:noFill/>
              <a:ln w="635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84" name="Straight Connector 49"/>
              <p:cNvSpPr/>
              <p:nvPr/>
            </p:nvSpPr>
            <p:spPr>
              <a:xfrm>
                <a:off x="830250" y="987073"/>
                <a:ext cx="180004" cy="4"/>
              </a:xfrm>
              <a:prstGeom prst="line">
                <a:avLst/>
              </a:prstGeom>
              <a:noFill/>
              <a:ln w="635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85" name="TextBox 50"/>
              <p:cNvSpPr txBox="1"/>
              <p:nvPr/>
            </p:nvSpPr>
            <p:spPr>
              <a:xfrm>
                <a:off x="-2" y="0"/>
                <a:ext cx="1013472" cy="228507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8" tIns="45718" rIns="45718" bIns="45718" numCol="1" anchor="t">
                <a:spAutoFit/>
              </a:bodyPr>
              <a:lstStyle>
                <a:lvl1pPr algn="ctr" defTabSz="914371">
                  <a:defRPr b="1" sz="1000" u="sng">
                    <a:latin typeface="+mn-lt"/>
                    <a:ea typeface="+mn-ea"/>
                    <a:cs typeface="+mn-cs"/>
                    <a:sym typeface="Calibri"/>
                  </a:defRPr>
                </a:lvl1pPr>
              </a:lstStyle>
              <a:p>
                <a:pPr/>
                <a:r>
                  <a:t>SNIR (dB)</a:t>
                </a:r>
              </a:p>
            </p:txBody>
          </p:sp>
          <p:sp>
            <p:nvSpPr>
              <p:cNvPr id="86" name="TextBox 51"/>
              <p:cNvSpPr txBox="1"/>
              <p:nvPr/>
            </p:nvSpPr>
            <p:spPr>
              <a:xfrm>
                <a:off x="880769" y="136854"/>
                <a:ext cx="333531" cy="228507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8" tIns="45718" rIns="45718" bIns="45718" numCol="1" anchor="t">
                <a:spAutoFit/>
              </a:bodyPr>
              <a:lstStyle>
                <a:lvl1pPr defTabSz="914371">
                  <a:defRPr sz="1000">
                    <a:latin typeface="+mn-lt"/>
                    <a:ea typeface="+mn-ea"/>
                    <a:cs typeface="+mn-cs"/>
                    <a:sym typeface="Calibri"/>
                  </a:defRPr>
                </a:lvl1pPr>
              </a:lstStyle>
              <a:p>
                <a:pPr/>
                <a:r>
                  <a:t>Max</a:t>
                </a:r>
              </a:p>
            </p:txBody>
          </p:sp>
          <p:sp>
            <p:nvSpPr>
              <p:cNvPr id="87" name="TextBox 52"/>
              <p:cNvSpPr txBox="1"/>
              <p:nvPr/>
            </p:nvSpPr>
            <p:spPr>
              <a:xfrm>
                <a:off x="935960" y="339737"/>
                <a:ext cx="324836" cy="22850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>
                <a:lvl1pPr defTabSz="914371">
                  <a:defRPr sz="1000">
                    <a:latin typeface="+mn-lt"/>
                    <a:ea typeface="+mn-ea"/>
                    <a:cs typeface="+mn-cs"/>
                    <a:sym typeface="Calibri"/>
                  </a:defRPr>
                </a:lvl1pPr>
              </a:lstStyle>
              <a:p>
                <a:pPr/>
                <a:r>
                  <a:t> &gt;20</a:t>
                </a:r>
              </a:p>
            </p:txBody>
          </p:sp>
          <p:sp>
            <p:nvSpPr>
              <p:cNvPr id="88" name="TextBox 53"/>
              <p:cNvSpPr txBox="1"/>
              <p:nvPr/>
            </p:nvSpPr>
            <p:spPr>
              <a:xfrm>
                <a:off x="944211" y="523745"/>
                <a:ext cx="324836" cy="22850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>
                <a:lvl1pPr defTabSz="914371">
                  <a:defRPr sz="1000">
                    <a:latin typeface="+mn-lt"/>
                    <a:ea typeface="+mn-ea"/>
                    <a:cs typeface="+mn-cs"/>
                    <a:sym typeface="Calibri"/>
                  </a:defRPr>
                </a:lvl1pPr>
              </a:lstStyle>
              <a:p>
                <a:pPr/>
                <a:r>
                  <a:t> &gt;14</a:t>
                </a:r>
              </a:p>
            </p:txBody>
          </p:sp>
          <p:sp>
            <p:nvSpPr>
              <p:cNvPr id="89" name="TextBox 54"/>
              <p:cNvSpPr txBox="1"/>
              <p:nvPr/>
            </p:nvSpPr>
            <p:spPr>
              <a:xfrm>
                <a:off x="980242" y="695084"/>
                <a:ext cx="260468" cy="228507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>
                <a:lvl1pPr defTabSz="914371">
                  <a:defRPr sz="1000">
                    <a:latin typeface="+mn-lt"/>
                    <a:ea typeface="+mn-ea"/>
                    <a:cs typeface="+mn-cs"/>
                    <a:sym typeface="Calibri"/>
                  </a:defRPr>
                </a:lvl1pPr>
              </a:lstStyle>
              <a:p>
                <a:pPr/>
                <a:r>
                  <a:t>&gt; 6</a:t>
                </a:r>
              </a:p>
            </p:txBody>
          </p:sp>
          <p:sp>
            <p:nvSpPr>
              <p:cNvPr id="90" name="TextBox 55"/>
              <p:cNvSpPr txBox="1"/>
              <p:nvPr/>
            </p:nvSpPr>
            <p:spPr>
              <a:xfrm>
                <a:off x="977072" y="876827"/>
                <a:ext cx="260468" cy="22850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>
                <a:lvl1pPr defTabSz="914371">
                  <a:defRPr sz="1000">
                    <a:latin typeface="+mn-lt"/>
                    <a:ea typeface="+mn-ea"/>
                    <a:cs typeface="+mn-cs"/>
                    <a:sym typeface="Calibri"/>
                  </a:defRPr>
                </a:lvl1pPr>
              </a:lstStyle>
              <a:p>
                <a:pPr/>
                <a:r>
                  <a:t>&gt; 0</a:t>
                </a:r>
              </a:p>
            </p:txBody>
          </p:sp>
        </p:grpSp>
      </p:grpSp>
      <p:sp>
        <p:nvSpPr>
          <p:cNvPr id="93" name="&lt;NUM&gt;"/>
          <p:cNvSpPr txBox="1"/>
          <p:nvPr/>
        </p:nvSpPr>
        <p:spPr>
          <a:xfrm>
            <a:off x="14324158" y="9149660"/>
            <a:ext cx="366670" cy="180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600"/>
            </a:lvl1pPr>
          </a:lstStyle>
          <a:p>
            <a:pPr/>
            <a:r>
              <a:t>&lt;NUM&gt;</a:t>
            </a:r>
          </a:p>
        </p:txBody>
      </p:sp>
      <p:sp>
        <p:nvSpPr>
          <p:cNvPr id="94" name="&lt;&lt;logo&gt;&gt;"/>
          <p:cNvSpPr txBox="1"/>
          <p:nvPr/>
        </p:nvSpPr>
        <p:spPr>
          <a:xfrm>
            <a:off x="13254214" y="875552"/>
            <a:ext cx="1107126" cy="3401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0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&lt;&lt;logo&gt;&gt;</a:t>
            </a:r>
          </a:p>
        </p:txBody>
      </p:sp>
      <p:sp>
        <p:nvSpPr>
          <p:cNvPr id="95" name="Title Text"/>
          <p:cNvSpPr txBox="1"/>
          <p:nvPr>
            <p:ph type="title"/>
          </p:nvPr>
        </p:nvSpPr>
        <p:spPr>
          <a:xfrm>
            <a:off x="2264326" y="1200532"/>
            <a:ext cx="12090401" cy="2601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/>
            <a:r>
              <a:t>Title Text</a:t>
            </a:r>
          </a:p>
        </p:txBody>
      </p:sp>
      <p:sp>
        <p:nvSpPr>
          <p:cNvPr id="96" name="Body Level One…"/>
          <p:cNvSpPr txBox="1"/>
          <p:nvPr>
            <p:ph type="body" idx="1"/>
          </p:nvPr>
        </p:nvSpPr>
        <p:spPr>
          <a:xfrm>
            <a:off x="8435468" y="3802097"/>
            <a:ext cx="5919259" cy="68913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7" name="Slide Number"/>
          <p:cNvSpPr txBox="1"/>
          <p:nvPr>
            <p:ph type="sldNum" sz="quarter" idx="2"/>
          </p:nvPr>
        </p:nvSpPr>
        <p:spPr>
          <a:xfrm>
            <a:off x="14362295" y="9201556"/>
            <a:ext cx="127001" cy="12700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>
            <a:lvl1pPr algn="ctr">
              <a:defRPr sz="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  <p:sldLayoutId id="2147483668" r:id="rId22"/>
  </p:sldLayoutIdLst>
  <p:transition xmlns:p14="http://schemas.microsoft.com/office/powerpoint/2010/main" spd="med" advClick="1"/>
  <p:txStyles>
    <p:titleStyle>
      <a:lvl1pPr marL="0" marR="0" indent="0" algn="ctr" defTabSz="1407968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8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1407968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8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1407968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8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1407968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8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1407968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8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1407968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8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1407968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8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1407968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8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1407968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8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527988" marR="0" indent="-527988" algn="l" defTabSz="1407968" rtl="0" latinLnBrk="0">
        <a:lnSpc>
          <a:spcPct val="100000"/>
        </a:lnSpc>
        <a:spcBef>
          <a:spcPts val="12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50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1215600" marR="0" indent="-511616" algn="l" defTabSz="1407968" rtl="0" latinLnBrk="0">
        <a:lnSpc>
          <a:spcPct val="100000"/>
        </a:lnSpc>
        <a:spcBef>
          <a:spcPts val="12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50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883633" marR="0" indent="-475663" algn="l" defTabSz="1407968" rtl="0" latinLnBrk="0">
        <a:lnSpc>
          <a:spcPct val="100000"/>
        </a:lnSpc>
        <a:spcBef>
          <a:spcPts val="12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50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2679681" marR="0" indent="-567726" algn="l" defTabSz="1407968" rtl="0" latinLnBrk="0">
        <a:lnSpc>
          <a:spcPct val="100000"/>
        </a:lnSpc>
        <a:spcBef>
          <a:spcPts val="12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50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3383665" marR="0" indent="-567726" algn="l" defTabSz="1407968" rtl="0" latinLnBrk="0">
        <a:lnSpc>
          <a:spcPct val="100000"/>
        </a:lnSpc>
        <a:spcBef>
          <a:spcPts val="12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50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4087650" marR="0" indent="-567728" algn="l" defTabSz="1407968" rtl="0" latinLnBrk="0">
        <a:lnSpc>
          <a:spcPct val="100000"/>
        </a:lnSpc>
        <a:spcBef>
          <a:spcPts val="12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50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4791633" marR="0" indent="-567728" algn="l" defTabSz="1407968" rtl="0" latinLnBrk="0">
        <a:lnSpc>
          <a:spcPct val="100000"/>
        </a:lnSpc>
        <a:spcBef>
          <a:spcPts val="12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50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5495618" marR="0" indent="-567728" algn="l" defTabSz="1407968" rtl="0" latinLnBrk="0">
        <a:lnSpc>
          <a:spcPct val="100000"/>
        </a:lnSpc>
        <a:spcBef>
          <a:spcPts val="12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50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6199601" marR="0" indent="-567728" algn="l" defTabSz="1407968" rtl="0" latinLnBrk="0">
        <a:lnSpc>
          <a:spcPct val="100000"/>
        </a:lnSpc>
        <a:spcBef>
          <a:spcPts val="12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50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ctr" defTabSz="1407588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ctr" defTabSz="1407588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ctr" defTabSz="1407588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ctr" defTabSz="1407588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ctr" defTabSz="1407588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ctr" defTabSz="1407588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ctr" defTabSz="1407588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ctr" defTabSz="1407588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ctr" defTabSz="1407588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.jpe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5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7" name="TextBox 2"/>
          <p:cNvSpPr txBox="1"/>
          <p:nvPr/>
        </p:nvSpPr>
        <p:spPr>
          <a:xfrm>
            <a:off x="801749" y="1971357"/>
            <a:ext cx="13231692" cy="10183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3100">
                <a:solidFill>
                  <a:srgbClr val="FF0000"/>
                </a:solidFill>
                <a:latin typeface="Verdana"/>
                <a:ea typeface="Verdana"/>
                <a:cs typeface="Verdana"/>
                <a:sym typeface="Verdana"/>
              </a:defRPr>
            </a:pPr>
            <a:r>
              <a:t>[STATIONCODE_STATIONNAME]</a:t>
            </a:r>
            <a:endParaRPr>
              <a:latin typeface="+mn-lt"/>
              <a:ea typeface="+mn-ea"/>
              <a:cs typeface="+mn-cs"/>
              <a:sym typeface="Calibri"/>
            </a:endParaRPr>
          </a:p>
          <a:p>
            <a:pPr>
              <a:defRPr sz="3100">
                <a:latin typeface="Arial"/>
                <a:ea typeface="Arial"/>
                <a:cs typeface="Arial"/>
                <a:sym typeface="Arial"/>
              </a:defRPr>
            </a:pPr>
            <a:r>
              <a:t>Appendix B – RF Predictions</a:t>
            </a:r>
          </a:p>
        </p:txBody>
      </p:sp>
      <p:graphicFrame>
        <p:nvGraphicFramePr>
          <p:cNvPr id="1798" name="Table 1"/>
          <p:cNvGraphicFramePr/>
          <p:nvPr/>
        </p:nvGraphicFramePr>
        <p:xfrm>
          <a:off x="379506" y="9879341"/>
          <a:ext cx="13834714" cy="594556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0" rtl="0">
                <a:tableStyleId>{4C3C2611-4C71-4FC5-86AE-919BDF0F9419}</a:tableStyleId>
              </a:tblPr>
              <a:tblGrid>
                <a:gridCol w="4226524"/>
                <a:gridCol w="683645"/>
                <a:gridCol w="2158879"/>
                <a:gridCol w="1570586"/>
                <a:gridCol w="1570586"/>
                <a:gridCol w="1835045"/>
                <a:gridCol w="1789441"/>
              </a:tblGrid>
              <a:tr h="277458">
                <a:tc>
                  <a:txBody>
                    <a:bodyPr/>
                    <a:lstStyle/>
                    <a:p>
                      <a:pPr>
                        <a:defRPr b="0" sz="1800"/>
                      </a:pPr>
                      <a:r>
                        <a:rPr sz="1100">
                          <a:latin typeface="Verdana (Body)"/>
                          <a:ea typeface="Verdana (Body)"/>
                          <a:cs typeface="Verdana (Body)"/>
                          <a:sym typeface="Verdana (Body)"/>
                        </a:rPr>
                        <a:t>Document Reference</a:t>
                      </a:r>
                    </a:p>
                  </a:txBody>
                  <a:tcPr marL="0" marR="0" marT="0" marB="0" anchor="ctr" anchorCtr="0" horzOverflow="overflow">
                    <a:lnB w="12700">
                      <a:solidFill>
                        <a:srgbClr val="D91D49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b="0" sz="1800"/>
                      </a:pPr>
                      <a:r>
                        <a:rPr sz="1100">
                          <a:latin typeface="Verdana (Body)"/>
                          <a:ea typeface="Verdana (Body)"/>
                          <a:cs typeface="Verdana (Body)"/>
                          <a:sym typeface="Verdana (Body)"/>
                        </a:rPr>
                        <a:t>Revision</a:t>
                      </a:r>
                    </a:p>
                  </a:txBody>
                  <a:tcPr marL="0" marR="0" marT="0" marB="0" anchor="ctr" anchorCtr="0" horzOverflow="overflow">
                    <a:lnB w="12700">
                      <a:solidFill>
                        <a:srgbClr val="D91D49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b="0" sz="1800"/>
                      </a:pPr>
                      <a:r>
                        <a:rPr sz="1100">
                          <a:latin typeface="Verdana (Body)"/>
                          <a:ea typeface="Verdana (Body)"/>
                          <a:cs typeface="Verdana (Body)"/>
                          <a:sym typeface="Verdana (Body)"/>
                        </a:rPr>
                        <a:t>Description of Changes</a:t>
                      </a:r>
                    </a:p>
                  </a:txBody>
                  <a:tcPr marL="0" marR="0" marT="0" marB="0" anchor="ctr" anchorCtr="0" horzOverflow="overflow">
                    <a:lnB w="12700">
                      <a:solidFill>
                        <a:srgbClr val="D91D49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b="0" sz="1800"/>
                      </a:pPr>
                      <a:r>
                        <a:rPr sz="1100">
                          <a:latin typeface="Verdana (Body)"/>
                          <a:ea typeface="Verdana (Body)"/>
                          <a:cs typeface="Verdana (Body)"/>
                          <a:sym typeface="Verdana (Body)"/>
                        </a:rPr>
                        <a:t>Date</a:t>
                      </a:r>
                    </a:p>
                  </a:txBody>
                  <a:tcPr marL="0" marR="0" marT="0" marB="0" anchor="ctr" anchorCtr="0" horzOverflow="overflow">
                    <a:lnB w="12700">
                      <a:solidFill>
                        <a:srgbClr val="D91D49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b="0" sz="1800"/>
                      </a:pPr>
                      <a:r>
                        <a:rPr sz="1100">
                          <a:latin typeface="Verdana (Body)"/>
                          <a:ea typeface="Verdana (Body)"/>
                          <a:cs typeface="Verdana (Body)"/>
                          <a:sym typeface="Verdana (Body)"/>
                        </a:rPr>
                        <a:t>Author</a:t>
                      </a:r>
                    </a:p>
                  </a:txBody>
                  <a:tcPr marL="0" marR="0" marT="0" marB="0" anchor="ctr" anchorCtr="0" horzOverflow="overflow">
                    <a:lnB w="12700">
                      <a:solidFill>
                        <a:srgbClr val="D91D49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b="0" sz="1800"/>
                      </a:pPr>
                      <a:r>
                        <a:rPr sz="1100">
                          <a:latin typeface="Verdana (Body)"/>
                          <a:ea typeface="Verdana (Body)"/>
                          <a:cs typeface="Verdana (Body)"/>
                          <a:sym typeface="Verdana (Body)"/>
                        </a:rPr>
                        <a:t>Checked</a:t>
                      </a:r>
                    </a:p>
                  </a:txBody>
                  <a:tcPr marL="0" marR="0" marT="0" marB="0" anchor="ctr" anchorCtr="0" horzOverflow="overflow">
                    <a:lnB w="12700">
                      <a:solidFill>
                        <a:srgbClr val="D91D49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b="0" sz="1800"/>
                      </a:pPr>
                      <a:r>
                        <a:rPr sz="1100">
                          <a:latin typeface="Verdana (Body)"/>
                          <a:ea typeface="Verdana (Body)"/>
                          <a:cs typeface="Verdana (Body)"/>
                          <a:sym typeface="Verdana (Body)"/>
                        </a:rPr>
                        <a:t>Approved  </a:t>
                      </a:r>
                    </a:p>
                  </a:txBody>
                  <a:tcPr marL="0" marR="0" marT="0" marB="0" anchor="ctr" anchorCtr="0" horzOverflow="overflow">
                    <a:lnB w="12700">
                      <a:solidFill>
                        <a:srgbClr val="D91D49"/>
                      </a:solidFill>
                    </a:lnB>
                  </a:tcPr>
                </a:tc>
              </a:tr>
              <a:tr h="317095">
                <a:tc>
                  <a:txBody>
                    <a:bodyPr/>
                    <a:lstStyle/>
                    <a:p>
                      <a:pPr>
                        <a:defRPr sz="1100">
                          <a:latin typeface="Verdana"/>
                          <a:ea typeface="Verdana"/>
                          <a:cs typeface="Verdana"/>
                          <a:sym typeface="Verdana"/>
                        </a:defRPr>
                      </a:pPr>
                      <a:r>
                        <a:t>TCP01-BAI-COM-</a:t>
                      </a:r>
                      <a:r>
                        <a:rPr>
                          <a:solidFill>
                            <a:srgbClr val="FF0000"/>
                          </a:solidFill>
                        </a:rPr>
                        <a:t>[STATION CODE]</a:t>
                      </a:r>
                      <a:r>
                        <a:t>_0-SPE-DM-000&lt;P&gt;</a:t>
                      </a:r>
                    </a:p>
                  </a:txBody>
                  <a:tcPr marL="0" marR="0" marT="0" marB="0" anchor="ctr" anchorCtr="0" horzOverflow="overflow">
                    <a:lnT w="12700">
                      <a:solidFill>
                        <a:srgbClr val="D91D49"/>
                      </a:solidFill>
                    </a:lnT>
                    <a:lnB w="12700">
                      <a:solidFill>
                        <a:schemeClr val="accent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100">
                          <a:latin typeface="Verdana (Body)"/>
                          <a:ea typeface="Verdana (Body)"/>
                          <a:cs typeface="Verdana (Body)"/>
                          <a:sym typeface="Verdana (Body)"/>
                        </a:rPr>
                        <a:t>P02</a:t>
                      </a:r>
                    </a:p>
                  </a:txBody>
                  <a:tcPr marL="0" marR="0" marT="0" marB="0" anchor="ctr" anchorCtr="0" horzOverflow="overflow">
                    <a:lnT w="12700">
                      <a:solidFill>
                        <a:srgbClr val="D91D49"/>
                      </a:solidFill>
                    </a:lnT>
                    <a:lnB w="12700">
                      <a:solidFill>
                        <a:schemeClr val="accent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100">
                          <a:latin typeface="Verdana (Body)"/>
                          <a:ea typeface="Verdana (Body)"/>
                          <a:cs typeface="Verdana (Body)"/>
                          <a:sym typeface="Verdana (Body)"/>
                        </a:rPr>
                        <a:t>Updated Design</a:t>
                      </a:r>
                    </a:p>
                  </a:txBody>
                  <a:tcPr marL="0" marR="0" marT="0" marB="0" anchor="ctr" anchorCtr="0" horzOverflow="overflow">
                    <a:lnT w="12700">
                      <a:solidFill>
                        <a:srgbClr val="D91D49"/>
                      </a:solidFill>
                    </a:lnT>
                    <a:lnB w="12700">
                      <a:solidFill>
                        <a:schemeClr val="accent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100">
                          <a:sym typeface="Helvetica"/>
                        </a:rPr>
                        <a:t>&lt;&lt;DATE&gt;&gt;</a:t>
                      </a:r>
                    </a:p>
                  </a:txBody>
                  <a:tcPr marL="0" marR="0" marT="0" marB="0" anchor="ctr" anchorCtr="0" horzOverflow="overflow">
                    <a:lnT w="12700">
                      <a:solidFill>
                        <a:srgbClr val="D91D49"/>
                      </a:solidFill>
                    </a:lnT>
                    <a:lnB w="12700">
                      <a:solidFill>
                        <a:schemeClr val="accent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ym typeface="Helvetica"/>
                        </a:defRPr>
                      </a:pPr>
                      <a:r>
                        <a:t>&lt;&lt;</a:t>
                      </a:r>
                      <a:r>
                        <a:rPr sz="1100"/>
                        <a:t>AUTHOR&gt;&gt;</a:t>
                      </a:r>
                    </a:p>
                  </a:txBody>
                  <a:tcPr marL="0" marR="0" marT="0" marB="0" anchor="ctr" anchorCtr="0" horzOverflow="overflow">
                    <a:lnT w="12700">
                      <a:solidFill>
                        <a:srgbClr val="D91D49"/>
                      </a:solidFill>
                    </a:lnT>
                    <a:lnB w="12700">
                      <a:solidFill>
                        <a:schemeClr val="accent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100">
                          <a:sym typeface="Helvetica"/>
                        </a:rPr>
                        <a:t>&lt;&lt;CHECKED&gt;&gt;</a:t>
                      </a:r>
                    </a:p>
                  </a:txBody>
                  <a:tcPr marL="0" marR="0" marT="0" marB="0" anchor="ctr" anchorCtr="0" horzOverflow="overflow">
                    <a:lnT w="12700">
                      <a:solidFill>
                        <a:srgbClr val="D91D49"/>
                      </a:solidFill>
                    </a:lnT>
                    <a:lnB w="12700">
                      <a:solidFill>
                        <a:schemeClr val="accent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100">
                          <a:sym typeface="Helvetica"/>
                        </a:rPr>
                        <a:t>&lt;&lt;APPROVED&gt;&gt;</a:t>
                      </a:r>
                    </a:p>
                  </a:txBody>
                  <a:tcPr marL="0" marR="0" marT="0" marB="0" anchor="ctr" anchorCtr="0" horzOverflow="overflow">
                    <a:lnT w="12700">
                      <a:solidFill>
                        <a:srgbClr val="D91D49"/>
                      </a:solidFill>
                    </a:lnT>
                    <a:lnB w="12700">
                      <a:solidFill>
                        <a:schemeClr val="accent3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pSp>
        <p:nvGrpSpPr>
          <p:cNvPr id="1801" name="Rectangle 5"/>
          <p:cNvGrpSpPr/>
          <p:nvPr/>
        </p:nvGrpSpPr>
        <p:grpSpPr>
          <a:xfrm>
            <a:off x="756026" y="3047895"/>
            <a:ext cx="13458197" cy="6606011"/>
            <a:chOff x="0" y="0"/>
            <a:chExt cx="13458195" cy="6606009"/>
          </a:xfrm>
        </p:grpSpPr>
        <p:sp>
          <p:nvSpPr>
            <p:cNvPr id="1799" name="Rectangle"/>
            <p:cNvSpPr/>
            <p:nvPr/>
          </p:nvSpPr>
          <p:spPr>
            <a:xfrm>
              <a:off x="-1" y="-1"/>
              <a:ext cx="13458197" cy="6606011"/>
            </a:xfrm>
            <a:prstGeom prst="rect">
              <a:avLst/>
            </a:prstGeom>
            <a:noFill/>
            <a:ln w="25400" cap="flat">
              <a:solidFill>
                <a:srgbClr val="FF0000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800" name="3D MODEL IMAGE"/>
            <p:cNvSpPr txBox="1"/>
            <p:nvPr/>
          </p:nvSpPr>
          <p:spPr>
            <a:xfrm>
              <a:off x="58418" y="3054083"/>
              <a:ext cx="13341358" cy="4978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700"/>
              </a:lvl1pPr>
            </a:lstStyle>
            <a:p>
              <a:pPr/>
              <a:r>
                <a:t>3D MODEL IMAGE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3" name="TextBox 25"/>
          <p:cNvSpPr txBox="1"/>
          <p:nvPr/>
        </p:nvSpPr>
        <p:spPr>
          <a:xfrm>
            <a:off x="693805" y="1991730"/>
            <a:ext cx="13231692" cy="561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3100">
                <a:latin typeface="Verdana (Body)"/>
                <a:ea typeface="Verdana (Body)"/>
                <a:cs typeface="Verdana (Body)"/>
                <a:sym typeface="Verdana (Body)"/>
              </a:defRPr>
            </a:lvl1pPr>
          </a:lstStyle>
          <a:p>
            <a:pPr/>
            <a:r>
              <a:t>EXECUTIVE SUMMARY</a:t>
            </a:r>
          </a:p>
        </p:txBody>
      </p:sp>
      <p:pic>
        <p:nvPicPr>
          <p:cNvPr id="1804" name="Picture 3" descr="Picture 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217714" y="4834771"/>
            <a:ext cx="4882375" cy="5653774"/>
          </a:xfrm>
          <a:prstGeom prst="rect">
            <a:avLst/>
          </a:prstGeom>
          <a:ln w="12700">
            <a:miter lim="400000"/>
          </a:ln>
        </p:spPr>
      </p:pic>
      <p:sp>
        <p:nvSpPr>
          <p:cNvPr id="1805" name="TextBox 4"/>
          <p:cNvSpPr txBox="1"/>
          <p:nvPr/>
        </p:nvSpPr>
        <p:spPr>
          <a:xfrm>
            <a:off x="1233524" y="2615314"/>
            <a:ext cx="12691973" cy="21793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r">
              <a:lnSpc>
                <a:spcPct val="107000"/>
              </a:lnSpc>
              <a:spcBef>
                <a:spcPts val="800"/>
              </a:spcBef>
              <a:defRPr sz="17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This document to be read in conjunction with </a:t>
            </a:r>
            <a:r>
              <a:rPr>
                <a:solidFill>
                  <a:srgbClr val="FF0000"/>
                </a:solidFill>
              </a:rPr>
              <a:t>STATION-NAME </a:t>
            </a:r>
            <a:r>
              <a:t>detailed design document. This document contains RF predictions for the proposed system at </a:t>
            </a:r>
            <a:r>
              <a:rPr>
                <a:solidFill>
                  <a:srgbClr val="FF0000"/>
                </a:solidFill>
              </a:rPr>
              <a:t>STATION-NAME </a:t>
            </a:r>
            <a:r>
              <a:t>Station. Predictions have been carried out using industry’s renown in-building coverage prediction tool, i.e. iBwave. The plots include coverage predictions for </a:t>
            </a:r>
            <a:r>
              <a:rPr>
                <a:solidFill>
                  <a:srgbClr val="FF0000"/>
                </a:solidFill>
              </a:rPr>
              <a:t>OPERATOR-NAME</a:t>
            </a:r>
            <a:r>
              <a:t> across their relevant </a:t>
            </a:r>
            <a:r>
              <a:rPr>
                <a:solidFill>
                  <a:srgbClr val="FF0000"/>
                </a:solidFill>
              </a:rPr>
              <a:t>GSM / LTE / 5GNR </a:t>
            </a:r>
            <a:r>
              <a:t>bands. The results are presented with technology specific legends as defined within the JOTS. </a:t>
            </a:r>
          </a:p>
          <a:p>
            <a:pPr algn="just">
              <a:lnSpc>
                <a:spcPct val="107000"/>
              </a:lnSpc>
              <a:spcBef>
                <a:spcPts val="800"/>
              </a:spcBef>
              <a:defRPr sz="1700">
                <a:latin typeface="Verdana (Body)"/>
                <a:ea typeface="Verdana (Body)"/>
                <a:cs typeface="Verdana (Body)"/>
                <a:sym typeface="Verdana (Body)"/>
              </a:defRPr>
            </a:pPr>
            <a:r>
              <a:t>The building has been concisely modelled up in iBwave for accurate production of the results. The following materials have been utilised to model up the building.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7" name="TextBox 3"/>
          <p:cNvSpPr txBox="1"/>
          <p:nvPr/>
        </p:nvSpPr>
        <p:spPr>
          <a:xfrm>
            <a:off x="6663072" y="4804276"/>
            <a:ext cx="2189223" cy="4447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&lt;&lt;logo&gt;&gt;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9" name="Slide Number"/>
          <p:cNvSpPr txBox="1"/>
          <p:nvPr>
            <p:ph type="sldNum" sz="quarter" idx="4294967295"/>
          </p:nvPr>
        </p:nvSpPr>
        <p:spPr>
          <a:xfrm>
            <a:off x="14362291" y="9201556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810" name="TextBox 1"/>
          <p:cNvSpPr txBox="1"/>
          <p:nvPr/>
        </p:nvSpPr>
        <p:spPr>
          <a:xfrm>
            <a:off x="10434893" y="10062236"/>
            <a:ext cx="1396851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&lt;&lt;BUILDING&gt;&gt;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" name="Slide Number"/>
          <p:cNvSpPr txBox="1"/>
          <p:nvPr>
            <p:ph type="sldNum" sz="quarter" idx="4294967295"/>
          </p:nvPr>
        </p:nvSpPr>
        <p:spPr>
          <a:xfrm>
            <a:off x="14362291" y="9201556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813" name="TextBox 1"/>
          <p:cNvSpPr txBox="1"/>
          <p:nvPr/>
        </p:nvSpPr>
        <p:spPr>
          <a:xfrm>
            <a:off x="10358811" y="10049281"/>
            <a:ext cx="1581850" cy="2285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0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&lt;&lt;BUILDING&gt;&gt;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5" name="Slide Number"/>
          <p:cNvSpPr txBox="1"/>
          <p:nvPr>
            <p:ph type="sldNum" sz="quarter" idx="4294967295"/>
          </p:nvPr>
        </p:nvSpPr>
        <p:spPr>
          <a:xfrm>
            <a:off x="14362291" y="9201556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816" name="TextBox 1"/>
          <p:cNvSpPr txBox="1"/>
          <p:nvPr/>
        </p:nvSpPr>
        <p:spPr>
          <a:xfrm>
            <a:off x="10246938" y="10081258"/>
            <a:ext cx="1385689" cy="2285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0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&lt;&lt;BUILDING&gt;&gt;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8" name="Slide Number"/>
          <p:cNvSpPr txBox="1"/>
          <p:nvPr>
            <p:ph type="sldNum" sz="quarter" idx="4294967295"/>
          </p:nvPr>
        </p:nvSpPr>
        <p:spPr>
          <a:xfrm>
            <a:off x="14362291" y="9201556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819" name="TextBox 1"/>
          <p:cNvSpPr txBox="1"/>
          <p:nvPr/>
        </p:nvSpPr>
        <p:spPr>
          <a:xfrm>
            <a:off x="10289557" y="10075409"/>
            <a:ext cx="1440030" cy="2285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0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&lt;&lt;BUILDING&gt;&gt;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1" name="Slide Number"/>
          <p:cNvSpPr txBox="1"/>
          <p:nvPr>
            <p:ph type="sldNum" sz="quarter" idx="4294967295"/>
          </p:nvPr>
        </p:nvSpPr>
        <p:spPr>
          <a:xfrm>
            <a:off x="14362291" y="9201556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822" name="TextBox 1"/>
          <p:cNvSpPr txBox="1"/>
          <p:nvPr/>
        </p:nvSpPr>
        <p:spPr>
          <a:xfrm>
            <a:off x="10281560" y="10057244"/>
            <a:ext cx="1743126" cy="2285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0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&lt;&lt;BUILDING&gt;&gt;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4" name="Slide Number"/>
          <p:cNvSpPr txBox="1"/>
          <p:nvPr>
            <p:ph type="sldNum" sz="quarter" idx="4294967295"/>
          </p:nvPr>
        </p:nvSpPr>
        <p:spPr>
          <a:xfrm>
            <a:off x="14362291" y="9201556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825" name="TextBox 1"/>
          <p:cNvSpPr txBox="1"/>
          <p:nvPr/>
        </p:nvSpPr>
        <p:spPr>
          <a:xfrm>
            <a:off x="10275168" y="10064746"/>
            <a:ext cx="1494370" cy="2285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0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&lt;&lt;BUILDING&gt;&gt;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7" name="Slide Number"/>
          <p:cNvSpPr txBox="1"/>
          <p:nvPr>
            <p:ph type="sldNum" sz="quarter" idx="4294967295"/>
          </p:nvPr>
        </p:nvSpPr>
        <p:spPr>
          <a:xfrm>
            <a:off x="14362291" y="9201556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828" name="TextBox 1"/>
          <p:cNvSpPr txBox="1"/>
          <p:nvPr/>
        </p:nvSpPr>
        <p:spPr>
          <a:xfrm>
            <a:off x="10233083" y="10073271"/>
            <a:ext cx="1367575" cy="2285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0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&lt;&lt;BUILDING&gt;&gt;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0" name="Slide Number"/>
          <p:cNvSpPr txBox="1"/>
          <p:nvPr>
            <p:ph type="sldNum" sz="quarter" idx="4294967295"/>
          </p:nvPr>
        </p:nvSpPr>
        <p:spPr>
          <a:xfrm>
            <a:off x="14362291" y="9201556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831" name="TextBox 1"/>
          <p:cNvSpPr txBox="1"/>
          <p:nvPr/>
        </p:nvSpPr>
        <p:spPr>
          <a:xfrm>
            <a:off x="10253850" y="10075408"/>
            <a:ext cx="1874755" cy="2285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0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&lt;&lt;BUILDING&gt;&gt;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3" name="Slide Number"/>
          <p:cNvSpPr txBox="1"/>
          <p:nvPr>
            <p:ph type="sldNum" sz="quarter" idx="4294967295"/>
          </p:nvPr>
        </p:nvSpPr>
        <p:spPr>
          <a:xfrm>
            <a:off x="14362291" y="9201556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834" name="TextBox 1"/>
          <p:cNvSpPr txBox="1"/>
          <p:nvPr/>
        </p:nvSpPr>
        <p:spPr>
          <a:xfrm>
            <a:off x="10242674" y="10081793"/>
            <a:ext cx="1376629" cy="2285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0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&lt;&lt;BUILDING&gt;&gt;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6" name="Slide Number"/>
          <p:cNvSpPr txBox="1"/>
          <p:nvPr>
            <p:ph type="sldNum" sz="quarter" idx="4294967295"/>
          </p:nvPr>
        </p:nvSpPr>
        <p:spPr>
          <a:xfrm>
            <a:off x="14362291" y="9201556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837" name="TextBox 1"/>
          <p:cNvSpPr txBox="1"/>
          <p:nvPr/>
        </p:nvSpPr>
        <p:spPr>
          <a:xfrm>
            <a:off x="10267184" y="10081793"/>
            <a:ext cx="1358519" cy="2285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0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&lt;&lt;BUILDING&gt;&gt;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9" name="Slide Number"/>
          <p:cNvSpPr txBox="1"/>
          <p:nvPr>
            <p:ph type="sldNum" sz="quarter" idx="4294967295"/>
          </p:nvPr>
        </p:nvSpPr>
        <p:spPr>
          <a:xfrm>
            <a:off x="14362291" y="9201556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840" name="TextBox 1"/>
          <p:cNvSpPr txBox="1"/>
          <p:nvPr/>
        </p:nvSpPr>
        <p:spPr>
          <a:xfrm>
            <a:off x="10227225" y="10079152"/>
            <a:ext cx="1468257" cy="2285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0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&lt;&lt;BUILDING&gt;&gt;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2" name="Slide Number"/>
          <p:cNvSpPr txBox="1"/>
          <p:nvPr>
            <p:ph type="sldNum" sz="quarter" idx="4294967295"/>
          </p:nvPr>
        </p:nvSpPr>
        <p:spPr>
          <a:xfrm>
            <a:off x="14362291" y="9201556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843" name="TextBox 1"/>
          <p:cNvSpPr txBox="1"/>
          <p:nvPr/>
        </p:nvSpPr>
        <p:spPr>
          <a:xfrm>
            <a:off x="10234148" y="10090315"/>
            <a:ext cx="1512484" cy="2285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0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&lt;&lt;BUILDING&gt;&gt;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5" name="Slide Number"/>
          <p:cNvSpPr txBox="1"/>
          <p:nvPr>
            <p:ph type="sldNum" sz="quarter" idx="4294967295"/>
          </p:nvPr>
        </p:nvSpPr>
        <p:spPr>
          <a:xfrm>
            <a:off x="14362291" y="9201556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846" name="TextBox 1"/>
          <p:cNvSpPr txBox="1"/>
          <p:nvPr/>
        </p:nvSpPr>
        <p:spPr>
          <a:xfrm>
            <a:off x="10205914" y="10088712"/>
            <a:ext cx="1657390" cy="2285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0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&lt;&lt;BUILDING&gt;&gt;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8" name="Slide Number"/>
          <p:cNvSpPr txBox="1"/>
          <p:nvPr>
            <p:ph type="sldNum" sz="quarter" idx="4294967295"/>
          </p:nvPr>
        </p:nvSpPr>
        <p:spPr>
          <a:xfrm>
            <a:off x="14362291" y="9201556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849" name="TextBox 2"/>
          <p:cNvSpPr txBox="1"/>
          <p:nvPr/>
        </p:nvSpPr>
        <p:spPr>
          <a:xfrm>
            <a:off x="10317436" y="10058816"/>
            <a:ext cx="1125116" cy="2285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0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&lt;&lt;BUILDING&gt;&gt;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1" name="Slide Number"/>
          <p:cNvSpPr txBox="1"/>
          <p:nvPr>
            <p:ph type="sldNum" sz="quarter" idx="4294967295"/>
          </p:nvPr>
        </p:nvSpPr>
        <p:spPr>
          <a:xfrm>
            <a:off x="14362291" y="9201556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pic>
        <p:nvPicPr>
          <p:cNvPr id="1852" name="Picture Placeholder 2" descr="Picture Placeholder 2"/>
          <p:cNvPicPr>
            <a:picLocks noChangeAspect="1"/>
          </p:cNvPicPr>
          <p:nvPr>
            <p:ph type="pic" idx="21"/>
          </p:nvPr>
        </p:nvPicPr>
        <p:blipFill>
          <a:blip r:embed="rId2">
            <a:extLst/>
          </a:blip>
          <a:stretch>
            <a:fillRect/>
          </a:stretch>
        </p:blipFill>
        <p:spPr>
          <a:xfrm>
            <a:off x="599802" y="525468"/>
            <a:ext cx="11233726" cy="9364397"/>
          </a:xfrm>
          <a:prstGeom prst="rect">
            <a:avLst/>
          </a:prstGeom>
        </p:spPr>
      </p:pic>
      <p:sp>
        <p:nvSpPr>
          <p:cNvPr id="1853" name="TextBox 1"/>
          <p:cNvSpPr txBox="1"/>
          <p:nvPr/>
        </p:nvSpPr>
        <p:spPr>
          <a:xfrm>
            <a:off x="10308311" y="10068338"/>
            <a:ext cx="1520922" cy="2285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0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&lt;&lt;BUILDING&gt;&gt;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1407588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1407588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1407588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1407588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